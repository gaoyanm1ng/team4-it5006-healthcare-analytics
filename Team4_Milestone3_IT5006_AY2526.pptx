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8288000" cy="10287000"/>
  <p:notesSz cx="6858000" cy="9144000"/>
  <p:embeddedFontLst>
    <p:embeddedFont>
      <p:font typeface="Telegraf" pitchFamily="2" charset="0"/>
      <p:regular r:id="rId42"/>
    </p:embeddedFont>
    <p:embeddedFont>
      <p:font typeface="Telegraf Bold" pitchFamily="2" charset="0"/>
      <p:regular r:id="rId43"/>
      <p:bold r:id="rId44"/>
    </p:embeddedFont>
    <p:embeddedFont>
      <p:font typeface="Telegraf Extra-Light" pitchFamily="2" charset="0"/>
      <p:regular r:id="rId45"/>
    </p:embeddedFont>
    <p:embeddedFont>
      <p:font typeface="Times New Roman MT" panose="02030502070405020303" pitchFamily="18" charset="0"/>
      <p:regular r:id="rId46"/>
    </p:embeddedFont>
    <p:embeddedFont>
      <p:font typeface="Times New Roman MT Bold" panose="02030802070405020303" pitchFamily="18" charset="0"/>
      <p:regular r:id="rId47"/>
      <p:bold r:id="rId48"/>
    </p:embeddedFont>
    <p:embeddedFont>
      <p:font typeface="TT Hoves" panose="02000003020000060003" pitchFamily="2" charset="0"/>
      <p:regular r:id="rId49"/>
    </p:embeddedFont>
    <p:embeddedFont>
      <p:font typeface="TT Hoves Bold" panose="02000003020000060003" pitchFamily="2" charset="0"/>
      <p:regular r:id="rId50"/>
      <p:bold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autoAdjust="0"/>
    <p:restoredTop sz="94556" autoAdjust="0"/>
  </p:normalViewPr>
  <p:slideViewPr>
    <p:cSldViewPr>
      <p:cViewPr varScale="1">
        <p:scale>
          <a:sx n="81" d="100"/>
          <a:sy n="81" d="100"/>
        </p:scale>
        <p:origin x="22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shows high recall for both minority classes: 0.48 and 0.68 respectively. This means they are highly effective at identifying the patients who genuinely need complex acute care post discharge. This is a result of using class_weight = ‘balanced’ parameter which tunes the model to handle the class imbalance.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shows high recall for both minority classes: 0.48 and 0.68 respectively. This means they are highly effective at identifying the patients who genuinely need complex acute care post discharge. This is a result of using class_weight = ‘balanced’ parameter which tunes the model to handle the class imbalance.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shows high recall for both minority classes: 0.48 and 0.68 respectively. This means they are highly effective at identifying the patients who genuinely need complex acute care post discharge. This is a result of using class_weight = ‘balanced’ parameter which tunes the model to handle the class imbalance.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shows high recall for both minority classes: 0.48 and 0.68 respectively. This means they are highly effective at identifying the patients who genuinely need complex acute care post discharge. This is a result of using class_weight = ‘balanced’ parameter which tunes the model to handle the class imbalance.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shows high recall for both minority classes: 0.48 and 0.68 respectively. This means they are highly effective at identifying the patients who genuinely need complex acute care post discharge. This is a result of using class_weight = ‘balanced’ parameter which tunes the model to handle the class imbalance.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shows high recall for both minority classes: 0.48 and 0.68 respectively. This means they are highly effective at identifying the patients who genuinely need complex acute care post discharge. This is a result of using class_weight = ‘balanced’ parameter which tunes the model to handle the class imbalance.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Decision Tree exhibits poor overall performance with an accuracy of 0.474 of all model tested. Furthermore, this model has the worst precision (0.06) for the “Transfer to Another Hospital Class”. While this model achieves high Recall for both minority classes (0.46 for Hospital Transfer and 0.68 for Facility Care). This high Recall is misleading; the DT simply predicts these minority classes so often (to avoid the penalty of False Negatives) that it catches a high percentage of them, but at the cost of precision.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majority of “Discharge Home” patients (8145) were incorrectly flagged as needing a hospital transfer or facility care, driving the precision of the minority classes into the ground. While the model predicts a high number of “Transferred to Facility-Based Care” correctly, the high volume of False Positive elsewhere makes these predictions unreliable for the real-world use.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Random Forest model is the most effective model for proactive discharge planning and resource allocation. Particularly due to its performance on “Transfer to Facility-Based Care” class achieving the best F1-score (0.49) and highest recall (0.66). This means that the Random Forest model was able to correctly identify the majority of the patients who actually require facility services, providing the greatest value for proactive planning. </a:t>
            </a:r>
          </a:p>
          <a:p>
            <a:r>
              <a:rPr lang="en-US"/>
              <a:t>However, precision for the “Transfer to Another Hospital” class is low (0.13). Such a high rate for False Positives will lead to wasted resources if patients who were predicted to be discharged to another hospital eventually get sent home or transferred to facility based care. Furthermore, white recall is an improvement from the XGBoost model, it remains low and will not significantly improve resource allocation operations.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Confusion matrix highlights the model’s willingness to prioritize recall by siding the minority class. While this leads to model misclassifying “Discharge Home” class, this willingness allowed the model to correctly identify a large number of crucial “Transferred to Facility-Based Care” classes.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model achieves the highest Overall Accuracy (0.821). This strong performance is driven by its ability to predict the majority “Discharge Home” class (97% recall). However, the model achieves this overall accuracy at the expense of the other classes. </a:t>
            </a:r>
          </a:p>
          <a:p>
            <a:r>
              <a:rPr lang="en-US"/>
              <a:t>The model shows catastrophic failure on the highest risk-groups, “Transferred to Another Hospital” and “Transferred to Facility-Based Care”. Particularly for the “Transferred to Another Hospital” class, recall of 0.00 with only 3 true positives out of 656 total, the model essentially misses all of the acute transfer cases. This high False Negative rate contradicts the purpose of our project to predict transfers on discharge to improve hospital’s operational efficiencies.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Confusion matrix confirms our analysis above with the vast majority of “Transferred to Another Hospital” class being misclassified as “Discharged Home”. </a:t>
            </a:r>
          </a:p>
          <a:p>
            <a:r>
              <a:rPr lang="en-US"/>
              <a:t>The XGBoost model, in this configuration, is too optimized for overall accuracy by heavily predicting the majority class and needs to be tuned to prioritize the recall for minority classes.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07862">
            <a:off x="6110388" y="5304279"/>
            <a:ext cx="15048401" cy="6376760"/>
          </a:xfrm>
          <a:custGeom>
            <a:avLst/>
            <a:gdLst/>
            <a:ahLst/>
            <a:cxnLst/>
            <a:rect l="l" t="t" r="r" b="b"/>
            <a:pathLst>
              <a:path w="15048401" h="6376760">
                <a:moveTo>
                  <a:pt x="0" y="0"/>
                </a:moveTo>
                <a:lnTo>
                  <a:pt x="15048401" y="0"/>
                </a:lnTo>
                <a:lnTo>
                  <a:pt x="15048401" y="6376760"/>
                </a:lnTo>
                <a:lnTo>
                  <a:pt x="0" y="6376760"/>
                </a:lnTo>
                <a:lnTo>
                  <a:pt x="0" y="0"/>
                </a:lnTo>
                <a:close/>
              </a:path>
            </a:pathLst>
          </a:custGeom>
          <a:blipFill>
            <a:blip r:embed="rId2"/>
            <a:stretch>
              <a:fillRect/>
            </a:stretch>
          </a:blipFill>
        </p:spPr>
        <p:txBody>
          <a:bodyPr/>
          <a:lstStyle/>
          <a:p>
            <a:endParaRPr lang="zh-SG" altLang="en-US"/>
          </a:p>
        </p:txBody>
      </p:sp>
      <p:grpSp>
        <p:nvGrpSpPr>
          <p:cNvPr id="3" name="Group 3"/>
          <p:cNvGrpSpPr/>
          <p:nvPr/>
        </p:nvGrpSpPr>
        <p:grpSpPr>
          <a:xfrm>
            <a:off x="-332478" y="7009521"/>
            <a:ext cx="9637365" cy="212578"/>
            <a:chOff x="0" y="0"/>
            <a:chExt cx="2538236" cy="55988"/>
          </a:xfrm>
        </p:grpSpPr>
        <p:sp>
          <p:nvSpPr>
            <p:cNvPr id="4" name="Freeform 4"/>
            <p:cNvSpPr/>
            <p:nvPr/>
          </p:nvSpPr>
          <p:spPr>
            <a:xfrm>
              <a:off x="0" y="0"/>
              <a:ext cx="2538236" cy="55988"/>
            </a:xfrm>
            <a:custGeom>
              <a:avLst/>
              <a:gdLst/>
              <a:ahLst/>
              <a:cxnLst/>
              <a:rect l="l" t="t" r="r" b="b"/>
              <a:pathLst>
                <a:path w="2538236" h="55988">
                  <a:moveTo>
                    <a:pt x="0" y="0"/>
                  </a:moveTo>
                  <a:lnTo>
                    <a:pt x="2538236" y="0"/>
                  </a:lnTo>
                  <a:lnTo>
                    <a:pt x="2538236" y="55988"/>
                  </a:lnTo>
                  <a:lnTo>
                    <a:pt x="0" y="559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5" name="TextBox 5"/>
            <p:cNvSpPr txBox="1"/>
            <p:nvPr/>
          </p:nvSpPr>
          <p:spPr>
            <a:xfrm>
              <a:off x="0" y="-57150"/>
              <a:ext cx="2538236" cy="113138"/>
            </a:xfrm>
            <a:prstGeom prst="rect">
              <a:avLst/>
            </a:prstGeom>
          </p:spPr>
          <p:txBody>
            <a:bodyPr lIns="50800" tIns="50800" rIns="50800" bIns="50800" rtlCol="0" anchor="ctr"/>
            <a:lstStyle/>
            <a:p>
              <a:pPr algn="ctr">
                <a:lnSpc>
                  <a:spcPts val="3639"/>
                </a:lnSpc>
              </a:pPr>
              <a:endParaRPr/>
            </a:p>
          </p:txBody>
        </p:sp>
      </p:grpSp>
      <p:sp>
        <p:nvSpPr>
          <p:cNvPr id="6" name="Freeform 6"/>
          <p:cNvSpPr/>
          <p:nvPr/>
        </p:nvSpPr>
        <p:spPr>
          <a:xfrm flipV="1">
            <a:off x="-641393" y="-1165054"/>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3"/>
            <a:stretch>
              <a:fillRect/>
            </a:stretch>
          </a:blipFill>
        </p:spPr>
        <p:txBody>
          <a:bodyPr/>
          <a:lstStyle/>
          <a:p>
            <a:endParaRPr lang="zh-SG" altLang="en-US"/>
          </a:p>
        </p:txBody>
      </p:sp>
      <p:sp>
        <p:nvSpPr>
          <p:cNvPr id="7" name="TextBox 7"/>
          <p:cNvSpPr txBox="1"/>
          <p:nvPr/>
        </p:nvSpPr>
        <p:spPr>
          <a:xfrm>
            <a:off x="1028700" y="1285247"/>
            <a:ext cx="15923309" cy="7430756"/>
          </a:xfrm>
          <a:prstGeom prst="rect">
            <a:avLst/>
          </a:prstGeom>
        </p:spPr>
        <p:txBody>
          <a:bodyPr lIns="0" tIns="0" rIns="0" bIns="0" rtlCol="0" anchor="t">
            <a:spAutoFit/>
          </a:bodyPr>
          <a:lstStyle/>
          <a:p>
            <a:pPr algn="ctr">
              <a:lnSpc>
                <a:spcPts val="10361"/>
              </a:lnSpc>
            </a:pPr>
            <a:r>
              <a:rPr lang="en-US" sz="7401" b="1" spc="370">
                <a:solidFill>
                  <a:srgbClr val="343434"/>
                </a:solidFill>
                <a:latin typeface="Times New Roman MT Bold"/>
                <a:ea typeface="Times New Roman MT Bold"/>
                <a:cs typeface="Times New Roman MT Bold"/>
                <a:sym typeface="Times New Roman MT Bold"/>
              </a:rPr>
              <a:t>HEALTHCARE READMISSION ANALYSIS PROJECT</a:t>
            </a:r>
          </a:p>
          <a:p>
            <a:pPr algn="ctr">
              <a:lnSpc>
                <a:spcPts val="10361"/>
              </a:lnSpc>
            </a:pPr>
            <a:r>
              <a:rPr lang="en-US" sz="7401" b="1" spc="370">
                <a:solidFill>
                  <a:srgbClr val="343434"/>
                </a:solidFill>
                <a:latin typeface="Times New Roman MT Bold"/>
                <a:ea typeface="Times New Roman MT Bold"/>
                <a:cs typeface="Times New Roman MT Bold"/>
                <a:sym typeface="Times New Roman MT Bold"/>
              </a:rPr>
              <a:t>MILESTONE 3</a:t>
            </a:r>
          </a:p>
          <a:p>
            <a:pPr algn="ctr">
              <a:lnSpc>
                <a:spcPts val="10361"/>
              </a:lnSpc>
            </a:pPr>
            <a:endParaRPr lang="en-US" sz="7401" b="1" spc="370">
              <a:solidFill>
                <a:srgbClr val="343434"/>
              </a:solidFill>
              <a:latin typeface="Times New Roman MT Bold"/>
              <a:ea typeface="Times New Roman MT Bold"/>
              <a:cs typeface="Times New Roman MT Bold"/>
              <a:sym typeface="Times New Roman MT Bold"/>
            </a:endParaRPr>
          </a:p>
          <a:p>
            <a:pPr algn="l">
              <a:lnSpc>
                <a:spcPts val="16800"/>
              </a:lnSpc>
              <a:spcBef>
                <a:spcPct val="0"/>
              </a:spcBef>
            </a:pPr>
            <a:endParaRPr lang="en-US" sz="7401" b="1" spc="370">
              <a:solidFill>
                <a:srgbClr val="343434"/>
              </a:solidFill>
              <a:latin typeface="Times New Roman MT Bold"/>
              <a:ea typeface="Times New Roman MT Bold"/>
              <a:cs typeface="Times New Roman MT Bold"/>
              <a:sym typeface="Times New Roman MT Bold"/>
            </a:endParaRPr>
          </a:p>
        </p:txBody>
      </p:sp>
      <p:sp>
        <p:nvSpPr>
          <p:cNvPr id="8" name="TextBox 8"/>
          <p:cNvSpPr txBox="1"/>
          <p:nvPr/>
        </p:nvSpPr>
        <p:spPr>
          <a:xfrm>
            <a:off x="1028700" y="5790956"/>
            <a:ext cx="10797967" cy="1218565"/>
          </a:xfrm>
          <a:prstGeom prst="rect">
            <a:avLst/>
          </a:prstGeom>
        </p:spPr>
        <p:txBody>
          <a:bodyPr lIns="0" tIns="0" rIns="0" bIns="0" rtlCol="0" anchor="t">
            <a:spAutoFit/>
          </a:bodyPr>
          <a:lstStyle/>
          <a:p>
            <a:pPr algn="l">
              <a:lnSpc>
                <a:spcPts val="8959"/>
              </a:lnSpc>
              <a:spcBef>
                <a:spcPct val="0"/>
              </a:spcBef>
            </a:pPr>
            <a:r>
              <a:rPr lang="en-US" sz="6399" b="1" spc="697">
                <a:solidFill>
                  <a:srgbClr val="343434"/>
                </a:solidFill>
                <a:latin typeface="Times New Roman MT Bold"/>
                <a:ea typeface="Times New Roman MT Bold"/>
                <a:cs typeface="Times New Roman MT Bold"/>
                <a:sym typeface="Times New Roman MT Bold"/>
              </a:rPr>
              <a:t>PRESENTATION</a:t>
            </a:r>
          </a:p>
        </p:txBody>
      </p:sp>
      <p:sp>
        <p:nvSpPr>
          <p:cNvPr id="9" name="TextBox 9"/>
          <p:cNvSpPr txBox="1"/>
          <p:nvPr/>
        </p:nvSpPr>
        <p:spPr>
          <a:xfrm>
            <a:off x="1028700" y="7368460"/>
            <a:ext cx="7079592" cy="2660650"/>
          </a:xfrm>
          <a:prstGeom prst="rect">
            <a:avLst/>
          </a:prstGeom>
        </p:spPr>
        <p:txBody>
          <a:bodyPr lIns="0" tIns="0" rIns="0" bIns="0" rtlCol="0" anchor="t">
            <a:spAutoFit/>
          </a:bodyPr>
          <a:lstStyle/>
          <a:p>
            <a:pPr algn="l">
              <a:lnSpc>
                <a:spcPts val="3499"/>
              </a:lnSpc>
            </a:pPr>
            <a:r>
              <a:rPr lang="en-US" sz="2499" spc="124">
                <a:solidFill>
                  <a:srgbClr val="343434"/>
                </a:solidFill>
                <a:latin typeface="Times New Roman MT"/>
                <a:ea typeface="Times New Roman MT"/>
                <a:cs typeface="Times New Roman MT"/>
                <a:sym typeface="Times New Roman MT"/>
              </a:rPr>
              <a:t>Presented by :</a:t>
            </a:r>
          </a:p>
          <a:p>
            <a:pPr algn="l">
              <a:lnSpc>
                <a:spcPts val="3499"/>
              </a:lnSpc>
            </a:pPr>
            <a:r>
              <a:rPr lang="en-US" sz="2499" spc="124">
                <a:solidFill>
                  <a:srgbClr val="343434"/>
                </a:solidFill>
                <a:latin typeface="Times New Roman MT"/>
                <a:ea typeface="Times New Roman MT"/>
                <a:cs typeface="Times New Roman MT"/>
                <a:sym typeface="Times New Roman MT"/>
              </a:rPr>
              <a:t>Liu Jinyu(A0310026B) </a:t>
            </a:r>
          </a:p>
          <a:p>
            <a:pPr algn="l">
              <a:lnSpc>
                <a:spcPts val="3499"/>
              </a:lnSpc>
            </a:pPr>
            <a:r>
              <a:rPr lang="en-US" sz="2499" spc="124">
                <a:solidFill>
                  <a:srgbClr val="343434"/>
                </a:solidFill>
                <a:latin typeface="Times New Roman MT"/>
                <a:ea typeface="Times New Roman MT"/>
                <a:cs typeface="Times New Roman MT"/>
                <a:sym typeface="Times New Roman MT"/>
              </a:rPr>
              <a:t>Dylan Ng(A0200137Y) </a:t>
            </a:r>
          </a:p>
          <a:p>
            <a:pPr algn="l">
              <a:lnSpc>
                <a:spcPts val="3499"/>
              </a:lnSpc>
            </a:pPr>
            <a:r>
              <a:rPr lang="en-US" sz="2499" spc="124">
                <a:solidFill>
                  <a:srgbClr val="343434"/>
                </a:solidFill>
                <a:latin typeface="Times New Roman MT"/>
                <a:ea typeface="Times New Roman MT"/>
                <a:cs typeface="Times New Roman MT"/>
                <a:sym typeface="Times New Roman MT"/>
              </a:rPr>
              <a:t>Gao Yanming(A0309983M) </a:t>
            </a:r>
          </a:p>
          <a:p>
            <a:pPr algn="l">
              <a:lnSpc>
                <a:spcPts val="3499"/>
              </a:lnSpc>
            </a:pPr>
            <a:r>
              <a:rPr lang="en-US" sz="2499" spc="124">
                <a:solidFill>
                  <a:srgbClr val="343434"/>
                </a:solidFill>
                <a:latin typeface="Times New Roman MT"/>
                <a:ea typeface="Times New Roman MT"/>
                <a:cs typeface="Times New Roman MT"/>
                <a:sym typeface="Times New Roman MT"/>
              </a:rPr>
              <a:t>Jonathan Lee Jia Jun(A0155122U)</a:t>
            </a:r>
          </a:p>
          <a:p>
            <a:pPr algn="l">
              <a:lnSpc>
                <a:spcPts val="3499"/>
              </a:lnSpc>
              <a:spcBef>
                <a:spcPct val="0"/>
              </a:spcBef>
            </a:pPr>
            <a:endParaRPr lang="en-US" sz="2499" spc="124">
              <a:solidFill>
                <a:srgbClr val="343434"/>
              </a:solidFill>
              <a:latin typeface="Times New Roman MT"/>
              <a:ea typeface="Times New Roman MT"/>
              <a:cs typeface="Times New Roman MT"/>
              <a:sym typeface="Times New Roman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a:off x="12114668" y="-3157079"/>
            <a:ext cx="15827806" cy="6707033"/>
          </a:xfrm>
          <a:custGeom>
            <a:avLst/>
            <a:gdLst/>
            <a:ahLst/>
            <a:cxnLst/>
            <a:rect l="l" t="t" r="r" b="b"/>
            <a:pathLst>
              <a:path w="15827806" h="6707033">
                <a:moveTo>
                  <a:pt x="0" y="0"/>
                </a:moveTo>
                <a:lnTo>
                  <a:pt x="15827806" y="0"/>
                </a:lnTo>
                <a:lnTo>
                  <a:pt x="15827806" y="6707033"/>
                </a:lnTo>
                <a:lnTo>
                  <a:pt x="0" y="6707033"/>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rot="-2120312" flipH="1">
            <a:off x="-2273262" y="8083889"/>
            <a:ext cx="12760102" cy="5407093"/>
          </a:xfrm>
          <a:custGeom>
            <a:avLst/>
            <a:gdLst/>
            <a:ahLst/>
            <a:cxnLst/>
            <a:rect l="l" t="t" r="r" b="b"/>
            <a:pathLst>
              <a:path w="12760102" h="5407093">
                <a:moveTo>
                  <a:pt x="12760102" y="0"/>
                </a:moveTo>
                <a:lnTo>
                  <a:pt x="0" y="0"/>
                </a:lnTo>
                <a:lnTo>
                  <a:pt x="0" y="5407093"/>
                </a:lnTo>
                <a:lnTo>
                  <a:pt x="12760102" y="5407093"/>
                </a:lnTo>
                <a:lnTo>
                  <a:pt x="12760102" y="0"/>
                </a:lnTo>
                <a:close/>
              </a:path>
            </a:pathLst>
          </a:custGeom>
          <a:blipFill>
            <a:blip r:embed="rId2"/>
            <a:stretch>
              <a:fillRect/>
            </a:stretch>
          </a:blipFill>
        </p:spPr>
        <p:txBody>
          <a:bodyPr/>
          <a:lstStyle/>
          <a:p>
            <a:endParaRPr lang="zh-SG" altLang="en-US"/>
          </a:p>
        </p:txBody>
      </p:sp>
      <p:grpSp>
        <p:nvGrpSpPr>
          <p:cNvPr id="4" name="Group 4"/>
          <p:cNvGrpSpPr/>
          <p:nvPr/>
        </p:nvGrpSpPr>
        <p:grpSpPr>
          <a:xfrm>
            <a:off x="-408865" y="-392510"/>
            <a:ext cx="1437565" cy="11072020"/>
            <a:chOff x="0" y="0"/>
            <a:chExt cx="378618" cy="2916088"/>
          </a:xfrm>
        </p:grpSpPr>
        <p:sp>
          <p:nvSpPr>
            <p:cNvPr id="5" name="Freeform 5"/>
            <p:cNvSpPr/>
            <p:nvPr/>
          </p:nvSpPr>
          <p:spPr>
            <a:xfrm>
              <a:off x="0" y="0"/>
              <a:ext cx="378618" cy="2916088"/>
            </a:xfrm>
            <a:custGeom>
              <a:avLst/>
              <a:gdLst/>
              <a:ahLst/>
              <a:cxnLst/>
              <a:rect l="l" t="t" r="r" b="b"/>
              <a:pathLst>
                <a:path w="378618" h="2916088">
                  <a:moveTo>
                    <a:pt x="0" y="0"/>
                  </a:moveTo>
                  <a:lnTo>
                    <a:pt x="378618" y="0"/>
                  </a:lnTo>
                  <a:lnTo>
                    <a:pt x="378618"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378618" cy="2973238"/>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487718" y="2274865"/>
            <a:ext cx="10582686" cy="1521052"/>
            <a:chOff x="0" y="0"/>
            <a:chExt cx="2787210" cy="400606"/>
          </a:xfrm>
        </p:grpSpPr>
        <p:sp>
          <p:nvSpPr>
            <p:cNvPr id="8" name="Freeform 8"/>
            <p:cNvSpPr/>
            <p:nvPr/>
          </p:nvSpPr>
          <p:spPr>
            <a:xfrm>
              <a:off x="0" y="0"/>
              <a:ext cx="2787210" cy="400606"/>
            </a:xfrm>
            <a:custGeom>
              <a:avLst/>
              <a:gdLst/>
              <a:ahLst/>
              <a:cxnLst/>
              <a:rect l="l" t="t" r="r" b="b"/>
              <a:pathLst>
                <a:path w="2787210" h="400606">
                  <a:moveTo>
                    <a:pt x="0" y="0"/>
                  </a:moveTo>
                  <a:lnTo>
                    <a:pt x="2787210" y="0"/>
                  </a:lnTo>
                  <a:lnTo>
                    <a:pt x="2787210" y="400606"/>
                  </a:lnTo>
                  <a:lnTo>
                    <a:pt x="0" y="400606"/>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2787210" cy="457756"/>
            </a:xfrm>
            <a:prstGeom prst="rect">
              <a:avLst/>
            </a:prstGeom>
          </p:spPr>
          <p:txBody>
            <a:bodyPr lIns="50800" tIns="50800" rIns="50800" bIns="50800" rtlCol="0" anchor="ctr"/>
            <a:lstStyle/>
            <a:p>
              <a:pPr algn="ctr">
                <a:lnSpc>
                  <a:spcPts val="3639"/>
                </a:lnSpc>
              </a:pPr>
              <a:endParaRPr/>
            </a:p>
          </p:txBody>
        </p:sp>
      </p:grpSp>
      <p:grpSp>
        <p:nvGrpSpPr>
          <p:cNvPr id="10" name="Group 10"/>
          <p:cNvGrpSpPr/>
          <p:nvPr/>
        </p:nvGrpSpPr>
        <p:grpSpPr>
          <a:xfrm>
            <a:off x="1487718" y="4347655"/>
            <a:ext cx="10582686" cy="1521052"/>
            <a:chOff x="0" y="0"/>
            <a:chExt cx="2787210" cy="400606"/>
          </a:xfrm>
        </p:grpSpPr>
        <p:sp>
          <p:nvSpPr>
            <p:cNvPr id="11" name="Freeform 11"/>
            <p:cNvSpPr/>
            <p:nvPr/>
          </p:nvSpPr>
          <p:spPr>
            <a:xfrm>
              <a:off x="0" y="0"/>
              <a:ext cx="2787210" cy="400606"/>
            </a:xfrm>
            <a:custGeom>
              <a:avLst/>
              <a:gdLst/>
              <a:ahLst/>
              <a:cxnLst/>
              <a:rect l="l" t="t" r="r" b="b"/>
              <a:pathLst>
                <a:path w="2787210" h="400606">
                  <a:moveTo>
                    <a:pt x="0" y="0"/>
                  </a:moveTo>
                  <a:lnTo>
                    <a:pt x="2787210" y="0"/>
                  </a:lnTo>
                  <a:lnTo>
                    <a:pt x="2787210" y="400606"/>
                  </a:lnTo>
                  <a:lnTo>
                    <a:pt x="0" y="400606"/>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2" name="TextBox 12"/>
            <p:cNvSpPr txBox="1"/>
            <p:nvPr/>
          </p:nvSpPr>
          <p:spPr>
            <a:xfrm>
              <a:off x="0" y="-57150"/>
              <a:ext cx="2787210" cy="457756"/>
            </a:xfrm>
            <a:prstGeom prst="rect">
              <a:avLst/>
            </a:prstGeom>
          </p:spPr>
          <p:txBody>
            <a:bodyPr lIns="50800" tIns="50800" rIns="50800" bIns="50800" rtlCol="0" anchor="ctr"/>
            <a:lstStyle/>
            <a:p>
              <a:pPr algn="ctr">
                <a:lnSpc>
                  <a:spcPts val="3639"/>
                </a:lnSpc>
              </a:pPr>
              <a:endParaRPr/>
            </a:p>
          </p:txBody>
        </p:sp>
      </p:grpSp>
      <p:sp>
        <p:nvSpPr>
          <p:cNvPr id="13" name="TextBox 13"/>
          <p:cNvSpPr txBox="1"/>
          <p:nvPr/>
        </p:nvSpPr>
        <p:spPr>
          <a:xfrm>
            <a:off x="1842472" y="4512551"/>
            <a:ext cx="1354994" cy="1019810"/>
          </a:xfrm>
          <a:prstGeom prst="rect">
            <a:avLst/>
          </a:prstGeom>
        </p:spPr>
        <p:txBody>
          <a:bodyPr lIns="0" tIns="0" rIns="0" bIns="0" rtlCol="0" anchor="t">
            <a:spAutoFit/>
          </a:bodyPr>
          <a:lstStyle/>
          <a:p>
            <a:pPr algn="ctr">
              <a:lnSpc>
                <a:spcPts val="7840"/>
              </a:lnSpc>
              <a:spcBef>
                <a:spcPct val="0"/>
              </a:spcBef>
            </a:pPr>
            <a:r>
              <a:rPr lang="en-US" sz="5600" spc="134">
                <a:solidFill>
                  <a:srgbClr val="F2F7FA"/>
                </a:solidFill>
                <a:latin typeface="Telegraf"/>
                <a:ea typeface="Telegraf"/>
                <a:cs typeface="Telegraf"/>
                <a:sym typeface="Telegraf"/>
              </a:rPr>
              <a:t>02</a:t>
            </a:r>
          </a:p>
        </p:txBody>
      </p:sp>
      <p:grpSp>
        <p:nvGrpSpPr>
          <p:cNvPr id="14" name="Group 14"/>
          <p:cNvGrpSpPr/>
          <p:nvPr/>
        </p:nvGrpSpPr>
        <p:grpSpPr>
          <a:xfrm>
            <a:off x="1487718" y="6421157"/>
            <a:ext cx="10582686" cy="1521052"/>
            <a:chOff x="0" y="0"/>
            <a:chExt cx="2787210" cy="400606"/>
          </a:xfrm>
        </p:grpSpPr>
        <p:sp>
          <p:nvSpPr>
            <p:cNvPr id="15" name="Freeform 15"/>
            <p:cNvSpPr/>
            <p:nvPr/>
          </p:nvSpPr>
          <p:spPr>
            <a:xfrm>
              <a:off x="0" y="0"/>
              <a:ext cx="2787210" cy="400606"/>
            </a:xfrm>
            <a:custGeom>
              <a:avLst/>
              <a:gdLst/>
              <a:ahLst/>
              <a:cxnLst/>
              <a:rect l="l" t="t" r="r" b="b"/>
              <a:pathLst>
                <a:path w="2787210" h="400606">
                  <a:moveTo>
                    <a:pt x="0" y="0"/>
                  </a:moveTo>
                  <a:lnTo>
                    <a:pt x="2787210" y="0"/>
                  </a:lnTo>
                  <a:lnTo>
                    <a:pt x="2787210" y="400606"/>
                  </a:lnTo>
                  <a:lnTo>
                    <a:pt x="0" y="400606"/>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6" name="TextBox 16"/>
            <p:cNvSpPr txBox="1"/>
            <p:nvPr/>
          </p:nvSpPr>
          <p:spPr>
            <a:xfrm>
              <a:off x="0" y="-57150"/>
              <a:ext cx="2787210" cy="457756"/>
            </a:xfrm>
            <a:prstGeom prst="rect">
              <a:avLst/>
            </a:prstGeom>
          </p:spPr>
          <p:txBody>
            <a:bodyPr lIns="50800" tIns="50800" rIns="50800" bIns="50800" rtlCol="0" anchor="ctr"/>
            <a:lstStyle/>
            <a:p>
              <a:pPr algn="ctr">
                <a:lnSpc>
                  <a:spcPts val="3639"/>
                </a:lnSpc>
              </a:pPr>
              <a:endParaRPr/>
            </a:p>
          </p:txBody>
        </p:sp>
      </p:grpSp>
      <p:sp>
        <p:nvSpPr>
          <p:cNvPr id="17" name="TextBox 17"/>
          <p:cNvSpPr txBox="1"/>
          <p:nvPr/>
        </p:nvSpPr>
        <p:spPr>
          <a:xfrm>
            <a:off x="1842472" y="6650469"/>
            <a:ext cx="1354994" cy="1019810"/>
          </a:xfrm>
          <a:prstGeom prst="rect">
            <a:avLst/>
          </a:prstGeom>
        </p:spPr>
        <p:txBody>
          <a:bodyPr lIns="0" tIns="0" rIns="0" bIns="0" rtlCol="0" anchor="t">
            <a:spAutoFit/>
          </a:bodyPr>
          <a:lstStyle/>
          <a:p>
            <a:pPr algn="ctr">
              <a:lnSpc>
                <a:spcPts val="7840"/>
              </a:lnSpc>
              <a:spcBef>
                <a:spcPct val="0"/>
              </a:spcBef>
            </a:pPr>
            <a:r>
              <a:rPr lang="en-US" sz="5600" spc="134">
                <a:solidFill>
                  <a:srgbClr val="F2F7FA"/>
                </a:solidFill>
                <a:latin typeface="Telegraf"/>
                <a:ea typeface="Telegraf"/>
                <a:cs typeface="Telegraf"/>
                <a:sym typeface="Telegraf"/>
              </a:rPr>
              <a:t>03</a:t>
            </a:r>
          </a:p>
        </p:txBody>
      </p:sp>
      <p:sp>
        <p:nvSpPr>
          <p:cNvPr id="18" name="TextBox 18"/>
          <p:cNvSpPr txBox="1"/>
          <p:nvPr/>
        </p:nvSpPr>
        <p:spPr>
          <a:xfrm>
            <a:off x="4007092" y="6665073"/>
            <a:ext cx="7293933" cy="1066801"/>
          </a:xfrm>
          <a:prstGeom prst="rect">
            <a:avLst/>
          </a:prstGeom>
        </p:spPr>
        <p:txBody>
          <a:bodyPr lIns="0" tIns="0" rIns="0" bIns="0" rtlCol="0" anchor="t">
            <a:spAutoFit/>
          </a:bodyPr>
          <a:lstStyle/>
          <a:p>
            <a:pPr algn="l">
              <a:lnSpc>
                <a:spcPts val="4199"/>
              </a:lnSpc>
              <a:spcBef>
                <a:spcPct val="0"/>
              </a:spcBef>
            </a:pPr>
            <a:r>
              <a:rPr lang="en-US" sz="2999" spc="149">
                <a:solidFill>
                  <a:srgbClr val="F2F7FA"/>
                </a:solidFill>
                <a:latin typeface="Telegraf"/>
                <a:ea typeface="Telegraf"/>
                <a:cs typeface="Telegraf"/>
                <a:sym typeface="Telegraf"/>
              </a:rPr>
              <a:t>Motivation: High readmission rates → increased costs &amp; lower care quality</a:t>
            </a:r>
          </a:p>
        </p:txBody>
      </p:sp>
      <p:sp>
        <p:nvSpPr>
          <p:cNvPr id="19" name="TextBox 19"/>
          <p:cNvSpPr txBox="1"/>
          <p:nvPr/>
        </p:nvSpPr>
        <p:spPr>
          <a:xfrm>
            <a:off x="1531982" y="1104900"/>
            <a:ext cx="14680492" cy="996206"/>
          </a:xfrm>
          <a:prstGeom prst="rect">
            <a:avLst/>
          </a:prstGeom>
        </p:spPr>
        <p:txBody>
          <a:bodyPr lIns="0" tIns="0" rIns="0" bIns="0" rtlCol="0" anchor="t">
            <a:spAutoFit/>
          </a:bodyPr>
          <a:lstStyle/>
          <a:p>
            <a:pPr algn="l">
              <a:lnSpc>
                <a:spcPts val="6828"/>
              </a:lnSpc>
            </a:pPr>
            <a:r>
              <a:rPr lang="en-US" sz="7039" b="1">
                <a:solidFill>
                  <a:srgbClr val="343434"/>
                </a:solidFill>
                <a:latin typeface="Telegraf Bold"/>
                <a:ea typeface="Telegraf Bold"/>
                <a:cs typeface="Telegraf Bold"/>
                <a:sym typeface="Telegraf Bold"/>
              </a:rPr>
              <a:t>INTRODUCTION</a:t>
            </a:r>
          </a:p>
        </p:txBody>
      </p:sp>
      <p:grpSp>
        <p:nvGrpSpPr>
          <p:cNvPr id="20" name="Group 20"/>
          <p:cNvGrpSpPr/>
          <p:nvPr/>
        </p:nvGrpSpPr>
        <p:grpSpPr>
          <a:xfrm>
            <a:off x="1487718" y="8494659"/>
            <a:ext cx="10582686" cy="1521052"/>
            <a:chOff x="0" y="0"/>
            <a:chExt cx="2787210" cy="400606"/>
          </a:xfrm>
        </p:grpSpPr>
        <p:sp>
          <p:nvSpPr>
            <p:cNvPr id="21" name="Freeform 21"/>
            <p:cNvSpPr/>
            <p:nvPr/>
          </p:nvSpPr>
          <p:spPr>
            <a:xfrm>
              <a:off x="0" y="0"/>
              <a:ext cx="2787210" cy="400606"/>
            </a:xfrm>
            <a:custGeom>
              <a:avLst/>
              <a:gdLst/>
              <a:ahLst/>
              <a:cxnLst/>
              <a:rect l="l" t="t" r="r" b="b"/>
              <a:pathLst>
                <a:path w="2787210" h="400606">
                  <a:moveTo>
                    <a:pt x="0" y="0"/>
                  </a:moveTo>
                  <a:lnTo>
                    <a:pt x="2787210" y="0"/>
                  </a:lnTo>
                  <a:lnTo>
                    <a:pt x="2787210" y="400606"/>
                  </a:lnTo>
                  <a:lnTo>
                    <a:pt x="0" y="400606"/>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22" name="TextBox 22"/>
            <p:cNvSpPr txBox="1"/>
            <p:nvPr/>
          </p:nvSpPr>
          <p:spPr>
            <a:xfrm>
              <a:off x="0" y="-57150"/>
              <a:ext cx="2787210" cy="457756"/>
            </a:xfrm>
            <a:prstGeom prst="rect">
              <a:avLst/>
            </a:prstGeom>
          </p:spPr>
          <p:txBody>
            <a:bodyPr lIns="50800" tIns="50800" rIns="50800" bIns="50800" rtlCol="0" anchor="ctr"/>
            <a:lstStyle/>
            <a:p>
              <a:pPr algn="ctr">
                <a:lnSpc>
                  <a:spcPts val="3639"/>
                </a:lnSpc>
              </a:pPr>
              <a:endParaRPr/>
            </a:p>
          </p:txBody>
        </p:sp>
      </p:grpSp>
      <p:sp>
        <p:nvSpPr>
          <p:cNvPr id="23" name="TextBox 23"/>
          <p:cNvSpPr txBox="1"/>
          <p:nvPr/>
        </p:nvSpPr>
        <p:spPr>
          <a:xfrm>
            <a:off x="1842472" y="2439761"/>
            <a:ext cx="1354994" cy="1019810"/>
          </a:xfrm>
          <a:prstGeom prst="rect">
            <a:avLst/>
          </a:prstGeom>
        </p:spPr>
        <p:txBody>
          <a:bodyPr lIns="0" tIns="0" rIns="0" bIns="0" rtlCol="0" anchor="t">
            <a:spAutoFit/>
          </a:bodyPr>
          <a:lstStyle/>
          <a:p>
            <a:pPr algn="ctr">
              <a:lnSpc>
                <a:spcPts val="7840"/>
              </a:lnSpc>
              <a:spcBef>
                <a:spcPct val="0"/>
              </a:spcBef>
            </a:pPr>
            <a:r>
              <a:rPr lang="en-US" sz="5600" spc="134">
                <a:solidFill>
                  <a:srgbClr val="F2F7FA"/>
                </a:solidFill>
                <a:latin typeface="Telegraf"/>
                <a:ea typeface="Telegraf"/>
                <a:cs typeface="Telegraf"/>
                <a:sym typeface="Telegraf"/>
              </a:rPr>
              <a:t>01</a:t>
            </a:r>
          </a:p>
        </p:txBody>
      </p:sp>
      <p:sp>
        <p:nvSpPr>
          <p:cNvPr id="24" name="TextBox 24"/>
          <p:cNvSpPr txBox="1"/>
          <p:nvPr/>
        </p:nvSpPr>
        <p:spPr>
          <a:xfrm>
            <a:off x="1842472" y="8659555"/>
            <a:ext cx="1354994" cy="1019810"/>
          </a:xfrm>
          <a:prstGeom prst="rect">
            <a:avLst/>
          </a:prstGeom>
        </p:spPr>
        <p:txBody>
          <a:bodyPr lIns="0" tIns="0" rIns="0" bIns="0" rtlCol="0" anchor="t">
            <a:spAutoFit/>
          </a:bodyPr>
          <a:lstStyle/>
          <a:p>
            <a:pPr algn="ctr">
              <a:lnSpc>
                <a:spcPts val="7840"/>
              </a:lnSpc>
              <a:spcBef>
                <a:spcPct val="0"/>
              </a:spcBef>
            </a:pPr>
            <a:r>
              <a:rPr lang="en-US" sz="5600" spc="134">
                <a:solidFill>
                  <a:srgbClr val="F2F7FA"/>
                </a:solidFill>
                <a:latin typeface="Telegraf"/>
                <a:ea typeface="Telegraf"/>
                <a:cs typeface="Telegraf"/>
                <a:sym typeface="Telegraf"/>
              </a:rPr>
              <a:t>04</a:t>
            </a:r>
          </a:p>
        </p:txBody>
      </p:sp>
      <p:grpSp>
        <p:nvGrpSpPr>
          <p:cNvPr id="25" name="Group 25"/>
          <p:cNvGrpSpPr/>
          <p:nvPr/>
        </p:nvGrpSpPr>
        <p:grpSpPr>
          <a:xfrm>
            <a:off x="12880030" y="4347655"/>
            <a:ext cx="5130194" cy="5331709"/>
            <a:chOff x="0" y="0"/>
            <a:chExt cx="1351162" cy="1404236"/>
          </a:xfrm>
        </p:grpSpPr>
        <p:sp>
          <p:nvSpPr>
            <p:cNvPr id="26" name="Freeform 26"/>
            <p:cNvSpPr/>
            <p:nvPr/>
          </p:nvSpPr>
          <p:spPr>
            <a:xfrm>
              <a:off x="0" y="0"/>
              <a:ext cx="1351162" cy="1404236"/>
            </a:xfrm>
            <a:custGeom>
              <a:avLst/>
              <a:gdLst/>
              <a:ahLst/>
              <a:cxnLst/>
              <a:rect l="l" t="t" r="r" b="b"/>
              <a:pathLst>
                <a:path w="1351162" h="1404236">
                  <a:moveTo>
                    <a:pt x="0" y="0"/>
                  </a:moveTo>
                  <a:lnTo>
                    <a:pt x="1351162" y="0"/>
                  </a:lnTo>
                  <a:lnTo>
                    <a:pt x="1351162" y="1404236"/>
                  </a:lnTo>
                  <a:lnTo>
                    <a:pt x="0" y="1404236"/>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27" name="TextBox 27"/>
            <p:cNvSpPr txBox="1"/>
            <p:nvPr/>
          </p:nvSpPr>
          <p:spPr>
            <a:xfrm>
              <a:off x="0" y="-57150"/>
              <a:ext cx="1351162" cy="1461386"/>
            </a:xfrm>
            <a:prstGeom prst="rect">
              <a:avLst/>
            </a:prstGeom>
          </p:spPr>
          <p:txBody>
            <a:bodyPr lIns="50800" tIns="50800" rIns="50800" bIns="50800" rtlCol="0" anchor="ctr"/>
            <a:lstStyle/>
            <a:p>
              <a:pPr algn="ctr">
                <a:lnSpc>
                  <a:spcPts val="3639"/>
                </a:lnSpc>
              </a:pPr>
              <a:endParaRPr/>
            </a:p>
          </p:txBody>
        </p:sp>
      </p:grpSp>
      <p:sp>
        <p:nvSpPr>
          <p:cNvPr id="28" name="TextBox 28"/>
          <p:cNvSpPr txBox="1"/>
          <p:nvPr/>
        </p:nvSpPr>
        <p:spPr>
          <a:xfrm>
            <a:off x="14767630" y="4720308"/>
            <a:ext cx="1354994" cy="1019810"/>
          </a:xfrm>
          <a:prstGeom prst="rect">
            <a:avLst/>
          </a:prstGeom>
        </p:spPr>
        <p:txBody>
          <a:bodyPr lIns="0" tIns="0" rIns="0" bIns="0" rtlCol="0" anchor="t">
            <a:spAutoFit/>
          </a:bodyPr>
          <a:lstStyle/>
          <a:p>
            <a:pPr algn="ctr">
              <a:lnSpc>
                <a:spcPts val="7840"/>
              </a:lnSpc>
              <a:spcBef>
                <a:spcPct val="0"/>
              </a:spcBef>
            </a:pPr>
            <a:r>
              <a:rPr lang="en-US" sz="5600" spc="134">
                <a:solidFill>
                  <a:srgbClr val="F2F7FA"/>
                </a:solidFill>
                <a:latin typeface="Telegraf"/>
                <a:ea typeface="Telegraf"/>
                <a:cs typeface="Telegraf"/>
                <a:sym typeface="Telegraf"/>
              </a:rPr>
              <a:t>05</a:t>
            </a:r>
          </a:p>
        </p:txBody>
      </p:sp>
      <p:sp>
        <p:nvSpPr>
          <p:cNvPr id="29" name="TextBox 29"/>
          <p:cNvSpPr txBox="1"/>
          <p:nvPr/>
        </p:nvSpPr>
        <p:spPr>
          <a:xfrm>
            <a:off x="4007092" y="4562475"/>
            <a:ext cx="7293933" cy="1066801"/>
          </a:xfrm>
          <a:prstGeom prst="rect">
            <a:avLst/>
          </a:prstGeom>
        </p:spPr>
        <p:txBody>
          <a:bodyPr lIns="0" tIns="0" rIns="0" bIns="0" rtlCol="0" anchor="t">
            <a:spAutoFit/>
          </a:bodyPr>
          <a:lstStyle/>
          <a:p>
            <a:pPr algn="l">
              <a:lnSpc>
                <a:spcPts val="4199"/>
              </a:lnSpc>
              <a:spcBef>
                <a:spcPct val="0"/>
              </a:spcBef>
            </a:pPr>
            <a:r>
              <a:rPr lang="en-US" sz="2999" spc="149">
                <a:solidFill>
                  <a:srgbClr val="F2F7FA"/>
                </a:solidFill>
                <a:latin typeface="Telegraf"/>
                <a:ea typeface="Telegraf"/>
                <a:cs typeface="Telegraf"/>
                <a:sym typeface="Telegraf"/>
              </a:rPr>
              <a:t>Goal: Predict 30-day hospital readmissions for diabetic patients</a:t>
            </a:r>
          </a:p>
        </p:txBody>
      </p:sp>
      <p:sp>
        <p:nvSpPr>
          <p:cNvPr id="30" name="TextBox 30"/>
          <p:cNvSpPr txBox="1"/>
          <p:nvPr/>
        </p:nvSpPr>
        <p:spPr>
          <a:xfrm>
            <a:off x="4009101" y="2518855"/>
            <a:ext cx="7293933" cy="1066801"/>
          </a:xfrm>
          <a:prstGeom prst="rect">
            <a:avLst/>
          </a:prstGeom>
        </p:spPr>
        <p:txBody>
          <a:bodyPr lIns="0" tIns="0" rIns="0" bIns="0" rtlCol="0" anchor="t">
            <a:spAutoFit/>
          </a:bodyPr>
          <a:lstStyle/>
          <a:p>
            <a:pPr algn="l">
              <a:lnSpc>
                <a:spcPts val="4199"/>
              </a:lnSpc>
              <a:spcBef>
                <a:spcPct val="0"/>
              </a:spcBef>
            </a:pPr>
            <a:r>
              <a:rPr lang="en-US" sz="2999" spc="149">
                <a:solidFill>
                  <a:srgbClr val="F2F7FA"/>
                </a:solidFill>
                <a:latin typeface="Telegraf"/>
                <a:ea typeface="Telegraf"/>
                <a:cs typeface="Telegraf"/>
                <a:sym typeface="Telegraf"/>
              </a:rPr>
              <a:t>Dataset: Diabetes 130-US Hospitals (1999–2008)</a:t>
            </a:r>
          </a:p>
        </p:txBody>
      </p:sp>
      <p:sp>
        <p:nvSpPr>
          <p:cNvPr id="31" name="TextBox 31"/>
          <p:cNvSpPr txBox="1"/>
          <p:nvPr/>
        </p:nvSpPr>
        <p:spPr>
          <a:xfrm>
            <a:off x="4007092" y="8742309"/>
            <a:ext cx="7784658" cy="1066801"/>
          </a:xfrm>
          <a:prstGeom prst="rect">
            <a:avLst/>
          </a:prstGeom>
        </p:spPr>
        <p:txBody>
          <a:bodyPr lIns="0" tIns="0" rIns="0" bIns="0" rtlCol="0" anchor="t">
            <a:spAutoFit/>
          </a:bodyPr>
          <a:lstStyle/>
          <a:p>
            <a:pPr algn="l">
              <a:lnSpc>
                <a:spcPts val="4199"/>
              </a:lnSpc>
              <a:spcBef>
                <a:spcPct val="0"/>
              </a:spcBef>
            </a:pPr>
            <a:r>
              <a:rPr lang="en-US" sz="2999" spc="149">
                <a:solidFill>
                  <a:srgbClr val="F2F7FA"/>
                </a:solidFill>
                <a:latin typeface="Telegraf"/>
                <a:ea typeface="Telegraf"/>
                <a:cs typeface="Telegraf"/>
                <a:sym typeface="Telegraf"/>
              </a:rPr>
              <a:t>Framework: CRISP-DM (From Business Understanding to Model Evaluation)</a:t>
            </a:r>
          </a:p>
        </p:txBody>
      </p:sp>
      <p:sp>
        <p:nvSpPr>
          <p:cNvPr id="32" name="TextBox 32"/>
          <p:cNvSpPr txBox="1"/>
          <p:nvPr/>
        </p:nvSpPr>
        <p:spPr>
          <a:xfrm>
            <a:off x="12989130" y="6094263"/>
            <a:ext cx="4911993" cy="2208422"/>
          </a:xfrm>
          <a:prstGeom prst="rect">
            <a:avLst/>
          </a:prstGeom>
        </p:spPr>
        <p:txBody>
          <a:bodyPr lIns="0" tIns="0" rIns="0" bIns="0" rtlCol="0" anchor="t">
            <a:spAutoFit/>
          </a:bodyPr>
          <a:lstStyle/>
          <a:p>
            <a:pPr algn="l">
              <a:lnSpc>
                <a:spcPts val="4395"/>
              </a:lnSpc>
              <a:spcBef>
                <a:spcPct val="0"/>
              </a:spcBef>
            </a:pPr>
            <a:r>
              <a:rPr lang="en-US" sz="3139" spc="156">
                <a:solidFill>
                  <a:srgbClr val="F2F7FA"/>
                </a:solidFill>
                <a:latin typeface="Telegraf"/>
                <a:ea typeface="Telegraf"/>
                <a:cs typeface="Telegraf"/>
                <a:sym typeface="Telegraf"/>
              </a:rPr>
              <a:t>Focus: Build ML models → derive actionable insights for hospital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467361" y="-2757747"/>
            <a:ext cx="12701350" cy="5382197"/>
          </a:xfrm>
          <a:custGeom>
            <a:avLst/>
            <a:gdLst/>
            <a:ahLst/>
            <a:cxnLst/>
            <a:rect l="l" t="t" r="r" b="b"/>
            <a:pathLst>
              <a:path w="12701350" h="5382197">
                <a:moveTo>
                  <a:pt x="0" y="0"/>
                </a:moveTo>
                <a:lnTo>
                  <a:pt x="12701349" y="0"/>
                </a:lnTo>
                <a:lnTo>
                  <a:pt x="12701349"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a:off x="10986204" y="6250419"/>
            <a:ext cx="11514218" cy="8506128"/>
          </a:xfrm>
          <a:custGeom>
            <a:avLst/>
            <a:gdLst/>
            <a:ahLst/>
            <a:cxnLst/>
            <a:rect l="l" t="t" r="r" b="b"/>
            <a:pathLst>
              <a:path w="11514218" h="8506128">
                <a:moveTo>
                  <a:pt x="0" y="0"/>
                </a:moveTo>
                <a:lnTo>
                  <a:pt x="11514218" y="0"/>
                </a:lnTo>
                <a:lnTo>
                  <a:pt x="11514218" y="8506128"/>
                </a:lnTo>
                <a:lnTo>
                  <a:pt x="0" y="8506128"/>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408865" y="-392510"/>
            <a:ext cx="1437565" cy="11072020"/>
            <a:chOff x="0" y="0"/>
            <a:chExt cx="378618" cy="2916088"/>
          </a:xfrm>
        </p:grpSpPr>
        <p:sp>
          <p:nvSpPr>
            <p:cNvPr id="5" name="Freeform 5"/>
            <p:cNvSpPr/>
            <p:nvPr/>
          </p:nvSpPr>
          <p:spPr>
            <a:xfrm>
              <a:off x="0" y="0"/>
              <a:ext cx="378618" cy="2916088"/>
            </a:xfrm>
            <a:custGeom>
              <a:avLst/>
              <a:gdLst/>
              <a:ahLst/>
              <a:cxnLst/>
              <a:rect l="l" t="t" r="r" b="b"/>
              <a:pathLst>
                <a:path w="378618" h="2916088">
                  <a:moveTo>
                    <a:pt x="0" y="0"/>
                  </a:moveTo>
                  <a:lnTo>
                    <a:pt x="378618" y="0"/>
                  </a:lnTo>
                  <a:lnTo>
                    <a:pt x="378618"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378618" cy="2973238"/>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531982" y="1104900"/>
            <a:ext cx="14680492" cy="996206"/>
          </a:xfrm>
          <a:prstGeom prst="rect">
            <a:avLst/>
          </a:prstGeom>
        </p:spPr>
        <p:txBody>
          <a:bodyPr lIns="0" tIns="0" rIns="0" bIns="0" rtlCol="0" anchor="t">
            <a:spAutoFit/>
          </a:bodyPr>
          <a:lstStyle/>
          <a:p>
            <a:pPr algn="l">
              <a:lnSpc>
                <a:spcPts val="6828"/>
              </a:lnSpc>
            </a:pPr>
            <a:r>
              <a:rPr lang="en-US" sz="7039" b="1">
                <a:solidFill>
                  <a:srgbClr val="343434"/>
                </a:solidFill>
                <a:latin typeface="Telegraf Bold"/>
                <a:ea typeface="Telegraf Bold"/>
                <a:cs typeface="Telegraf Bold"/>
                <a:sym typeface="Telegraf Bold"/>
              </a:rPr>
              <a:t>DATA PREPROCESSING</a:t>
            </a:r>
          </a:p>
        </p:txBody>
      </p:sp>
      <p:sp>
        <p:nvSpPr>
          <p:cNvPr id="8" name="TextBox 8"/>
          <p:cNvSpPr txBox="1"/>
          <p:nvPr/>
        </p:nvSpPr>
        <p:spPr>
          <a:xfrm>
            <a:off x="1531982" y="5154733"/>
            <a:ext cx="11012824"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HANDLING MISSING VALUES</a:t>
            </a:r>
          </a:p>
        </p:txBody>
      </p:sp>
      <p:sp>
        <p:nvSpPr>
          <p:cNvPr id="9" name="TextBox 9"/>
          <p:cNvSpPr txBox="1"/>
          <p:nvPr/>
        </p:nvSpPr>
        <p:spPr>
          <a:xfrm>
            <a:off x="1531982" y="6200578"/>
            <a:ext cx="10268241" cy="2251710"/>
          </a:xfrm>
          <a:prstGeom prst="rect">
            <a:avLst/>
          </a:prstGeom>
        </p:spPr>
        <p:txBody>
          <a:bodyPr lIns="0" tIns="0" rIns="0" bIns="0" rtlCol="0" anchor="t">
            <a:spAutoFit/>
          </a:bodyPr>
          <a:lstStyle/>
          <a:p>
            <a:pPr marL="453390" lvl="1" indent="-226695" algn="l">
              <a:lnSpc>
                <a:spcPts val="2940"/>
              </a:lnSpc>
              <a:buAutoNum type="arabicPeriod"/>
            </a:pPr>
            <a:r>
              <a:rPr lang="en-US" sz="2100" spc="105">
                <a:solidFill>
                  <a:srgbClr val="343434"/>
                </a:solidFill>
                <a:latin typeface="Telegraf"/>
                <a:ea typeface="Telegraf"/>
                <a:cs typeface="Telegraf"/>
                <a:sym typeface="Telegraf"/>
              </a:rPr>
              <a:t>Removed features with high missing rates (e.g., weight, max_glu_serum).</a:t>
            </a:r>
          </a:p>
          <a:p>
            <a:pPr marL="453390" lvl="1" indent="-226695" algn="l">
              <a:lnSpc>
                <a:spcPts val="2940"/>
              </a:lnSpc>
              <a:buAutoNum type="arabicPeriod"/>
            </a:pPr>
            <a:r>
              <a:rPr lang="en-US" sz="2100" spc="105">
                <a:solidFill>
                  <a:srgbClr val="343434"/>
                </a:solidFill>
                <a:latin typeface="Telegraf"/>
                <a:ea typeface="Telegraf"/>
                <a:cs typeface="Telegraf"/>
                <a:sym typeface="Telegraf"/>
              </a:rPr>
              <a:t>Race had only 2% missing data, which was filled using the mode.</a:t>
            </a:r>
          </a:p>
          <a:p>
            <a:pPr marL="453390" lvl="1" indent="-226695" algn="l">
              <a:lnSpc>
                <a:spcPts val="2940"/>
              </a:lnSpc>
              <a:buAutoNum type="arabicPeriod"/>
            </a:pPr>
            <a:r>
              <a:rPr lang="en-US" sz="2100" spc="105">
                <a:solidFill>
                  <a:srgbClr val="343434"/>
                </a:solidFill>
                <a:latin typeface="Telegraf"/>
                <a:ea typeface="Telegraf"/>
                <a:cs typeface="Telegraf"/>
                <a:sym typeface="Telegraf"/>
              </a:rPr>
              <a:t>Medical_specialty and payer_code were filled using the 'Unknown' placeholder .</a:t>
            </a:r>
          </a:p>
          <a:p>
            <a:pPr algn="l">
              <a:lnSpc>
                <a:spcPts val="2940"/>
              </a:lnSpc>
              <a:spcBef>
                <a:spcPct val="0"/>
              </a:spcBef>
            </a:pPr>
            <a:endParaRPr lang="en-US" sz="2100" spc="105">
              <a:solidFill>
                <a:srgbClr val="343434"/>
              </a:solidFill>
              <a:latin typeface="Telegraf"/>
              <a:ea typeface="Telegraf"/>
              <a:cs typeface="Telegraf"/>
              <a:sym typeface="Telegraf"/>
            </a:endParaRPr>
          </a:p>
        </p:txBody>
      </p:sp>
      <p:sp>
        <p:nvSpPr>
          <p:cNvPr id="10" name="TextBox 10"/>
          <p:cNvSpPr txBox="1"/>
          <p:nvPr/>
        </p:nvSpPr>
        <p:spPr>
          <a:xfrm>
            <a:off x="1531982" y="8383298"/>
            <a:ext cx="11012824" cy="434340"/>
          </a:xfrm>
          <a:prstGeom prst="rect">
            <a:avLst/>
          </a:prstGeom>
        </p:spPr>
        <p:txBody>
          <a:bodyPr lIns="0" tIns="0" rIns="0" bIns="0" rtlCol="0" anchor="t">
            <a:spAutoFit/>
          </a:bodyPr>
          <a:lstStyle/>
          <a:p>
            <a:pPr algn="l">
              <a:lnSpc>
                <a:spcPts val="3359"/>
              </a:lnSpc>
              <a:spcBef>
                <a:spcPct val="0"/>
              </a:spcBef>
            </a:pPr>
            <a:r>
              <a:rPr lang="en-US" sz="2400" spc="57">
                <a:solidFill>
                  <a:srgbClr val="343434"/>
                </a:solidFill>
                <a:latin typeface="Telegraf"/>
                <a:ea typeface="Telegraf"/>
                <a:cs typeface="Telegraf"/>
                <a:sym typeface="Telegraf"/>
              </a:rPr>
              <a:t>THE DATASET SIZE WAS REDUCED FROM </a:t>
            </a:r>
            <a:r>
              <a:rPr lang="en-US" sz="2400" b="1" spc="57">
                <a:solidFill>
                  <a:srgbClr val="1800AD"/>
                </a:solidFill>
                <a:latin typeface="Telegraf Bold"/>
                <a:ea typeface="Telegraf Bold"/>
                <a:cs typeface="Telegraf Bold"/>
                <a:sym typeface="Telegraf Bold"/>
              </a:rPr>
              <a:t>101,766</a:t>
            </a:r>
            <a:r>
              <a:rPr lang="en-US" sz="2400" spc="57">
                <a:solidFill>
                  <a:srgbClr val="343434"/>
                </a:solidFill>
                <a:latin typeface="Telegraf"/>
                <a:ea typeface="Telegraf"/>
                <a:cs typeface="Telegraf"/>
                <a:sym typeface="Telegraf"/>
              </a:rPr>
              <a:t> TO </a:t>
            </a:r>
            <a:r>
              <a:rPr lang="en-US" sz="2400" b="1" spc="57">
                <a:solidFill>
                  <a:srgbClr val="1800AD"/>
                </a:solidFill>
                <a:latin typeface="Telegraf Bold"/>
                <a:ea typeface="Telegraf Bold"/>
                <a:cs typeface="Telegraf Bold"/>
                <a:sym typeface="Telegraf Bold"/>
              </a:rPr>
              <a:t>100,244</a:t>
            </a:r>
            <a:r>
              <a:rPr lang="en-US" sz="2400" spc="57">
                <a:solidFill>
                  <a:srgbClr val="343434"/>
                </a:solidFill>
                <a:latin typeface="Telegraf"/>
                <a:ea typeface="Telegraf"/>
                <a:cs typeface="Telegraf"/>
                <a:sym typeface="Telegraf"/>
              </a:rPr>
              <a:t>.</a:t>
            </a:r>
          </a:p>
        </p:txBody>
      </p:sp>
      <p:sp>
        <p:nvSpPr>
          <p:cNvPr id="11" name="TextBox 11"/>
          <p:cNvSpPr txBox="1"/>
          <p:nvPr/>
        </p:nvSpPr>
        <p:spPr>
          <a:xfrm>
            <a:off x="1531982" y="3108610"/>
            <a:ext cx="14680492" cy="2623185"/>
          </a:xfrm>
          <a:prstGeom prst="rect">
            <a:avLst/>
          </a:prstGeom>
        </p:spPr>
        <p:txBody>
          <a:bodyPr lIns="0" tIns="0" rIns="0" bIns="0" rtlCol="0" anchor="t">
            <a:spAutoFit/>
          </a:bodyPr>
          <a:lstStyle/>
          <a:p>
            <a:pPr algn="l">
              <a:lnSpc>
                <a:spcPts val="2940"/>
              </a:lnSpc>
            </a:pPr>
            <a:r>
              <a:rPr lang="en-US" sz="2100" spc="105">
                <a:solidFill>
                  <a:srgbClr val="343434"/>
                </a:solidFill>
                <a:latin typeface="Telegraf"/>
                <a:ea typeface="Telegraf"/>
                <a:cs typeface="Telegraf"/>
                <a:sym typeface="Telegraf"/>
              </a:rPr>
              <a:t>Source: UCI Machine Learning Repository - Diabetes 130-US Hospitals dataset</a:t>
            </a:r>
          </a:p>
          <a:p>
            <a:pPr algn="l">
              <a:lnSpc>
                <a:spcPts val="2940"/>
              </a:lnSpc>
            </a:pPr>
            <a:r>
              <a:rPr lang="en-US" sz="2100" spc="105">
                <a:solidFill>
                  <a:srgbClr val="343434"/>
                </a:solidFill>
                <a:latin typeface="Telegraf"/>
                <a:ea typeface="Telegraf"/>
                <a:cs typeface="Telegraf"/>
                <a:sym typeface="Telegraf"/>
              </a:rPr>
              <a:t>Domain: Healthcare/Hospital Management</a:t>
            </a:r>
          </a:p>
          <a:p>
            <a:pPr algn="l">
              <a:lnSpc>
                <a:spcPts val="2940"/>
              </a:lnSpc>
            </a:pPr>
            <a:r>
              <a:rPr lang="en-US" sz="2100" spc="105">
                <a:solidFill>
                  <a:srgbClr val="343434"/>
                </a:solidFill>
                <a:latin typeface="Telegraf"/>
                <a:ea typeface="Telegraf"/>
                <a:cs typeface="Telegraf"/>
                <a:sym typeface="Telegraf"/>
              </a:rPr>
              <a:t>Size: 101,766 patient encounters across 130 hospitals</a:t>
            </a:r>
          </a:p>
          <a:p>
            <a:pPr algn="l">
              <a:lnSpc>
                <a:spcPts val="2940"/>
              </a:lnSpc>
            </a:pPr>
            <a:r>
              <a:rPr lang="en-US" sz="2100" spc="105">
                <a:solidFill>
                  <a:srgbClr val="343434"/>
                </a:solidFill>
                <a:latin typeface="Telegraf"/>
                <a:ea typeface="Telegraf"/>
                <a:cs typeface="Telegraf"/>
                <a:sym typeface="Telegraf"/>
              </a:rPr>
              <a:t>Time Period: 1999-2008</a:t>
            </a:r>
          </a:p>
          <a:p>
            <a:pPr algn="l">
              <a:lnSpc>
                <a:spcPts val="2940"/>
              </a:lnSpc>
            </a:pPr>
            <a:r>
              <a:rPr lang="en-US" sz="2100" spc="105">
                <a:solidFill>
                  <a:srgbClr val="343434"/>
                </a:solidFill>
                <a:latin typeface="Telegraf"/>
                <a:ea typeface="Telegraf"/>
                <a:cs typeface="Telegraf"/>
                <a:sym typeface="Telegraf"/>
              </a:rPr>
              <a:t>Features: 50+ attributes covering demographics, clinical data, medications, and outcomes</a:t>
            </a:r>
          </a:p>
          <a:p>
            <a:pPr algn="l">
              <a:lnSpc>
                <a:spcPts val="2940"/>
              </a:lnSpc>
            </a:pPr>
            <a:endParaRPr lang="en-US" sz="2100" spc="105">
              <a:solidFill>
                <a:srgbClr val="343434"/>
              </a:solidFill>
              <a:latin typeface="Telegraf"/>
              <a:ea typeface="Telegraf"/>
              <a:cs typeface="Telegraf"/>
              <a:sym typeface="Telegraf"/>
            </a:endParaRPr>
          </a:p>
          <a:p>
            <a:pPr algn="l">
              <a:lnSpc>
                <a:spcPts val="2940"/>
              </a:lnSpc>
              <a:spcBef>
                <a:spcPct val="0"/>
              </a:spcBef>
            </a:pPr>
            <a:endParaRPr lang="en-US" sz="2100" spc="105">
              <a:solidFill>
                <a:srgbClr val="343434"/>
              </a:solidFill>
              <a:latin typeface="Telegraf"/>
              <a:ea typeface="Telegraf"/>
              <a:cs typeface="Telegraf"/>
              <a:sym typeface="Telegraf"/>
            </a:endParaRPr>
          </a:p>
        </p:txBody>
      </p:sp>
      <p:sp>
        <p:nvSpPr>
          <p:cNvPr id="12" name="TextBox 12"/>
          <p:cNvSpPr txBox="1"/>
          <p:nvPr/>
        </p:nvSpPr>
        <p:spPr>
          <a:xfrm>
            <a:off x="1531982" y="2256508"/>
            <a:ext cx="11012824"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DATASET OVERVIEW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467361" y="-2757747"/>
            <a:ext cx="12701350" cy="5382197"/>
          </a:xfrm>
          <a:custGeom>
            <a:avLst/>
            <a:gdLst/>
            <a:ahLst/>
            <a:cxnLst/>
            <a:rect l="l" t="t" r="r" b="b"/>
            <a:pathLst>
              <a:path w="12701350" h="5382197">
                <a:moveTo>
                  <a:pt x="0" y="0"/>
                </a:moveTo>
                <a:lnTo>
                  <a:pt x="12701349" y="0"/>
                </a:lnTo>
                <a:lnTo>
                  <a:pt x="12701349"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a:off x="10986204" y="6250419"/>
            <a:ext cx="11514218" cy="8506128"/>
          </a:xfrm>
          <a:custGeom>
            <a:avLst/>
            <a:gdLst/>
            <a:ahLst/>
            <a:cxnLst/>
            <a:rect l="l" t="t" r="r" b="b"/>
            <a:pathLst>
              <a:path w="11514218" h="8506128">
                <a:moveTo>
                  <a:pt x="0" y="0"/>
                </a:moveTo>
                <a:lnTo>
                  <a:pt x="11514218" y="0"/>
                </a:lnTo>
                <a:lnTo>
                  <a:pt x="11514218" y="8506128"/>
                </a:lnTo>
                <a:lnTo>
                  <a:pt x="0" y="8506128"/>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408865" y="-392510"/>
            <a:ext cx="1437565" cy="11072020"/>
            <a:chOff x="0" y="0"/>
            <a:chExt cx="378618" cy="2916088"/>
          </a:xfrm>
        </p:grpSpPr>
        <p:sp>
          <p:nvSpPr>
            <p:cNvPr id="5" name="Freeform 5"/>
            <p:cNvSpPr/>
            <p:nvPr/>
          </p:nvSpPr>
          <p:spPr>
            <a:xfrm>
              <a:off x="0" y="0"/>
              <a:ext cx="378618" cy="2916088"/>
            </a:xfrm>
            <a:custGeom>
              <a:avLst/>
              <a:gdLst/>
              <a:ahLst/>
              <a:cxnLst/>
              <a:rect l="l" t="t" r="r" b="b"/>
              <a:pathLst>
                <a:path w="378618" h="2916088">
                  <a:moveTo>
                    <a:pt x="0" y="0"/>
                  </a:moveTo>
                  <a:lnTo>
                    <a:pt x="378618" y="0"/>
                  </a:lnTo>
                  <a:lnTo>
                    <a:pt x="378618"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378618" cy="2973238"/>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531982" y="1104900"/>
            <a:ext cx="14680492" cy="996206"/>
          </a:xfrm>
          <a:prstGeom prst="rect">
            <a:avLst/>
          </a:prstGeom>
        </p:spPr>
        <p:txBody>
          <a:bodyPr lIns="0" tIns="0" rIns="0" bIns="0" rtlCol="0" anchor="t">
            <a:spAutoFit/>
          </a:bodyPr>
          <a:lstStyle/>
          <a:p>
            <a:pPr algn="l">
              <a:lnSpc>
                <a:spcPts val="6828"/>
              </a:lnSpc>
            </a:pPr>
            <a:r>
              <a:rPr lang="en-US" sz="7039" b="1">
                <a:solidFill>
                  <a:srgbClr val="343434"/>
                </a:solidFill>
                <a:latin typeface="Telegraf Bold"/>
                <a:ea typeface="Telegraf Bold"/>
                <a:cs typeface="Telegraf Bold"/>
                <a:sym typeface="Telegraf Bold"/>
              </a:rPr>
              <a:t>FEATURE ENGINEERING</a:t>
            </a:r>
          </a:p>
        </p:txBody>
      </p:sp>
      <p:sp>
        <p:nvSpPr>
          <p:cNvPr id="8" name="TextBox 8"/>
          <p:cNvSpPr txBox="1"/>
          <p:nvPr/>
        </p:nvSpPr>
        <p:spPr>
          <a:xfrm>
            <a:off x="1531982" y="4445239"/>
            <a:ext cx="11012824"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NEW COMPOSITE FEATURE CREATION</a:t>
            </a:r>
          </a:p>
        </p:txBody>
      </p:sp>
      <p:sp>
        <p:nvSpPr>
          <p:cNvPr id="9" name="TextBox 9"/>
          <p:cNvSpPr txBox="1"/>
          <p:nvPr/>
        </p:nvSpPr>
        <p:spPr>
          <a:xfrm>
            <a:off x="1531982" y="5341618"/>
            <a:ext cx="13610032" cy="1880235"/>
          </a:xfrm>
          <a:prstGeom prst="rect">
            <a:avLst/>
          </a:prstGeom>
        </p:spPr>
        <p:txBody>
          <a:bodyPr lIns="0" tIns="0" rIns="0" bIns="0" rtlCol="0" anchor="t">
            <a:spAutoFit/>
          </a:bodyPr>
          <a:lstStyle/>
          <a:p>
            <a:pPr algn="l">
              <a:lnSpc>
                <a:spcPts val="2940"/>
              </a:lnSpc>
            </a:pPr>
            <a:r>
              <a:rPr lang="en-US" sz="2100" b="1" spc="105">
                <a:solidFill>
                  <a:srgbClr val="343434"/>
                </a:solidFill>
                <a:latin typeface="Telegraf Bold"/>
                <a:ea typeface="Telegraf Bold"/>
                <a:cs typeface="Telegraf Bold"/>
                <a:sym typeface="Telegraf Bold"/>
              </a:rPr>
              <a:t>total_prior_visits:</a:t>
            </a:r>
          </a:p>
          <a:p>
            <a:pPr algn="l">
              <a:lnSpc>
                <a:spcPts val="2940"/>
              </a:lnSpc>
            </a:pPr>
            <a:r>
              <a:rPr lang="en-US" sz="2100" spc="105">
                <a:solidFill>
                  <a:srgbClr val="343434"/>
                </a:solidFill>
                <a:latin typeface="Telegraf"/>
                <a:ea typeface="Telegraf"/>
                <a:cs typeface="Telegraf"/>
                <a:sym typeface="Telegraf"/>
              </a:rPr>
              <a:t>Combines outpatient, emergency, and inpatient visits in the preceding year.</a:t>
            </a:r>
          </a:p>
          <a:p>
            <a:pPr algn="l">
              <a:lnSpc>
                <a:spcPts val="2940"/>
              </a:lnSpc>
            </a:pPr>
            <a:endParaRPr lang="en-US" sz="2100" spc="105">
              <a:solidFill>
                <a:srgbClr val="343434"/>
              </a:solidFill>
              <a:latin typeface="Telegraf"/>
              <a:ea typeface="Telegraf"/>
              <a:cs typeface="Telegraf"/>
              <a:sym typeface="Telegraf"/>
            </a:endParaRPr>
          </a:p>
          <a:p>
            <a:pPr algn="l">
              <a:lnSpc>
                <a:spcPts val="2940"/>
              </a:lnSpc>
            </a:pPr>
            <a:endParaRPr lang="en-US" sz="2100" spc="105">
              <a:solidFill>
                <a:srgbClr val="343434"/>
              </a:solidFill>
              <a:latin typeface="Telegraf"/>
              <a:ea typeface="Telegraf"/>
              <a:cs typeface="Telegraf"/>
              <a:sym typeface="Telegraf"/>
            </a:endParaRPr>
          </a:p>
          <a:p>
            <a:pPr algn="l">
              <a:lnSpc>
                <a:spcPts val="2940"/>
              </a:lnSpc>
              <a:spcBef>
                <a:spcPct val="0"/>
              </a:spcBef>
            </a:pPr>
            <a:endParaRPr lang="en-US" sz="2100" spc="105">
              <a:solidFill>
                <a:srgbClr val="343434"/>
              </a:solidFill>
              <a:latin typeface="Telegraf"/>
              <a:ea typeface="Telegraf"/>
              <a:cs typeface="Telegraf"/>
              <a:sym typeface="Telegraf"/>
            </a:endParaRPr>
          </a:p>
        </p:txBody>
      </p:sp>
      <p:sp>
        <p:nvSpPr>
          <p:cNvPr id="10" name="TextBox 10"/>
          <p:cNvSpPr txBox="1"/>
          <p:nvPr/>
        </p:nvSpPr>
        <p:spPr>
          <a:xfrm>
            <a:off x="1531982" y="3079277"/>
            <a:ext cx="15505874" cy="1137285"/>
          </a:xfrm>
          <a:prstGeom prst="rect">
            <a:avLst/>
          </a:prstGeom>
        </p:spPr>
        <p:txBody>
          <a:bodyPr lIns="0" tIns="0" rIns="0" bIns="0" rtlCol="0" anchor="t">
            <a:spAutoFit/>
          </a:bodyPr>
          <a:lstStyle/>
          <a:p>
            <a:pPr algn="l">
              <a:lnSpc>
                <a:spcPts val="2940"/>
              </a:lnSpc>
            </a:pPr>
            <a:r>
              <a:rPr lang="en-US" sz="2100" spc="105">
                <a:solidFill>
                  <a:srgbClr val="343434"/>
                </a:solidFill>
                <a:latin typeface="Telegraf"/>
                <a:ea typeface="Telegraf"/>
                <a:cs typeface="Telegraf"/>
                <a:sym typeface="Telegraf"/>
              </a:rPr>
              <a:t>Original diagnosis codes contained 700+ categories, leading to dimensionality curse upon direct encoding.</a:t>
            </a:r>
          </a:p>
          <a:p>
            <a:pPr algn="l">
              <a:lnSpc>
                <a:spcPts val="2940"/>
              </a:lnSpc>
              <a:spcBef>
                <a:spcPct val="0"/>
              </a:spcBef>
            </a:pPr>
            <a:r>
              <a:rPr lang="en-US" sz="2100" spc="105">
                <a:solidFill>
                  <a:srgbClr val="343434"/>
                </a:solidFill>
                <a:latin typeface="Telegraf"/>
                <a:ea typeface="Telegraf"/>
                <a:cs typeface="Telegraf"/>
                <a:sym typeface="Telegraf"/>
              </a:rPr>
              <a:t>Codes were categorized into 9 Major Disease Categories (e.g., Circulatory, Respiratory, Diabetes) based on the ICD-9 standard.</a:t>
            </a:r>
          </a:p>
        </p:txBody>
      </p:sp>
      <p:sp>
        <p:nvSpPr>
          <p:cNvPr id="11" name="TextBox 11"/>
          <p:cNvSpPr txBox="1"/>
          <p:nvPr/>
        </p:nvSpPr>
        <p:spPr>
          <a:xfrm>
            <a:off x="1531982" y="2227175"/>
            <a:ext cx="11012824"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DIAGNOSIS CODE REDUCTION</a:t>
            </a:r>
          </a:p>
        </p:txBody>
      </p:sp>
      <p:sp>
        <p:nvSpPr>
          <p:cNvPr id="12" name="TextBox 12"/>
          <p:cNvSpPr txBox="1"/>
          <p:nvPr/>
        </p:nvSpPr>
        <p:spPr>
          <a:xfrm>
            <a:off x="1531982" y="6224509"/>
            <a:ext cx="11012824"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REFINING THE DISCHARGE TARGET</a:t>
            </a:r>
          </a:p>
        </p:txBody>
      </p:sp>
      <p:sp>
        <p:nvSpPr>
          <p:cNvPr id="13" name="TextBox 13"/>
          <p:cNvSpPr txBox="1"/>
          <p:nvPr/>
        </p:nvSpPr>
        <p:spPr>
          <a:xfrm>
            <a:off x="1531982" y="7145653"/>
            <a:ext cx="15505874" cy="2994660"/>
          </a:xfrm>
          <a:prstGeom prst="rect">
            <a:avLst/>
          </a:prstGeom>
        </p:spPr>
        <p:txBody>
          <a:bodyPr lIns="0" tIns="0" rIns="0" bIns="0" rtlCol="0" anchor="t">
            <a:spAutoFit/>
          </a:bodyPr>
          <a:lstStyle/>
          <a:p>
            <a:pPr algn="l">
              <a:lnSpc>
                <a:spcPts val="2940"/>
              </a:lnSpc>
            </a:pPr>
            <a:r>
              <a:rPr lang="en-US" sz="2100" spc="105">
                <a:solidFill>
                  <a:srgbClr val="343434"/>
                </a:solidFill>
                <a:latin typeface="Telegraf"/>
                <a:ea typeface="Telegraf"/>
                <a:cs typeface="Telegraf"/>
                <a:sym typeface="Telegraf"/>
              </a:rPr>
              <a:t>The original target(discharge_disposition_id) was regrouped into 3 core operational classes.</a:t>
            </a:r>
          </a:p>
          <a:p>
            <a:pPr marL="453390" lvl="1" indent="-226695" algn="l">
              <a:lnSpc>
                <a:spcPts val="2940"/>
              </a:lnSpc>
              <a:buAutoNum type="arabicPeriod"/>
            </a:pPr>
            <a:r>
              <a:rPr lang="en-US" sz="2100" spc="105">
                <a:solidFill>
                  <a:srgbClr val="343434"/>
                </a:solidFill>
                <a:latin typeface="Telegraf"/>
                <a:ea typeface="Telegraf"/>
                <a:cs typeface="Telegraf"/>
                <a:sym typeface="Telegraf"/>
              </a:rPr>
              <a:t>Discharged Home</a:t>
            </a:r>
          </a:p>
          <a:p>
            <a:pPr marL="453390" lvl="1" indent="-226695" algn="l">
              <a:lnSpc>
                <a:spcPts val="2940"/>
              </a:lnSpc>
              <a:buAutoNum type="arabicPeriod"/>
            </a:pPr>
            <a:r>
              <a:rPr lang="en-US" sz="2100" spc="105">
                <a:solidFill>
                  <a:srgbClr val="343434"/>
                </a:solidFill>
                <a:latin typeface="Telegraf"/>
                <a:ea typeface="Telegraf"/>
                <a:cs typeface="Telegraf"/>
                <a:sym typeface="Telegraf"/>
              </a:rPr>
              <a:t>Transferred to Another Hospital</a:t>
            </a:r>
          </a:p>
          <a:p>
            <a:pPr marL="453390" lvl="1" indent="-226695" algn="l">
              <a:lnSpc>
                <a:spcPts val="2940"/>
              </a:lnSpc>
              <a:buAutoNum type="arabicPeriod"/>
            </a:pPr>
            <a:r>
              <a:rPr lang="en-US" sz="2100" spc="105">
                <a:solidFill>
                  <a:srgbClr val="343434"/>
                </a:solidFill>
                <a:latin typeface="Telegraf"/>
                <a:ea typeface="Telegraf"/>
                <a:cs typeface="Telegraf"/>
                <a:sym typeface="Telegraf"/>
              </a:rPr>
              <a:t>Transferred to Facility-Based Care</a:t>
            </a:r>
          </a:p>
          <a:p>
            <a:pPr algn="l">
              <a:lnSpc>
                <a:spcPts val="2940"/>
              </a:lnSpc>
            </a:pPr>
            <a:r>
              <a:rPr lang="en-US" sz="2100" spc="105">
                <a:solidFill>
                  <a:srgbClr val="343434"/>
                </a:solidFill>
                <a:latin typeface="Telegraf"/>
                <a:ea typeface="Telegraf"/>
                <a:cs typeface="Telegraf"/>
                <a:sym typeface="Telegraf"/>
              </a:rPr>
              <a:t>Removed death and irrelevant categories to focus the variable on Discharge Logistics.</a:t>
            </a:r>
          </a:p>
          <a:p>
            <a:pPr algn="l">
              <a:lnSpc>
                <a:spcPts val="2940"/>
              </a:lnSpc>
            </a:pPr>
            <a:endParaRPr lang="en-US" sz="2100" spc="105">
              <a:solidFill>
                <a:srgbClr val="343434"/>
              </a:solidFill>
              <a:latin typeface="Telegraf"/>
              <a:ea typeface="Telegraf"/>
              <a:cs typeface="Telegraf"/>
              <a:sym typeface="Telegraf"/>
            </a:endParaRPr>
          </a:p>
          <a:p>
            <a:pPr algn="l">
              <a:lnSpc>
                <a:spcPts val="2940"/>
              </a:lnSpc>
            </a:pPr>
            <a:endParaRPr lang="en-US" sz="2100" spc="105">
              <a:solidFill>
                <a:srgbClr val="343434"/>
              </a:solidFill>
              <a:latin typeface="Telegraf"/>
              <a:ea typeface="Telegraf"/>
              <a:cs typeface="Telegraf"/>
              <a:sym typeface="Telegraf"/>
            </a:endParaRPr>
          </a:p>
          <a:p>
            <a:pPr algn="l">
              <a:lnSpc>
                <a:spcPts val="2940"/>
              </a:lnSpc>
              <a:spcBef>
                <a:spcPct val="0"/>
              </a:spcBef>
            </a:pPr>
            <a:endParaRPr lang="en-US" sz="2100" spc="105">
              <a:solidFill>
                <a:srgbClr val="343434"/>
              </a:solidFill>
              <a:latin typeface="Telegraf"/>
              <a:ea typeface="Telegraf"/>
              <a:cs typeface="Telegraf"/>
              <a:sym typeface="Telegraf"/>
            </a:endParaRPr>
          </a:p>
        </p:txBody>
      </p:sp>
      <p:sp>
        <p:nvSpPr>
          <p:cNvPr id="14" name="TextBox 14"/>
          <p:cNvSpPr txBox="1"/>
          <p:nvPr/>
        </p:nvSpPr>
        <p:spPr>
          <a:xfrm>
            <a:off x="1531982" y="9182100"/>
            <a:ext cx="15211332" cy="434340"/>
          </a:xfrm>
          <a:prstGeom prst="rect">
            <a:avLst/>
          </a:prstGeom>
        </p:spPr>
        <p:txBody>
          <a:bodyPr lIns="0" tIns="0" rIns="0" bIns="0" rtlCol="0" anchor="t">
            <a:spAutoFit/>
          </a:bodyPr>
          <a:lstStyle/>
          <a:p>
            <a:pPr algn="l">
              <a:lnSpc>
                <a:spcPts val="3359"/>
              </a:lnSpc>
              <a:spcBef>
                <a:spcPct val="0"/>
              </a:spcBef>
            </a:pPr>
            <a:r>
              <a:rPr lang="en-US" sz="2400" spc="57">
                <a:solidFill>
                  <a:srgbClr val="343434"/>
                </a:solidFill>
                <a:latin typeface="Telegraf"/>
                <a:ea typeface="Telegraf"/>
                <a:cs typeface="Telegraf"/>
                <a:sym typeface="Telegraf"/>
              </a:rPr>
              <a:t>FINAL RECORD COUNT FOR MODELING : </a:t>
            </a:r>
            <a:r>
              <a:rPr lang="en-US" sz="2400" b="1" spc="57">
                <a:solidFill>
                  <a:srgbClr val="1800AD"/>
                </a:solidFill>
                <a:latin typeface="Telegraf Bold"/>
                <a:ea typeface="Telegraf Bold"/>
                <a:cs typeface="Telegraf Bold"/>
                <a:sym typeface="Telegraf Bold"/>
              </a:rPr>
              <a:t>89819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467361" y="-2757747"/>
            <a:ext cx="12701350" cy="5382197"/>
          </a:xfrm>
          <a:custGeom>
            <a:avLst/>
            <a:gdLst/>
            <a:ahLst/>
            <a:cxnLst/>
            <a:rect l="l" t="t" r="r" b="b"/>
            <a:pathLst>
              <a:path w="12701350" h="5382197">
                <a:moveTo>
                  <a:pt x="0" y="0"/>
                </a:moveTo>
                <a:lnTo>
                  <a:pt x="12701349" y="0"/>
                </a:lnTo>
                <a:lnTo>
                  <a:pt x="12701349"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a:off x="10986204" y="6250419"/>
            <a:ext cx="11514218" cy="8506128"/>
          </a:xfrm>
          <a:custGeom>
            <a:avLst/>
            <a:gdLst/>
            <a:ahLst/>
            <a:cxnLst/>
            <a:rect l="l" t="t" r="r" b="b"/>
            <a:pathLst>
              <a:path w="11514218" h="8506128">
                <a:moveTo>
                  <a:pt x="0" y="0"/>
                </a:moveTo>
                <a:lnTo>
                  <a:pt x="11514218" y="0"/>
                </a:lnTo>
                <a:lnTo>
                  <a:pt x="11514218" y="8506128"/>
                </a:lnTo>
                <a:lnTo>
                  <a:pt x="0" y="8506128"/>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408865" y="-392510"/>
            <a:ext cx="1437565" cy="11072020"/>
            <a:chOff x="0" y="0"/>
            <a:chExt cx="378618" cy="2916088"/>
          </a:xfrm>
        </p:grpSpPr>
        <p:sp>
          <p:nvSpPr>
            <p:cNvPr id="5" name="Freeform 5"/>
            <p:cNvSpPr/>
            <p:nvPr/>
          </p:nvSpPr>
          <p:spPr>
            <a:xfrm>
              <a:off x="0" y="0"/>
              <a:ext cx="378618" cy="2916088"/>
            </a:xfrm>
            <a:custGeom>
              <a:avLst/>
              <a:gdLst/>
              <a:ahLst/>
              <a:cxnLst/>
              <a:rect l="l" t="t" r="r" b="b"/>
              <a:pathLst>
                <a:path w="378618" h="2916088">
                  <a:moveTo>
                    <a:pt x="0" y="0"/>
                  </a:moveTo>
                  <a:lnTo>
                    <a:pt x="378618" y="0"/>
                  </a:lnTo>
                  <a:lnTo>
                    <a:pt x="378618"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378618" cy="2973238"/>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531982" y="1104900"/>
            <a:ext cx="15505874" cy="996206"/>
          </a:xfrm>
          <a:prstGeom prst="rect">
            <a:avLst/>
          </a:prstGeom>
        </p:spPr>
        <p:txBody>
          <a:bodyPr lIns="0" tIns="0" rIns="0" bIns="0" rtlCol="0" anchor="t">
            <a:spAutoFit/>
          </a:bodyPr>
          <a:lstStyle/>
          <a:p>
            <a:pPr algn="l">
              <a:lnSpc>
                <a:spcPts val="6828"/>
              </a:lnSpc>
            </a:pPr>
            <a:r>
              <a:rPr lang="en-US" sz="7039" b="1">
                <a:solidFill>
                  <a:srgbClr val="343434"/>
                </a:solidFill>
                <a:latin typeface="Telegraf Bold"/>
                <a:ea typeface="Telegraf Bold"/>
                <a:cs typeface="Telegraf Bold"/>
                <a:sym typeface="Telegraf Bold"/>
              </a:rPr>
              <a:t>FEATURE ENCODING</a:t>
            </a:r>
          </a:p>
        </p:txBody>
      </p:sp>
      <p:sp>
        <p:nvSpPr>
          <p:cNvPr id="8" name="TextBox 8"/>
          <p:cNvSpPr txBox="1"/>
          <p:nvPr/>
        </p:nvSpPr>
        <p:spPr>
          <a:xfrm>
            <a:off x="1531982" y="3625536"/>
            <a:ext cx="15988755" cy="1510030"/>
          </a:xfrm>
          <a:prstGeom prst="rect">
            <a:avLst/>
          </a:prstGeom>
        </p:spPr>
        <p:txBody>
          <a:bodyPr lIns="0" tIns="0" rIns="0" bIns="0" rtlCol="0" anchor="t">
            <a:spAutoFit/>
          </a:bodyPr>
          <a:lstStyle/>
          <a:p>
            <a:pPr algn="l">
              <a:lnSpc>
                <a:spcPts val="3919"/>
              </a:lnSpc>
            </a:pPr>
            <a:r>
              <a:rPr lang="en-US" sz="2799">
                <a:solidFill>
                  <a:srgbClr val="000000"/>
                </a:solidFill>
                <a:latin typeface="Telegraf"/>
                <a:ea typeface="Telegraf"/>
                <a:cs typeface="Telegraf"/>
                <a:sym typeface="Telegraf"/>
              </a:rPr>
              <a:t>Feature: Age</a:t>
            </a:r>
          </a:p>
          <a:p>
            <a:pPr algn="l">
              <a:lnSpc>
                <a:spcPts val="3919"/>
              </a:lnSpc>
            </a:pPr>
            <a:r>
              <a:rPr lang="en-US" sz="2799">
                <a:solidFill>
                  <a:srgbClr val="000000"/>
                </a:solidFill>
                <a:latin typeface="Telegraf"/>
                <a:ea typeface="Telegraf"/>
                <a:cs typeface="Telegraf"/>
                <a:sym typeface="Telegraf"/>
              </a:rPr>
              <a:t>Method: </a:t>
            </a:r>
            <a:r>
              <a:rPr lang="en-US" sz="2799">
                <a:solidFill>
                  <a:srgbClr val="343434"/>
                </a:solidFill>
                <a:latin typeface="Telegraf"/>
                <a:ea typeface="Telegraf"/>
                <a:cs typeface="Telegraf"/>
                <a:sym typeface="Telegraf"/>
              </a:rPr>
              <a:t>Mapped 10-year age intervals to an integer sequence from 0 to 9, preserving the inherent order</a:t>
            </a:r>
          </a:p>
        </p:txBody>
      </p:sp>
      <p:sp>
        <p:nvSpPr>
          <p:cNvPr id="9" name="TextBox 9"/>
          <p:cNvSpPr txBox="1"/>
          <p:nvPr/>
        </p:nvSpPr>
        <p:spPr>
          <a:xfrm>
            <a:off x="1531982" y="2264438"/>
            <a:ext cx="16226823"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HYBRID FEATURE ENCODING STRATEGY</a:t>
            </a:r>
          </a:p>
        </p:txBody>
      </p:sp>
      <p:sp>
        <p:nvSpPr>
          <p:cNvPr id="10" name="TextBox 10"/>
          <p:cNvSpPr txBox="1"/>
          <p:nvPr/>
        </p:nvSpPr>
        <p:spPr>
          <a:xfrm>
            <a:off x="1531982" y="3068006"/>
            <a:ext cx="16226823" cy="519430"/>
          </a:xfrm>
          <a:prstGeom prst="rect">
            <a:avLst/>
          </a:prstGeom>
        </p:spPr>
        <p:txBody>
          <a:bodyPr lIns="0" tIns="0" rIns="0" bIns="0" rtlCol="0" anchor="t">
            <a:spAutoFit/>
          </a:bodyPr>
          <a:lstStyle/>
          <a:p>
            <a:pPr algn="l">
              <a:lnSpc>
                <a:spcPts val="3919"/>
              </a:lnSpc>
              <a:spcBef>
                <a:spcPct val="0"/>
              </a:spcBef>
            </a:pPr>
            <a:r>
              <a:rPr lang="en-US" sz="2799" b="1" spc="67">
                <a:solidFill>
                  <a:srgbClr val="343434"/>
                </a:solidFill>
                <a:latin typeface="Telegraf Bold"/>
                <a:ea typeface="Telegraf Bold"/>
                <a:cs typeface="Telegraf Bold"/>
                <a:sym typeface="Telegraf Bold"/>
              </a:rPr>
              <a:t>ORDINAL ENCODING</a:t>
            </a:r>
          </a:p>
        </p:txBody>
      </p:sp>
      <p:sp>
        <p:nvSpPr>
          <p:cNvPr id="11" name="TextBox 11"/>
          <p:cNvSpPr txBox="1"/>
          <p:nvPr/>
        </p:nvSpPr>
        <p:spPr>
          <a:xfrm>
            <a:off x="1531982" y="5335591"/>
            <a:ext cx="16226823" cy="519430"/>
          </a:xfrm>
          <a:prstGeom prst="rect">
            <a:avLst/>
          </a:prstGeom>
        </p:spPr>
        <p:txBody>
          <a:bodyPr lIns="0" tIns="0" rIns="0" bIns="0" rtlCol="0" anchor="t">
            <a:spAutoFit/>
          </a:bodyPr>
          <a:lstStyle/>
          <a:p>
            <a:pPr algn="l">
              <a:lnSpc>
                <a:spcPts val="3919"/>
              </a:lnSpc>
              <a:spcBef>
                <a:spcPct val="0"/>
              </a:spcBef>
            </a:pPr>
            <a:r>
              <a:rPr lang="en-US" sz="2799" b="1" spc="67">
                <a:solidFill>
                  <a:srgbClr val="343434"/>
                </a:solidFill>
                <a:latin typeface="Telegraf Bold"/>
                <a:ea typeface="Telegraf Bold"/>
                <a:cs typeface="Telegraf Bold"/>
                <a:sym typeface="Telegraf Bold"/>
              </a:rPr>
              <a:t>BINARY ENCODING</a:t>
            </a:r>
          </a:p>
        </p:txBody>
      </p:sp>
      <p:sp>
        <p:nvSpPr>
          <p:cNvPr id="12" name="TextBox 12"/>
          <p:cNvSpPr txBox="1"/>
          <p:nvPr/>
        </p:nvSpPr>
        <p:spPr>
          <a:xfrm>
            <a:off x="1531982" y="5893121"/>
            <a:ext cx="15988755" cy="1510030"/>
          </a:xfrm>
          <a:prstGeom prst="rect">
            <a:avLst/>
          </a:prstGeom>
        </p:spPr>
        <p:txBody>
          <a:bodyPr lIns="0" tIns="0" rIns="0" bIns="0" rtlCol="0" anchor="t">
            <a:spAutoFit/>
          </a:bodyPr>
          <a:lstStyle/>
          <a:p>
            <a:pPr algn="l">
              <a:lnSpc>
                <a:spcPts val="3919"/>
              </a:lnSpc>
            </a:pPr>
            <a:r>
              <a:rPr lang="en-US" sz="2799">
                <a:solidFill>
                  <a:srgbClr val="000000"/>
                </a:solidFill>
                <a:latin typeface="Telegraf"/>
                <a:ea typeface="Telegraf"/>
                <a:cs typeface="Telegraf"/>
                <a:sym typeface="Telegraf"/>
              </a:rPr>
              <a:t>Feature: change, diabetesMed</a:t>
            </a:r>
          </a:p>
          <a:p>
            <a:pPr algn="l">
              <a:lnSpc>
                <a:spcPts val="3919"/>
              </a:lnSpc>
            </a:pPr>
            <a:r>
              <a:rPr lang="en-US" sz="2799">
                <a:solidFill>
                  <a:srgbClr val="000000"/>
                </a:solidFill>
                <a:latin typeface="Telegraf"/>
                <a:ea typeface="Telegraf"/>
                <a:cs typeface="Telegraf"/>
                <a:sym typeface="Telegraf"/>
              </a:rPr>
              <a:t>Method: Direct mapping for features into 1 and 0 which have only two possible categories</a:t>
            </a:r>
          </a:p>
          <a:p>
            <a:pPr algn="l">
              <a:lnSpc>
                <a:spcPts val="3919"/>
              </a:lnSpc>
            </a:pPr>
            <a:endParaRPr lang="en-US" sz="2799">
              <a:solidFill>
                <a:srgbClr val="000000"/>
              </a:solidFill>
              <a:latin typeface="Telegraf"/>
              <a:ea typeface="Telegraf"/>
              <a:cs typeface="Telegraf"/>
              <a:sym typeface="Telegraf"/>
            </a:endParaRPr>
          </a:p>
        </p:txBody>
      </p:sp>
      <p:sp>
        <p:nvSpPr>
          <p:cNvPr id="13" name="TextBox 13"/>
          <p:cNvSpPr txBox="1"/>
          <p:nvPr/>
        </p:nvSpPr>
        <p:spPr>
          <a:xfrm>
            <a:off x="1531982" y="7307901"/>
            <a:ext cx="16226823" cy="519430"/>
          </a:xfrm>
          <a:prstGeom prst="rect">
            <a:avLst/>
          </a:prstGeom>
        </p:spPr>
        <p:txBody>
          <a:bodyPr lIns="0" tIns="0" rIns="0" bIns="0" rtlCol="0" anchor="t">
            <a:spAutoFit/>
          </a:bodyPr>
          <a:lstStyle/>
          <a:p>
            <a:pPr algn="l">
              <a:lnSpc>
                <a:spcPts val="3919"/>
              </a:lnSpc>
              <a:spcBef>
                <a:spcPct val="0"/>
              </a:spcBef>
            </a:pPr>
            <a:r>
              <a:rPr lang="en-US" sz="2799" b="1" spc="67">
                <a:solidFill>
                  <a:srgbClr val="343434"/>
                </a:solidFill>
                <a:latin typeface="Telegraf Bold"/>
                <a:ea typeface="Telegraf Bold"/>
                <a:cs typeface="Telegraf Bold"/>
                <a:sym typeface="Telegraf Bold"/>
              </a:rPr>
              <a:t>ONE-HOT ENCODING</a:t>
            </a:r>
          </a:p>
        </p:txBody>
      </p:sp>
      <p:sp>
        <p:nvSpPr>
          <p:cNvPr id="14" name="TextBox 14"/>
          <p:cNvSpPr txBox="1"/>
          <p:nvPr/>
        </p:nvSpPr>
        <p:spPr>
          <a:xfrm>
            <a:off x="1531982" y="7865431"/>
            <a:ext cx="15988755" cy="2500630"/>
          </a:xfrm>
          <a:prstGeom prst="rect">
            <a:avLst/>
          </a:prstGeom>
        </p:spPr>
        <p:txBody>
          <a:bodyPr lIns="0" tIns="0" rIns="0" bIns="0" rtlCol="0" anchor="t">
            <a:spAutoFit/>
          </a:bodyPr>
          <a:lstStyle/>
          <a:p>
            <a:pPr algn="l">
              <a:lnSpc>
                <a:spcPts val="3919"/>
              </a:lnSpc>
            </a:pPr>
            <a:r>
              <a:rPr lang="en-US" sz="2799">
                <a:solidFill>
                  <a:srgbClr val="000000"/>
                </a:solidFill>
                <a:latin typeface="Telegraf"/>
                <a:ea typeface="Telegraf"/>
                <a:cs typeface="Telegraf"/>
                <a:sym typeface="Telegraf"/>
              </a:rPr>
              <a:t>Feature: remaining nominal features like race, medical_specialty</a:t>
            </a:r>
          </a:p>
          <a:p>
            <a:pPr algn="l">
              <a:lnSpc>
                <a:spcPts val="3919"/>
              </a:lnSpc>
            </a:pPr>
            <a:r>
              <a:rPr lang="en-US" sz="2799">
                <a:solidFill>
                  <a:srgbClr val="000000"/>
                </a:solidFill>
                <a:latin typeface="Telegraf"/>
                <a:ea typeface="Telegraf"/>
                <a:cs typeface="Telegraf"/>
                <a:sym typeface="Telegraf"/>
              </a:rPr>
              <a:t>Method: Creating dummy variables ensures that each category will be recognized as an independent element without any hierarchical order.</a:t>
            </a:r>
          </a:p>
          <a:p>
            <a:pPr algn="l">
              <a:lnSpc>
                <a:spcPts val="3919"/>
              </a:lnSpc>
            </a:pPr>
            <a:endParaRPr lang="en-US" sz="2799">
              <a:solidFill>
                <a:srgbClr val="000000"/>
              </a:solidFill>
              <a:latin typeface="Telegraf"/>
              <a:ea typeface="Telegraf"/>
              <a:cs typeface="Telegraf"/>
              <a:sym typeface="Telegraf"/>
            </a:endParaRPr>
          </a:p>
          <a:p>
            <a:pPr algn="l">
              <a:lnSpc>
                <a:spcPts val="3919"/>
              </a:lnSpc>
            </a:pPr>
            <a:endParaRPr lang="en-US" sz="2799">
              <a:solidFill>
                <a:srgbClr val="000000"/>
              </a:solidFill>
              <a:latin typeface="Telegraf"/>
              <a:ea typeface="Telegraf"/>
              <a:cs typeface="Telegraf"/>
              <a:sym typeface="Telegraf"/>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794522" y="-4347924"/>
            <a:ext cx="12701350" cy="5382197"/>
          </a:xfrm>
          <a:custGeom>
            <a:avLst/>
            <a:gdLst/>
            <a:ahLst/>
            <a:cxnLst/>
            <a:rect l="l" t="t" r="r" b="b"/>
            <a:pathLst>
              <a:path w="12701350" h="5382197">
                <a:moveTo>
                  <a:pt x="0" y="0"/>
                </a:moveTo>
                <a:lnTo>
                  <a:pt x="12701350" y="0"/>
                </a:lnTo>
                <a:lnTo>
                  <a:pt x="12701350" y="5382197"/>
                </a:lnTo>
                <a:lnTo>
                  <a:pt x="0" y="5382197"/>
                </a:lnTo>
                <a:lnTo>
                  <a:pt x="0" y="0"/>
                </a:lnTo>
                <a:close/>
              </a:path>
            </a:pathLst>
          </a:custGeom>
          <a:blipFill>
            <a:blip r:embed="rId2"/>
            <a:stretch>
              <a:fillRect/>
            </a:stretch>
          </a:blipFill>
        </p:spPr>
        <p:txBody>
          <a:bodyPr/>
          <a:lstStyle/>
          <a:p>
            <a:endParaRPr lang="zh-SG" altLang="en-US"/>
          </a:p>
        </p:txBody>
      </p:sp>
      <p:grpSp>
        <p:nvGrpSpPr>
          <p:cNvPr id="3" name="Group 3"/>
          <p:cNvGrpSpPr/>
          <p:nvPr/>
        </p:nvGrpSpPr>
        <p:grpSpPr>
          <a:xfrm>
            <a:off x="-408865" y="-392510"/>
            <a:ext cx="1437565" cy="11072020"/>
            <a:chOff x="0" y="0"/>
            <a:chExt cx="378618" cy="2916088"/>
          </a:xfrm>
        </p:grpSpPr>
        <p:sp>
          <p:nvSpPr>
            <p:cNvPr id="4" name="Freeform 4"/>
            <p:cNvSpPr/>
            <p:nvPr/>
          </p:nvSpPr>
          <p:spPr>
            <a:xfrm>
              <a:off x="0" y="0"/>
              <a:ext cx="378618" cy="2916088"/>
            </a:xfrm>
            <a:custGeom>
              <a:avLst/>
              <a:gdLst/>
              <a:ahLst/>
              <a:cxnLst/>
              <a:rect l="l" t="t" r="r" b="b"/>
              <a:pathLst>
                <a:path w="378618" h="2916088">
                  <a:moveTo>
                    <a:pt x="0" y="0"/>
                  </a:moveTo>
                  <a:lnTo>
                    <a:pt x="378618" y="0"/>
                  </a:lnTo>
                  <a:lnTo>
                    <a:pt x="378618"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5" name="TextBox 5"/>
            <p:cNvSpPr txBox="1"/>
            <p:nvPr/>
          </p:nvSpPr>
          <p:spPr>
            <a:xfrm>
              <a:off x="0" y="-57150"/>
              <a:ext cx="378618" cy="2973238"/>
            </a:xfrm>
            <a:prstGeom prst="rect">
              <a:avLst/>
            </a:prstGeom>
          </p:spPr>
          <p:txBody>
            <a:bodyPr lIns="50800" tIns="50800" rIns="50800" bIns="50800" rtlCol="0" anchor="ctr"/>
            <a:lstStyle/>
            <a:p>
              <a:pPr algn="ctr">
                <a:lnSpc>
                  <a:spcPts val="3639"/>
                </a:lnSpc>
              </a:pPr>
              <a:endParaRPr/>
            </a:p>
          </p:txBody>
        </p:sp>
      </p:grpSp>
      <p:sp>
        <p:nvSpPr>
          <p:cNvPr id="6" name="TextBox 6"/>
          <p:cNvSpPr txBox="1"/>
          <p:nvPr/>
        </p:nvSpPr>
        <p:spPr>
          <a:xfrm>
            <a:off x="1391063" y="447675"/>
            <a:ext cx="15505874" cy="996206"/>
          </a:xfrm>
          <a:prstGeom prst="rect">
            <a:avLst/>
          </a:prstGeom>
        </p:spPr>
        <p:txBody>
          <a:bodyPr lIns="0" tIns="0" rIns="0" bIns="0" rtlCol="0" anchor="t">
            <a:spAutoFit/>
          </a:bodyPr>
          <a:lstStyle/>
          <a:p>
            <a:pPr algn="l">
              <a:lnSpc>
                <a:spcPts val="6828"/>
              </a:lnSpc>
            </a:pPr>
            <a:r>
              <a:rPr lang="en-US" sz="7039" b="1">
                <a:solidFill>
                  <a:srgbClr val="343434"/>
                </a:solidFill>
                <a:latin typeface="Telegraf Bold"/>
                <a:ea typeface="Telegraf Bold"/>
                <a:cs typeface="Telegraf Bold"/>
                <a:sym typeface="Telegraf Bold"/>
              </a:rPr>
              <a:t>EDA</a:t>
            </a:r>
          </a:p>
        </p:txBody>
      </p:sp>
      <p:sp>
        <p:nvSpPr>
          <p:cNvPr id="7" name="Freeform 7"/>
          <p:cNvSpPr/>
          <p:nvPr/>
        </p:nvSpPr>
        <p:spPr>
          <a:xfrm>
            <a:off x="10986204" y="6250419"/>
            <a:ext cx="11514218" cy="8506128"/>
          </a:xfrm>
          <a:custGeom>
            <a:avLst/>
            <a:gdLst/>
            <a:ahLst/>
            <a:cxnLst/>
            <a:rect l="l" t="t" r="r" b="b"/>
            <a:pathLst>
              <a:path w="11514218" h="8506128">
                <a:moveTo>
                  <a:pt x="0" y="0"/>
                </a:moveTo>
                <a:lnTo>
                  <a:pt x="11514218" y="0"/>
                </a:lnTo>
                <a:lnTo>
                  <a:pt x="11514218" y="8506128"/>
                </a:lnTo>
                <a:lnTo>
                  <a:pt x="0" y="8506128"/>
                </a:lnTo>
                <a:lnTo>
                  <a:pt x="0" y="0"/>
                </a:lnTo>
                <a:close/>
              </a:path>
            </a:pathLst>
          </a:custGeom>
          <a:blipFill>
            <a:blip r:embed="rId3"/>
            <a:stretch>
              <a:fillRect/>
            </a:stretch>
          </a:blipFill>
        </p:spPr>
        <p:txBody>
          <a:bodyPr/>
          <a:lstStyle/>
          <a:p>
            <a:endParaRPr lang="zh-SG" altLang="en-US"/>
          </a:p>
        </p:txBody>
      </p:sp>
      <p:grpSp>
        <p:nvGrpSpPr>
          <p:cNvPr id="8" name="Group 8"/>
          <p:cNvGrpSpPr/>
          <p:nvPr/>
        </p:nvGrpSpPr>
        <p:grpSpPr>
          <a:xfrm>
            <a:off x="1971706" y="1443881"/>
            <a:ext cx="14344587" cy="8587652"/>
            <a:chOff x="0" y="0"/>
            <a:chExt cx="19126116" cy="11450202"/>
          </a:xfrm>
        </p:grpSpPr>
        <p:sp>
          <p:nvSpPr>
            <p:cNvPr id="9" name="Freeform 9"/>
            <p:cNvSpPr/>
            <p:nvPr/>
          </p:nvSpPr>
          <p:spPr>
            <a:xfrm>
              <a:off x="0" y="0"/>
              <a:ext cx="6332594" cy="2928825"/>
            </a:xfrm>
            <a:custGeom>
              <a:avLst/>
              <a:gdLst/>
              <a:ahLst/>
              <a:cxnLst/>
              <a:rect l="l" t="t" r="r" b="b"/>
              <a:pathLst>
                <a:path w="6332594" h="2928825">
                  <a:moveTo>
                    <a:pt x="0" y="0"/>
                  </a:moveTo>
                  <a:lnTo>
                    <a:pt x="6332594" y="0"/>
                  </a:lnTo>
                  <a:lnTo>
                    <a:pt x="6332594" y="2928825"/>
                  </a:lnTo>
                  <a:lnTo>
                    <a:pt x="0" y="2928825"/>
                  </a:lnTo>
                  <a:lnTo>
                    <a:pt x="0" y="0"/>
                  </a:lnTo>
                  <a:close/>
                </a:path>
              </a:pathLst>
            </a:custGeom>
            <a:blipFill>
              <a:blip r:embed="rId4"/>
              <a:stretch>
                <a:fillRect/>
              </a:stretch>
            </a:blipFill>
          </p:spPr>
          <p:txBody>
            <a:bodyPr/>
            <a:lstStyle/>
            <a:p>
              <a:endParaRPr lang="zh-SG" altLang="en-US"/>
            </a:p>
          </p:txBody>
        </p:sp>
        <p:sp>
          <p:nvSpPr>
            <p:cNvPr id="10" name="Freeform 10"/>
            <p:cNvSpPr/>
            <p:nvPr/>
          </p:nvSpPr>
          <p:spPr>
            <a:xfrm>
              <a:off x="0" y="2984817"/>
              <a:ext cx="6332594" cy="2691352"/>
            </a:xfrm>
            <a:custGeom>
              <a:avLst/>
              <a:gdLst/>
              <a:ahLst/>
              <a:cxnLst/>
              <a:rect l="l" t="t" r="r" b="b"/>
              <a:pathLst>
                <a:path w="6332594" h="2691352">
                  <a:moveTo>
                    <a:pt x="0" y="0"/>
                  </a:moveTo>
                  <a:lnTo>
                    <a:pt x="6332594" y="0"/>
                  </a:lnTo>
                  <a:lnTo>
                    <a:pt x="6332594" y="2691352"/>
                  </a:lnTo>
                  <a:lnTo>
                    <a:pt x="0" y="2691352"/>
                  </a:lnTo>
                  <a:lnTo>
                    <a:pt x="0" y="0"/>
                  </a:lnTo>
                  <a:close/>
                </a:path>
              </a:pathLst>
            </a:custGeom>
            <a:blipFill>
              <a:blip r:embed="rId5"/>
              <a:stretch>
                <a:fillRect/>
              </a:stretch>
            </a:blipFill>
          </p:spPr>
          <p:txBody>
            <a:bodyPr/>
            <a:lstStyle/>
            <a:p>
              <a:endParaRPr lang="zh-SG" altLang="en-US"/>
            </a:p>
          </p:txBody>
        </p:sp>
        <p:sp>
          <p:nvSpPr>
            <p:cNvPr id="11" name="Freeform 11"/>
            <p:cNvSpPr/>
            <p:nvPr/>
          </p:nvSpPr>
          <p:spPr>
            <a:xfrm>
              <a:off x="0" y="5726969"/>
              <a:ext cx="6332594" cy="2794257"/>
            </a:xfrm>
            <a:custGeom>
              <a:avLst/>
              <a:gdLst/>
              <a:ahLst/>
              <a:cxnLst/>
              <a:rect l="l" t="t" r="r" b="b"/>
              <a:pathLst>
                <a:path w="6332594" h="2794257">
                  <a:moveTo>
                    <a:pt x="0" y="0"/>
                  </a:moveTo>
                  <a:lnTo>
                    <a:pt x="6332594" y="0"/>
                  </a:lnTo>
                  <a:lnTo>
                    <a:pt x="6332594" y="2794257"/>
                  </a:lnTo>
                  <a:lnTo>
                    <a:pt x="0" y="2794257"/>
                  </a:lnTo>
                  <a:lnTo>
                    <a:pt x="0" y="0"/>
                  </a:lnTo>
                  <a:close/>
                </a:path>
              </a:pathLst>
            </a:custGeom>
            <a:blipFill>
              <a:blip r:embed="rId6"/>
              <a:stretch>
                <a:fillRect/>
              </a:stretch>
            </a:blipFill>
          </p:spPr>
          <p:txBody>
            <a:bodyPr/>
            <a:lstStyle/>
            <a:p>
              <a:endParaRPr lang="zh-SG" altLang="en-US"/>
            </a:p>
          </p:txBody>
        </p:sp>
        <p:sp>
          <p:nvSpPr>
            <p:cNvPr id="12" name="Freeform 12"/>
            <p:cNvSpPr/>
            <p:nvPr/>
          </p:nvSpPr>
          <p:spPr>
            <a:xfrm>
              <a:off x="0" y="8521226"/>
              <a:ext cx="6332594" cy="2928976"/>
            </a:xfrm>
            <a:custGeom>
              <a:avLst/>
              <a:gdLst/>
              <a:ahLst/>
              <a:cxnLst/>
              <a:rect l="l" t="t" r="r" b="b"/>
              <a:pathLst>
                <a:path w="6332594" h="2928976">
                  <a:moveTo>
                    <a:pt x="0" y="0"/>
                  </a:moveTo>
                  <a:lnTo>
                    <a:pt x="6332594" y="0"/>
                  </a:lnTo>
                  <a:lnTo>
                    <a:pt x="6332594" y="2928976"/>
                  </a:lnTo>
                  <a:lnTo>
                    <a:pt x="0" y="2928976"/>
                  </a:lnTo>
                  <a:lnTo>
                    <a:pt x="0" y="0"/>
                  </a:lnTo>
                  <a:close/>
                </a:path>
              </a:pathLst>
            </a:custGeom>
            <a:blipFill>
              <a:blip r:embed="rId7"/>
              <a:stretch>
                <a:fillRect t="-1241" b="-3850"/>
              </a:stretch>
            </a:blipFill>
          </p:spPr>
          <p:txBody>
            <a:bodyPr/>
            <a:lstStyle/>
            <a:p>
              <a:endParaRPr lang="zh-SG" altLang="en-US"/>
            </a:p>
          </p:txBody>
        </p:sp>
        <p:sp>
          <p:nvSpPr>
            <p:cNvPr id="13" name="Freeform 13"/>
            <p:cNvSpPr/>
            <p:nvPr/>
          </p:nvSpPr>
          <p:spPr>
            <a:xfrm>
              <a:off x="6332594" y="0"/>
              <a:ext cx="12793522" cy="8779555"/>
            </a:xfrm>
            <a:custGeom>
              <a:avLst/>
              <a:gdLst/>
              <a:ahLst/>
              <a:cxnLst/>
              <a:rect l="l" t="t" r="r" b="b"/>
              <a:pathLst>
                <a:path w="12793522" h="8779555">
                  <a:moveTo>
                    <a:pt x="0" y="0"/>
                  </a:moveTo>
                  <a:lnTo>
                    <a:pt x="12793522" y="0"/>
                  </a:lnTo>
                  <a:lnTo>
                    <a:pt x="12793522" y="8779555"/>
                  </a:lnTo>
                  <a:lnTo>
                    <a:pt x="0" y="8779555"/>
                  </a:lnTo>
                  <a:lnTo>
                    <a:pt x="0" y="0"/>
                  </a:lnTo>
                  <a:close/>
                </a:path>
              </a:pathLst>
            </a:custGeom>
            <a:blipFill>
              <a:blip r:embed="rId8"/>
              <a:stretch>
                <a:fillRect/>
              </a:stretch>
            </a:blipFill>
          </p:spPr>
          <p:txBody>
            <a:bodyPr/>
            <a:lstStyle/>
            <a:p>
              <a:endParaRPr lang="zh-SG" altLang="en-US"/>
            </a:p>
          </p:txBody>
        </p:sp>
        <p:sp>
          <p:nvSpPr>
            <p:cNvPr id="14" name="Freeform 14"/>
            <p:cNvSpPr/>
            <p:nvPr/>
          </p:nvSpPr>
          <p:spPr>
            <a:xfrm>
              <a:off x="6332594" y="8779555"/>
              <a:ext cx="12793522" cy="2670648"/>
            </a:xfrm>
            <a:custGeom>
              <a:avLst/>
              <a:gdLst/>
              <a:ahLst/>
              <a:cxnLst/>
              <a:rect l="l" t="t" r="r" b="b"/>
              <a:pathLst>
                <a:path w="12793522" h="2670648">
                  <a:moveTo>
                    <a:pt x="0" y="0"/>
                  </a:moveTo>
                  <a:lnTo>
                    <a:pt x="12793522" y="0"/>
                  </a:lnTo>
                  <a:lnTo>
                    <a:pt x="12793522" y="2670647"/>
                  </a:lnTo>
                  <a:lnTo>
                    <a:pt x="0" y="2670647"/>
                  </a:lnTo>
                  <a:lnTo>
                    <a:pt x="0" y="0"/>
                  </a:lnTo>
                  <a:close/>
                </a:path>
              </a:pathLst>
            </a:custGeom>
            <a:blipFill>
              <a:blip r:embed="rId9"/>
              <a:stretch>
                <a:fillRect/>
              </a:stretch>
            </a:blipFill>
          </p:spPr>
          <p:txBody>
            <a:bodyPr/>
            <a:lstStyle/>
            <a:p>
              <a:endParaRPr lang="zh-SG" alt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794522" y="-4347924"/>
            <a:ext cx="12701350" cy="5382197"/>
          </a:xfrm>
          <a:custGeom>
            <a:avLst/>
            <a:gdLst/>
            <a:ahLst/>
            <a:cxnLst/>
            <a:rect l="l" t="t" r="r" b="b"/>
            <a:pathLst>
              <a:path w="12701350" h="5382197">
                <a:moveTo>
                  <a:pt x="0" y="0"/>
                </a:moveTo>
                <a:lnTo>
                  <a:pt x="12701350" y="0"/>
                </a:lnTo>
                <a:lnTo>
                  <a:pt x="12701350"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a:off x="10986204" y="6250419"/>
            <a:ext cx="11514218" cy="8506128"/>
          </a:xfrm>
          <a:custGeom>
            <a:avLst/>
            <a:gdLst/>
            <a:ahLst/>
            <a:cxnLst/>
            <a:rect l="l" t="t" r="r" b="b"/>
            <a:pathLst>
              <a:path w="11514218" h="8506128">
                <a:moveTo>
                  <a:pt x="0" y="0"/>
                </a:moveTo>
                <a:lnTo>
                  <a:pt x="11514218" y="0"/>
                </a:lnTo>
                <a:lnTo>
                  <a:pt x="11514218" y="8506128"/>
                </a:lnTo>
                <a:lnTo>
                  <a:pt x="0" y="8506128"/>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408865" y="-392510"/>
            <a:ext cx="1437565" cy="11072020"/>
            <a:chOff x="0" y="0"/>
            <a:chExt cx="378618" cy="2916088"/>
          </a:xfrm>
        </p:grpSpPr>
        <p:sp>
          <p:nvSpPr>
            <p:cNvPr id="5" name="Freeform 5"/>
            <p:cNvSpPr/>
            <p:nvPr/>
          </p:nvSpPr>
          <p:spPr>
            <a:xfrm>
              <a:off x="0" y="0"/>
              <a:ext cx="378618" cy="2916088"/>
            </a:xfrm>
            <a:custGeom>
              <a:avLst/>
              <a:gdLst/>
              <a:ahLst/>
              <a:cxnLst/>
              <a:rect l="l" t="t" r="r" b="b"/>
              <a:pathLst>
                <a:path w="378618" h="2916088">
                  <a:moveTo>
                    <a:pt x="0" y="0"/>
                  </a:moveTo>
                  <a:lnTo>
                    <a:pt x="378618" y="0"/>
                  </a:lnTo>
                  <a:lnTo>
                    <a:pt x="378618"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378618" cy="2973238"/>
            </a:xfrm>
            <a:prstGeom prst="rect">
              <a:avLst/>
            </a:prstGeom>
          </p:spPr>
          <p:txBody>
            <a:bodyPr lIns="50800" tIns="50800" rIns="50800" bIns="50800" rtlCol="0" anchor="ctr"/>
            <a:lstStyle/>
            <a:p>
              <a:pPr algn="ctr">
                <a:lnSpc>
                  <a:spcPts val="3639"/>
                </a:lnSpc>
              </a:pPr>
              <a:endParaRPr/>
            </a:p>
          </p:txBody>
        </p:sp>
      </p:grpSp>
      <p:sp>
        <p:nvSpPr>
          <p:cNvPr id="7" name="Freeform 7"/>
          <p:cNvSpPr/>
          <p:nvPr/>
        </p:nvSpPr>
        <p:spPr>
          <a:xfrm>
            <a:off x="1391063" y="1443881"/>
            <a:ext cx="8627349" cy="1617628"/>
          </a:xfrm>
          <a:custGeom>
            <a:avLst/>
            <a:gdLst/>
            <a:ahLst/>
            <a:cxnLst/>
            <a:rect l="l" t="t" r="r" b="b"/>
            <a:pathLst>
              <a:path w="8627349" h="1617628">
                <a:moveTo>
                  <a:pt x="0" y="0"/>
                </a:moveTo>
                <a:lnTo>
                  <a:pt x="8627349" y="0"/>
                </a:lnTo>
                <a:lnTo>
                  <a:pt x="8627349" y="1617628"/>
                </a:lnTo>
                <a:lnTo>
                  <a:pt x="0" y="1617628"/>
                </a:lnTo>
                <a:lnTo>
                  <a:pt x="0" y="0"/>
                </a:lnTo>
                <a:close/>
              </a:path>
            </a:pathLst>
          </a:custGeom>
          <a:blipFill>
            <a:blip r:embed="rId4"/>
            <a:stretch>
              <a:fillRect/>
            </a:stretch>
          </a:blipFill>
        </p:spPr>
        <p:txBody>
          <a:bodyPr/>
          <a:lstStyle/>
          <a:p>
            <a:endParaRPr lang="zh-SG" altLang="en-US"/>
          </a:p>
        </p:txBody>
      </p:sp>
      <p:sp>
        <p:nvSpPr>
          <p:cNvPr id="8" name="Freeform 8"/>
          <p:cNvSpPr/>
          <p:nvPr/>
        </p:nvSpPr>
        <p:spPr>
          <a:xfrm>
            <a:off x="1391063" y="3061509"/>
            <a:ext cx="8627349" cy="1908801"/>
          </a:xfrm>
          <a:custGeom>
            <a:avLst/>
            <a:gdLst/>
            <a:ahLst/>
            <a:cxnLst/>
            <a:rect l="l" t="t" r="r" b="b"/>
            <a:pathLst>
              <a:path w="8627349" h="1908801">
                <a:moveTo>
                  <a:pt x="0" y="0"/>
                </a:moveTo>
                <a:lnTo>
                  <a:pt x="8627349" y="0"/>
                </a:lnTo>
                <a:lnTo>
                  <a:pt x="8627349" y="1908802"/>
                </a:lnTo>
                <a:lnTo>
                  <a:pt x="0" y="1908802"/>
                </a:lnTo>
                <a:lnTo>
                  <a:pt x="0" y="0"/>
                </a:lnTo>
                <a:close/>
              </a:path>
            </a:pathLst>
          </a:custGeom>
          <a:blipFill>
            <a:blip r:embed="rId5"/>
            <a:stretch>
              <a:fillRect/>
            </a:stretch>
          </a:blipFill>
        </p:spPr>
        <p:txBody>
          <a:bodyPr/>
          <a:lstStyle/>
          <a:p>
            <a:endParaRPr lang="zh-SG" altLang="en-US"/>
          </a:p>
        </p:txBody>
      </p:sp>
      <p:sp>
        <p:nvSpPr>
          <p:cNvPr id="9" name="Freeform 9"/>
          <p:cNvSpPr/>
          <p:nvPr/>
        </p:nvSpPr>
        <p:spPr>
          <a:xfrm>
            <a:off x="1391063" y="4970311"/>
            <a:ext cx="8627349" cy="2178406"/>
          </a:xfrm>
          <a:custGeom>
            <a:avLst/>
            <a:gdLst/>
            <a:ahLst/>
            <a:cxnLst/>
            <a:rect l="l" t="t" r="r" b="b"/>
            <a:pathLst>
              <a:path w="8627349" h="2178406">
                <a:moveTo>
                  <a:pt x="0" y="0"/>
                </a:moveTo>
                <a:lnTo>
                  <a:pt x="8627349" y="0"/>
                </a:lnTo>
                <a:lnTo>
                  <a:pt x="8627349" y="2178405"/>
                </a:lnTo>
                <a:lnTo>
                  <a:pt x="0" y="2178405"/>
                </a:lnTo>
                <a:lnTo>
                  <a:pt x="0" y="0"/>
                </a:lnTo>
                <a:close/>
              </a:path>
            </a:pathLst>
          </a:custGeom>
          <a:blipFill>
            <a:blip r:embed="rId6"/>
            <a:stretch>
              <a:fillRect/>
            </a:stretch>
          </a:blipFill>
        </p:spPr>
        <p:txBody>
          <a:bodyPr/>
          <a:lstStyle/>
          <a:p>
            <a:endParaRPr lang="zh-SG" altLang="en-US"/>
          </a:p>
        </p:txBody>
      </p:sp>
      <p:sp>
        <p:nvSpPr>
          <p:cNvPr id="10" name="Freeform 10"/>
          <p:cNvSpPr/>
          <p:nvPr/>
        </p:nvSpPr>
        <p:spPr>
          <a:xfrm>
            <a:off x="10018412" y="1443881"/>
            <a:ext cx="6878525" cy="5700435"/>
          </a:xfrm>
          <a:custGeom>
            <a:avLst/>
            <a:gdLst/>
            <a:ahLst/>
            <a:cxnLst/>
            <a:rect l="l" t="t" r="r" b="b"/>
            <a:pathLst>
              <a:path w="6878525" h="5700435">
                <a:moveTo>
                  <a:pt x="0" y="0"/>
                </a:moveTo>
                <a:lnTo>
                  <a:pt x="6878525" y="0"/>
                </a:lnTo>
                <a:lnTo>
                  <a:pt x="6878525" y="5700436"/>
                </a:lnTo>
                <a:lnTo>
                  <a:pt x="0" y="5700436"/>
                </a:lnTo>
                <a:lnTo>
                  <a:pt x="0" y="0"/>
                </a:lnTo>
                <a:close/>
              </a:path>
            </a:pathLst>
          </a:custGeom>
          <a:blipFill>
            <a:blip r:embed="rId7"/>
            <a:stretch>
              <a:fillRect/>
            </a:stretch>
          </a:blipFill>
        </p:spPr>
        <p:txBody>
          <a:bodyPr/>
          <a:lstStyle/>
          <a:p>
            <a:endParaRPr lang="zh-SG" altLang="en-US"/>
          </a:p>
        </p:txBody>
      </p:sp>
      <p:sp>
        <p:nvSpPr>
          <p:cNvPr id="11" name="Freeform 11"/>
          <p:cNvSpPr/>
          <p:nvPr/>
        </p:nvSpPr>
        <p:spPr>
          <a:xfrm>
            <a:off x="1391063" y="7148716"/>
            <a:ext cx="15505874" cy="2306499"/>
          </a:xfrm>
          <a:custGeom>
            <a:avLst/>
            <a:gdLst/>
            <a:ahLst/>
            <a:cxnLst/>
            <a:rect l="l" t="t" r="r" b="b"/>
            <a:pathLst>
              <a:path w="15505874" h="2306499">
                <a:moveTo>
                  <a:pt x="0" y="0"/>
                </a:moveTo>
                <a:lnTo>
                  <a:pt x="15505874" y="0"/>
                </a:lnTo>
                <a:lnTo>
                  <a:pt x="15505874" y="2306499"/>
                </a:lnTo>
                <a:lnTo>
                  <a:pt x="0" y="2306499"/>
                </a:lnTo>
                <a:lnTo>
                  <a:pt x="0" y="0"/>
                </a:lnTo>
                <a:close/>
              </a:path>
            </a:pathLst>
          </a:custGeom>
          <a:blipFill>
            <a:blip r:embed="rId8"/>
            <a:stretch>
              <a:fillRect/>
            </a:stretch>
          </a:blipFill>
        </p:spPr>
        <p:txBody>
          <a:bodyPr/>
          <a:lstStyle/>
          <a:p>
            <a:endParaRPr lang="zh-SG" altLang="en-US"/>
          </a:p>
        </p:txBody>
      </p:sp>
      <p:sp>
        <p:nvSpPr>
          <p:cNvPr id="12" name="TextBox 12"/>
          <p:cNvSpPr txBox="1"/>
          <p:nvPr/>
        </p:nvSpPr>
        <p:spPr>
          <a:xfrm>
            <a:off x="1391063" y="447675"/>
            <a:ext cx="15505874" cy="996206"/>
          </a:xfrm>
          <a:prstGeom prst="rect">
            <a:avLst/>
          </a:prstGeom>
        </p:spPr>
        <p:txBody>
          <a:bodyPr lIns="0" tIns="0" rIns="0" bIns="0" rtlCol="0" anchor="t">
            <a:spAutoFit/>
          </a:bodyPr>
          <a:lstStyle/>
          <a:p>
            <a:pPr algn="l">
              <a:lnSpc>
                <a:spcPts val="6828"/>
              </a:lnSpc>
            </a:pPr>
            <a:r>
              <a:rPr lang="en-US" sz="7039" b="1">
                <a:solidFill>
                  <a:srgbClr val="343434"/>
                </a:solidFill>
                <a:latin typeface="Telegraf Bold"/>
                <a:ea typeface="Telegraf Bold"/>
                <a:cs typeface="Telegraf Bold"/>
                <a:sym typeface="Telegraf Bold"/>
              </a:rPr>
              <a:t>EDA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467361" y="-2757747"/>
            <a:ext cx="12701350" cy="5382197"/>
          </a:xfrm>
          <a:custGeom>
            <a:avLst/>
            <a:gdLst/>
            <a:ahLst/>
            <a:cxnLst/>
            <a:rect l="l" t="t" r="r" b="b"/>
            <a:pathLst>
              <a:path w="12701350" h="5382197">
                <a:moveTo>
                  <a:pt x="0" y="0"/>
                </a:moveTo>
                <a:lnTo>
                  <a:pt x="12701349" y="0"/>
                </a:lnTo>
                <a:lnTo>
                  <a:pt x="12701349"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a:off x="10986204" y="6250419"/>
            <a:ext cx="11514218" cy="8506128"/>
          </a:xfrm>
          <a:custGeom>
            <a:avLst/>
            <a:gdLst/>
            <a:ahLst/>
            <a:cxnLst/>
            <a:rect l="l" t="t" r="r" b="b"/>
            <a:pathLst>
              <a:path w="11514218" h="8506128">
                <a:moveTo>
                  <a:pt x="0" y="0"/>
                </a:moveTo>
                <a:lnTo>
                  <a:pt x="11514218" y="0"/>
                </a:lnTo>
                <a:lnTo>
                  <a:pt x="11514218" y="8506128"/>
                </a:lnTo>
                <a:lnTo>
                  <a:pt x="0" y="8506128"/>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408865" y="-392510"/>
            <a:ext cx="1437565" cy="11072020"/>
            <a:chOff x="0" y="0"/>
            <a:chExt cx="378618" cy="2916088"/>
          </a:xfrm>
        </p:grpSpPr>
        <p:sp>
          <p:nvSpPr>
            <p:cNvPr id="5" name="Freeform 5"/>
            <p:cNvSpPr/>
            <p:nvPr/>
          </p:nvSpPr>
          <p:spPr>
            <a:xfrm>
              <a:off x="0" y="0"/>
              <a:ext cx="378618" cy="2916088"/>
            </a:xfrm>
            <a:custGeom>
              <a:avLst/>
              <a:gdLst/>
              <a:ahLst/>
              <a:cxnLst/>
              <a:rect l="l" t="t" r="r" b="b"/>
              <a:pathLst>
                <a:path w="378618" h="2916088">
                  <a:moveTo>
                    <a:pt x="0" y="0"/>
                  </a:moveTo>
                  <a:lnTo>
                    <a:pt x="378618" y="0"/>
                  </a:lnTo>
                  <a:lnTo>
                    <a:pt x="378618"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378618" cy="2973238"/>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531982" y="1104900"/>
            <a:ext cx="15505874" cy="996206"/>
          </a:xfrm>
          <a:prstGeom prst="rect">
            <a:avLst/>
          </a:prstGeom>
        </p:spPr>
        <p:txBody>
          <a:bodyPr lIns="0" tIns="0" rIns="0" bIns="0" rtlCol="0" anchor="t">
            <a:spAutoFit/>
          </a:bodyPr>
          <a:lstStyle/>
          <a:p>
            <a:pPr algn="l">
              <a:lnSpc>
                <a:spcPts val="6828"/>
              </a:lnSpc>
            </a:pPr>
            <a:r>
              <a:rPr lang="en-US" sz="7039" b="1">
                <a:solidFill>
                  <a:srgbClr val="343434"/>
                </a:solidFill>
                <a:latin typeface="Telegraf Bold"/>
                <a:ea typeface="Telegraf Bold"/>
                <a:cs typeface="Telegraf Bold"/>
                <a:sym typeface="Telegraf Bold"/>
              </a:rPr>
              <a:t>METHODOLOGY</a:t>
            </a:r>
          </a:p>
        </p:txBody>
      </p:sp>
      <p:sp>
        <p:nvSpPr>
          <p:cNvPr id="8" name="TextBox 8"/>
          <p:cNvSpPr txBox="1"/>
          <p:nvPr/>
        </p:nvSpPr>
        <p:spPr>
          <a:xfrm>
            <a:off x="1813820" y="4066265"/>
            <a:ext cx="11012824" cy="601980"/>
          </a:xfrm>
          <a:prstGeom prst="rect">
            <a:avLst/>
          </a:prstGeom>
        </p:spPr>
        <p:txBody>
          <a:bodyPr lIns="0" tIns="0" rIns="0" bIns="0" rtlCol="0" anchor="t">
            <a:spAutoFit/>
          </a:bodyPr>
          <a:lstStyle/>
          <a:p>
            <a:pPr algn="l">
              <a:lnSpc>
                <a:spcPts val="4619"/>
              </a:lnSpc>
              <a:spcBef>
                <a:spcPct val="0"/>
              </a:spcBef>
            </a:pPr>
            <a:r>
              <a:rPr lang="en-US" sz="3299" b="1" spc="79">
                <a:solidFill>
                  <a:srgbClr val="343434"/>
                </a:solidFill>
                <a:latin typeface="Telegraf Bold"/>
                <a:ea typeface="Telegraf Bold"/>
                <a:cs typeface="Telegraf Bold"/>
                <a:sym typeface="Telegraf Bold"/>
              </a:rPr>
              <a:t>REGRESSION TASK </a:t>
            </a:r>
          </a:p>
        </p:txBody>
      </p:sp>
      <p:sp>
        <p:nvSpPr>
          <p:cNvPr id="9" name="TextBox 9"/>
          <p:cNvSpPr txBox="1"/>
          <p:nvPr/>
        </p:nvSpPr>
        <p:spPr>
          <a:xfrm>
            <a:off x="1531982" y="4887320"/>
            <a:ext cx="13610032" cy="1272540"/>
          </a:xfrm>
          <a:prstGeom prst="rect">
            <a:avLst/>
          </a:prstGeom>
        </p:spPr>
        <p:txBody>
          <a:bodyPr lIns="0" tIns="0" rIns="0" bIns="0" rtlCol="0" anchor="t">
            <a:spAutoFit/>
          </a:bodyPr>
          <a:lstStyle/>
          <a:p>
            <a:pPr marL="518158" lvl="1" indent="-259079" algn="l">
              <a:lnSpc>
                <a:spcPts val="3359"/>
              </a:lnSpc>
              <a:buFont typeface="Arial"/>
              <a:buChar char="•"/>
            </a:pPr>
            <a:r>
              <a:rPr lang="en-US" sz="2399" b="1" spc="119">
                <a:solidFill>
                  <a:srgbClr val="343434"/>
                </a:solidFill>
                <a:latin typeface="Telegraf Bold"/>
                <a:ea typeface="Telegraf Bold"/>
                <a:cs typeface="Telegraf Bold"/>
                <a:sym typeface="Telegraf Bold"/>
              </a:rPr>
              <a:t>Linear Regression (Baseline) </a:t>
            </a:r>
          </a:p>
          <a:p>
            <a:pPr marL="518158" lvl="1" indent="-259079" algn="l">
              <a:lnSpc>
                <a:spcPts val="3359"/>
              </a:lnSpc>
              <a:buFont typeface="Arial"/>
              <a:buChar char="•"/>
            </a:pPr>
            <a:r>
              <a:rPr lang="en-US" sz="2399" b="1" spc="119">
                <a:solidFill>
                  <a:srgbClr val="343434"/>
                </a:solidFill>
                <a:latin typeface="Telegraf Bold"/>
                <a:ea typeface="Telegraf Bold"/>
                <a:cs typeface="Telegraf Bold"/>
                <a:sym typeface="Telegraf Bold"/>
              </a:rPr>
              <a:t>Random Forest Regressor</a:t>
            </a:r>
          </a:p>
          <a:p>
            <a:pPr marL="518158" lvl="1" indent="-259079" algn="l">
              <a:lnSpc>
                <a:spcPts val="3359"/>
              </a:lnSpc>
              <a:buFont typeface="Arial"/>
              <a:buChar char="•"/>
            </a:pPr>
            <a:r>
              <a:rPr lang="en-US" sz="2399" b="1" spc="119">
                <a:solidFill>
                  <a:srgbClr val="343434"/>
                </a:solidFill>
                <a:latin typeface="Telegraf Bold"/>
                <a:ea typeface="Telegraf Bold"/>
                <a:cs typeface="Telegraf Bold"/>
                <a:sym typeface="Telegraf Bold"/>
              </a:rPr>
              <a:t>HistGradientBoostingRegressor</a:t>
            </a:r>
          </a:p>
        </p:txBody>
      </p:sp>
      <p:sp>
        <p:nvSpPr>
          <p:cNvPr id="10" name="TextBox 10"/>
          <p:cNvSpPr txBox="1"/>
          <p:nvPr/>
        </p:nvSpPr>
        <p:spPr>
          <a:xfrm>
            <a:off x="1531982" y="3098004"/>
            <a:ext cx="15988755" cy="777761"/>
          </a:xfrm>
          <a:prstGeom prst="rect">
            <a:avLst/>
          </a:prstGeom>
        </p:spPr>
        <p:txBody>
          <a:bodyPr lIns="0" tIns="0" rIns="0" bIns="0" rtlCol="0" anchor="t">
            <a:spAutoFit/>
          </a:bodyPr>
          <a:lstStyle/>
          <a:p>
            <a:pPr marL="467509" lvl="1" indent="-233755" algn="l">
              <a:lnSpc>
                <a:spcPts val="3031"/>
              </a:lnSpc>
              <a:buFont typeface="Arial"/>
              <a:buChar char="•"/>
            </a:pPr>
            <a:r>
              <a:rPr lang="en-US" sz="2165" spc="108">
                <a:solidFill>
                  <a:srgbClr val="343434"/>
                </a:solidFill>
                <a:latin typeface="Telegraf"/>
                <a:ea typeface="Telegraf"/>
                <a:cs typeface="Telegraf"/>
                <a:sym typeface="Telegraf"/>
              </a:rPr>
              <a:t>Employed a gradual approach from simple linear models to complex ensemble learning models.</a:t>
            </a:r>
          </a:p>
          <a:p>
            <a:pPr marL="467509" lvl="1" indent="-233755" algn="l">
              <a:lnSpc>
                <a:spcPts val="3031"/>
              </a:lnSpc>
              <a:buFont typeface="Arial"/>
              <a:buChar char="•"/>
            </a:pPr>
            <a:r>
              <a:rPr lang="en-US" sz="2165" spc="108">
                <a:solidFill>
                  <a:srgbClr val="343434"/>
                </a:solidFill>
                <a:latin typeface="Telegraf"/>
                <a:ea typeface="Telegraf"/>
                <a:cs typeface="Telegraf"/>
                <a:sym typeface="Telegraf"/>
              </a:rPr>
              <a:t>Use simple models for Baseline, and ensemble models to capture non-linearity in healthcare data.</a:t>
            </a:r>
          </a:p>
        </p:txBody>
      </p:sp>
      <p:sp>
        <p:nvSpPr>
          <p:cNvPr id="11" name="TextBox 11"/>
          <p:cNvSpPr txBox="1"/>
          <p:nvPr/>
        </p:nvSpPr>
        <p:spPr>
          <a:xfrm>
            <a:off x="1531982" y="2264438"/>
            <a:ext cx="16226823"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MODELING STRATEGY</a:t>
            </a:r>
          </a:p>
        </p:txBody>
      </p:sp>
      <p:sp>
        <p:nvSpPr>
          <p:cNvPr id="12" name="TextBox 12"/>
          <p:cNvSpPr txBox="1"/>
          <p:nvPr/>
        </p:nvSpPr>
        <p:spPr>
          <a:xfrm>
            <a:off x="9929120" y="4066265"/>
            <a:ext cx="11012824" cy="601980"/>
          </a:xfrm>
          <a:prstGeom prst="rect">
            <a:avLst/>
          </a:prstGeom>
        </p:spPr>
        <p:txBody>
          <a:bodyPr lIns="0" tIns="0" rIns="0" bIns="0" rtlCol="0" anchor="t">
            <a:spAutoFit/>
          </a:bodyPr>
          <a:lstStyle/>
          <a:p>
            <a:pPr algn="l">
              <a:lnSpc>
                <a:spcPts val="4619"/>
              </a:lnSpc>
              <a:spcBef>
                <a:spcPct val="0"/>
              </a:spcBef>
            </a:pPr>
            <a:r>
              <a:rPr lang="en-US" sz="3299" b="1" spc="79">
                <a:solidFill>
                  <a:srgbClr val="343434"/>
                </a:solidFill>
                <a:latin typeface="Telegraf Bold"/>
                <a:ea typeface="Telegraf Bold"/>
                <a:cs typeface="Telegraf Bold"/>
                <a:sym typeface="Telegraf Bold"/>
              </a:rPr>
              <a:t>CLASSIFICATION TASK</a:t>
            </a:r>
          </a:p>
        </p:txBody>
      </p:sp>
      <p:sp>
        <p:nvSpPr>
          <p:cNvPr id="13" name="TextBox 13"/>
          <p:cNvSpPr txBox="1"/>
          <p:nvPr/>
        </p:nvSpPr>
        <p:spPr>
          <a:xfrm>
            <a:off x="9645393" y="4847315"/>
            <a:ext cx="13610032" cy="1691640"/>
          </a:xfrm>
          <a:prstGeom prst="rect">
            <a:avLst/>
          </a:prstGeom>
        </p:spPr>
        <p:txBody>
          <a:bodyPr lIns="0" tIns="0" rIns="0" bIns="0" rtlCol="0" anchor="t">
            <a:spAutoFit/>
          </a:bodyPr>
          <a:lstStyle/>
          <a:p>
            <a:pPr marL="518158" lvl="1" indent="-259079" algn="l">
              <a:lnSpc>
                <a:spcPts val="3359"/>
              </a:lnSpc>
              <a:buFont typeface="Arial"/>
              <a:buChar char="•"/>
            </a:pPr>
            <a:r>
              <a:rPr lang="en-US" sz="2399" b="1" spc="119">
                <a:solidFill>
                  <a:srgbClr val="343434"/>
                </a:solidFill>
                <a:latin typeface="Telegraf Bold"/>
                <a:ea typeface="Telegraf Bold"/>
                <a:cs typeface="Telegraf Bold"/>
                <a:sym typeface="Telegraf Bold"/>
              </a:rPr>
              <a:t>Logistic Regression (Baseline)</a:t>
            </a:r>
          </a:p>
          <a:p>
            <a:pPr marL="518158" lvl="1" indent="-259079" algn="l">
              <a:lnSpc>
                <a:spcPts val="3359"/>
              </a:lnSpc>
              <a:buFont typeface="Arial"/>
              <a:buChar char="•"/>
            </a:pPr>
            <a:r>
              <a:rPr lang="en-US" sz="2399" b="1" spc="119">
                <a:solidFill>
                  <a:srgbClr val="343434"/>
                </a:solidFill>
                <a:latin typeface="Telegraf Bold"/>
                <a:ea typeface="Telegraf Bold"/>
                <a:cs typeface="Telegraf Bold"/>
                <a:sym typeface="Telegraf Bold"/>
              </a:rPr>
              <a:t>Decision tree Classifier</a:t>
            </a:r>
          </a:p>
          <a:p>
            <a:pPr marL="518158" lvl="1" indent="-259079" algn="l">
              <a:lnSpc>
                <a:spcPts val="3359"/>
              </a:lnSpc>
              <a:buFont typeface="Arial"/>
              <a:buChar char="•"/>
            </a:pPr>
            <a:r>
              <a:rPr lang="en-US" sz="2399" b="1" spc="119">
                <a:solidFill>
                  <a:srgbClr val="343434"/>
                </a:solidFill>
                <a:latin typeface="Telegraf Bold"/>
                <a:ea typeface="Telegraf Bold"/>
                <a:cs typeface="Telegraf Bold"/>
                <a:sym typeface="Telegraf Bold"/>
              </a:rPr>
              <a:t>Random Forest Classifier</a:t>
            </a:r>
          </a:p>
          <a:p>
            <a:pPr marL="518158" lvl="1" indent="-259079" algn="l">
              <a:lnSpc>
                <a:spcPts val="3359"/>
              </a:lnSpc>
              <a:buFont typeface="Arial"/>
              <a:buChar char="•"/>
            </a:pPr>
            <a:r>
              <a:rPr lang="en-US" sz="2399" b="1" spc="119">
                <a:solidFill>
                  <a:srgbClr val="343434"/>
                </a:solidFill>
                <a:latin typeface="Telegraf Bold"/>
                <a:ea typeface="Telegraf Bold"/>
                <a:cs typeface="Telegraf Bold"/>
                <a:sym typeface="Telegraf Bold"/>
              </a:rPr>
              <a:t>XGBoost Classifier</a:t>
            </a:r>
          </a:p>
        </p:txBody>
      </p:sp>
      <p:sp>
        <p:nvSpPr>
          <p:cNvPr id="14" name="TextBox 14"/>
          <p:cNvSpPr txBox="1"/>
          <p:nvPr/>
        </p:nvSpPr>
        <p:spPr>
          <a:xfrm>
            <a:off x="1531982" y="7738375"/>
            <a:ext cx="15988755" cy="777761"/>
          </a:xfrm>
          <a:prstGeom prst="rect">
            <a:avLst/>
          </a:prstGeom>
        </p:spPr>
        <p:txBody>
          <a:bodyPr lIns="0" tIns="0" rIns="0" bIns="0" rtlCol="0" anchor="t">
            <a:spAutoFit/>
          </a:bodyPr>
          <a:lstStyle/>
          <a:p>
            <a:pPr marL="467509" lvl="1" indent="-233755" algn="l">
              <a:lnSpc>
                <a:spcPts val="3031"/>
              </a:lnSpc>
              <a:buFont typeface="Arial"/>
              <a:buChar char="•"/>
            </a:pPr>
            <a:r>
              <a:rPr lang="en-US" sz="2165" spc="108">
                <a:solidFill>
                  <a:srgbClr val="343434"/>
                </a:solidFill>
                <a:latin typeface="Telegraf"/>
                <a:ea typeface="Telegraf"/>
                <a:cs typeface="Telegraf"/>
                <a:sym typeface="Telegraf"/>
              </a:rPr>
              <a:t>Data Split: 80% for training and 20% for testing.</a:t>
            </a:r>
          </a:p>
          <a:p>
            <a:pPr marL="467509" lvl="1" indent="-233755" algn="l">
              <a:lnSpc>
                <a:spcPts val="3031"/>
              </a:lnSpc>
              <a:buFont typeface="Arial"/>
              <a:buChar char="•"/>
            </a:pPr>
            <a:r>
              <a:rPr lang="en-US" sz="2165" spc="108">
                <a:solidFill>
                  <a:srgbClr val="343434"/>
                </a:solidFill>
                <a:latin typeface="Telegraf"/>
                <a:ea typeface="Telegraf"/>
                <a:cs typeface="Telegraf"/>
                <a:sym typeface="Telegraf"/>
              </a:rPr>
              <a:t>Reproducibility: Fixed random seeds were set for all experimental results.</a:t>
            </a:r>
          </a:p>
        </p:txBody>
      </p:sp>
      <p:sp>
        <p:nvSpPr>
          <p:cNvPr id="15" name="TextBox 15"/>
          <p:cNvSpPr txBox="1"/>
          <p:nvPr/>
        </p:nvSpPr>
        <p:spPr>
          <a:xfrm>
            <a:off x="1531982" y="6773175"/>
            <a:ext cx="16226823" cy="736600"/>
          </a:xfrm>
          <a:prstGeom prst="rect">
            <a:avLst/>
          </a:prstGeom>
        </p:spPr>
        <p:txBody>
          <a:bodyPr lIns="0" tIns="0" rIns="0" bIns="0" rtlCol="0" anchor="t">
            <a:spAutoFit/>
          </a:bodyPr>
          <a:lstStyle/>
          <a:p>
            <a:pPr algn="l">
              <a:lnSpc>
                <a:spcPts val="5600"/>
              </a:lnSpc>
              <a:spcBef>
                <a:spcPct val="0"/>
              </a:spcBef>
            </a:pPr>
            <a:r>
              <a:rPr lang="en-US" sz="4000" spc="96">
                <a:solidFill>
                  <a:srgbClr val="343434"/>
                </a:solidFill>
                <a:latin typeface="Telegraf"/>
                <a:ea typeface="Telegraf"/>
                <a:cs typeface="Telegraf"/>
                <a:sym typeface="Telegraf"/>
              </a:rPr>
              <a:t>GENERALIZATION FRAMEWORK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9950507" y="7177426"/>
            <a:ext cx="12701350" cy="5382197"/>
          </a:xfrm>
          <a:custGeom>
            <a:avLst/>
            <a:gdLst/>
            <a:ahLst/>
            <a:cxnLst/>
            <a:rect l="l" t="t" r="r" b="b"/>
            <a:pathLst>
              <a:path w="12701350" h="5382197">
                <a:moveTo>
                  <a:pt x="0" y="0"/>
                </a:moveTo>
                <a:lnTo>
                  <a:pt x="12701350" y="0"/>
                </a:lnTo>
                <a:lnTo>
                  <a:pt x="12701350"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rot="1784357">
            <a:off x="-575872" y="-647487"/>
            <a:ext cx="7735476" cy="4631616"/>
          </a:xfrm>
          <a:custGeom>
            <a:avLst/>
            <a:gdLst/>
            <a:ahLst/>
            <a:cxnLst/>
            <a:rect l="l" t="t" r="r" b="b"/>
            <a:pathLst>
              <a:path w="7735476" h="4631616">
                <a:moveTo>
                  <a:pt x="0" y="0"/>
                </a:moveTo>
                <a:lnTo>
                  <a:pt x="7735475" y="0"/>
                </a:lnTo>
                <a:lnTo>
                  <a:pt x="7735475" y="4631616"/>
                </a:lnTo>
                <a:lnTo>
                  <a:pt x="0" y="4631616"/>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0" y="-392510"/>
            <a:ext cx="2222584" cy="11072020"/>
            <a:chOff x="0" y="0"/>
            <a:chExt cx="585372" cy="2916088"/>
          </a:xfrm>
        </p:grpSpPr>
        <p:sp>
          <p:nvSpPr>
            <p:cNvPr id="5" name="Freeform 5"/>
            <p:cNvSpPr/>
            <p:nvPr/>
          </p:nvSpPr>
          <p:spPr>
            <a:xfrm>
              <a:off x="0" y="0"/>
              <a:ext cx="585372" cy="2916088"/>
            </a:xfrm>
            <a:custGeom>
              <a:avLst/>
              <a:gdLst/>
              <a:ahLst/>
              <a:cxnLst/>
              <a:rect l="l" t="t" r="r" b="b"/>
              <a:pathLst>
                <a:path w="585372" h="2916088">
                  <a:moveTo>
                    <a:pt x="0" y="0"/>
                  </a:moveTo>
                  <a:lnTo>
                    <a:pt x="585372" y="0"/>
                  </a:lnTo>
                  <a:lnTo>
                    <a:pt x="585372"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585372" cy="2973238"/>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3291865" y="2600380"/>
            <a:ext cx="12023167" cy="1831486"/>
          </a:xfrm>
          <a:prstGeom prst="rect">
            <a:avLst/>
          </a:prstGeom>
        </p:spPr>
        <p:txBody>
          <a:bodyPr lIns="0" tIns="0" rIns="0" bIns="0" rtlCol="0" anchor="t">
            <a:spAutoFit/>
          </a:bodyPr>
          <a:lstStyle/>
          <a:p>
            <a:pPr algn="l">
              <a:lnSpc>
                <a:spcPts val="6731"/>
              </a:lnSpc>
            </a:pPr>
            <a:r>
              <a:rPr lang="en-US" sz="6939" b="1">
                <a:solidFill>
                  <a:srgbClr val="343434"/>
                </a:solidFill>
                <a:latin typeface="Telegraf Bold"/>
                <a:ea typeface="Telegraf Bold"/>
                <a:cs typeface="Telegraf Bold"/>
                <a:sym typeface="Telegraf Bold"/>
              </a:rPr>
              <a:t>PREDICTING LENGTH OF HOSPITAL STAY</a:t>
            </a:r>
          </a:p>
        </p:txBody>
      </p:sp>
      <p:sp>
        <p:nvSpPr>
          <p:cNvPr id="8" name="TextBox 8"/>
          <p:cNvSpPr txBox="1"/>
          <p:nvPr/>
        </p:nvSpPr>
        <p:spPr>
          <a:xfrm>
            <a:off x="3291865" y="5146240"/>
            <a:ext cx="9737167"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 REGRESSION PROBLEM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2"/>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8" name="TextBox 8"/>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grpSp>
        <p:nvGrpSpPr>
          <p:cNvPr id="9" name="Group 9"/>
          <p:cNvGrpSpPr/>
          <p:nvPr/>
        </p:nvGrpSpPr>
        <p:grpSpPr>
          <a:xfrm>
            <a:off x="1028700" y="3899634"/>
            <a:ext cx="16230600" cy="2436935"/>
            <a:chOff x="0" y="0"/>
            <a:chExt cx="4274726" cy="641827"/>
          </a:xfrm>
        </p:grpSpPr>
        <p:sp>
          <p:nvSpPr>
            <p:cNvPr id="10" name="Freeform 10"/>
            <p:cNvSpPr/>
            <p:nvPr/>
          </p:nvSpPr>
          <p:spPr>
            <a:xfrm>
              <a:off x="0" y="0"/>
              <a:ext cx="4274726" cy="641827"/>
            </a:xfrm>
            <a:custGeom>
              <a:avLst/>
              <a:gdLst/>
              <a:ahLst/>
              <a:cxnLst/>
              <a:rect l="l" t="t" r="r" b="b"/>
              <a:pathLst>
                <a:path w="4274726" h="641827">
                  <a:moveTo>
                    <a:pt x="15264" y="0"/>
                  </a:moveTo>
                  <a:lnTo>
                    <a:pt x="4259462" y="0"/>
                  </a:lnTo>
                  <a:cubicBezTo>
                    <a:pt x="4263510" y="0"/>
                    <a:pt x="4267393" y="1608"/>
                    <a:pt x="4270255" y="4471"/>
                  </a:cubicBezTo>
                  <a:cubicBezTo>
                    <a:pt x="4273118" y="7333"/>
                    <a:pt x="4274726" y="11216"/>
                    <a:pt x="4274726" y="15264"/>
                  </a:cubicBezTo>
                  <a:lnTo>
                    <a:pt x="4274726" y="626563"/>
                  </a:lnTo>
                  <a:cubicBezTo>
                    <a:pt x="4274726" y="630611"/>
                    <a:pt x="4273118" y="634493"/>
                    <a:pt x="4270255" y="637356"/>
                  </a:cubicBezTo>
                  <a:cubicBezTo>
                    <a:pt x="4267393" y="640218"/>
                    <a:pt x="4263510" y="641827"/>
                    <a:pt x="4259462" y="641827"/>
                  </a:cubicBezTo>
                  <a:lnTo>
                    <a:pt x="15264" y="641827"/>
                  </a:lnTo>
                  <a:cubicBezTo>
                    <a:pt x="11216" y="641827"/>
                    <a:pt x="7333" y="640218"/>
                    <a:pt x="4471" y="637356"/>
                  </a:cubicBezTo>
                  <a:cubicBezTo>
                    <a:pt x="1608" y="634493"/>
                    <a:pt x="0" y="630611"/>
                    <a:pt x="0" y="626563"/>
                  </a:cubicBezTo>
                  <a:lnTo>
                    <a:pt x="0" y="15264"/>
                  </a:lnTo>
                  <a:cubicBezTo>
                    <a:pt x="0" y="11216"/>
                    <a:pt x="1608" y="7333"/>
                    <a:pt x="4471" y="4471"/>
                  </a:cubicBezTo>
                  <a:cubicBezTo>
                    <a:pt x="7333" y="1608"/>
                    <a:pt x="11216" y="0"/>
                    <a:pt x="15264"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1" name="TextBox 11"/>
            <p:cNvSpPr txBox="1"/>
            <p:nvPr/>
          </p:nvSpPr>
          <p:spPr>
            <a:xfrm>
              <a:off x="0" y="-19050"/>
              <a:ext cx="4274726" cy="660877"/>
            </a:xfrm>
            <a:prstGeom prst="rect">
              <a:avLst/>
            </a:prstGeom>
          </p:spPr>
          <p:txBody>
            <a:bodyPr lIns="254000" tIns="254000" rIns="254000" bIns="254000" rtlCol="0" anchor="ctr"/>
            <a:lstStyle/>
            <a:p>
              <a:pPr algn="l">
                <a:lnSpc>
                  <a:spcPts val="4587"/>
                </a:lnSpc>
              </a:pPr>
              <a:r>
                <a:rPr lang="en-US" sz="3699" b="1">
                  <a:solidFill>
                    <a:srgbClr val="F2F7FA"/>
                  </a:solidFill>
                  <a:latin typeface="TT Hoves Bold"/>
                  <a:ea typeface="TT Hoves Bold"/>
                  <a:cs typeface="TT Hoves Bold"/>
                  <a:sym typeface="TT Hoves Bold"/>
                </a:rPr>
                <a:t>Objective:</a:t>
              </a:r>
              <a:r>
                <a:rPr lang="en-US" sz="3699">
                  <a:solidFill>
                    <a:srgbClr val="F2F7FA"/>
                  </a:solidFill>
                  <a:latin typeface="TT Hoves"/>
                  <a:ea typeface="TT Hoves"/>
                  <a:cs typeface="TT Hoves"/>
                  <a:sym typeface="TT Hoves"/>
                </a:rPr>
                <a:t> Predict patient’s </a:t>
              </a:r>
              <a:r>
                <a:rPr lang="en-US" sz="3699" b="1">
                  <a:solidFill>
                    <a:srgbClr val="F2F7FA"/>
                  </a:solidFill>
                  <a:latin typeface="TT Hoves Bold"/>
                  <a:ea typeface="TT Hoves Bold"/>
                  <a:cs typeface="TT Hoves Bold"/>
                  <a:sym typeface="TT Hoves Bold"/>
                </a:rPr>
                <a:t>length of hospital stay </a:t>
              </a:r>
              <a:r>
                <a:rPr lang="en-US" sz="3699">
                  <a:solidFill>
                    <a:srgbClr val="F2F7FA"/>
                  </a:solidFill>
                  <a:latin typeface="TT Hoves"/>
                  <a:ea typeface="TT Hoves"/>
                  <a:cs typeface="TT Hoves"/>
                  <a:sym typeface="TT Hoves"/>
                </a:rPr>
                <a:t>ahead of time to allow for </a:t>
              </a:r>
              <a:r>
                <a:rPr lang="en-US" sz="3699" b="1">
                  <a:solidFill>
                    <a:srgbClr val="F2F7FA"/>
                  </a:solidFill>
                  <a:latin typeface="TT Hoves Bold"/>
                  <a:ea typeface="TT Hoves Bold"/>
                  <a:cs typeface="TT Hoves Bold"/>
                  <a:sym typeface="TT Hoves Bold"/>
                </a:rPr>
                <a:t>proactive management of hospital resources</a:t>
              </a:r>
              <a:r>
                <a:rPr lang="en-US" sz="3699">
                  <a:solidFill>
                    <a:srgbClr val="F2F7FA"/>
                  </a:solidFill>
                  <a:latin typeface="TT Hoves"/>
                  <a:ea typeface="TT Hoves"/>
                  <a:cs typeface="TT Hoves"/>
                  <a:sym typeface="TT Hoves"/>
                </a:rPr>
                <a:t>.</a:t>
              </a:r>
            </a:p>
          </p:txBody>
        </p:sp>
      </p:grpSp>
      <p:grpSp>
        <p:nvGrpSpPr>
          <p:cNvPr id="12" name="Group 12"/>
          <p:cNvGrpSpPr/>
          <p:nvPr/>
        </p:nvGrpSpPr>
        <p:grpSpPr>
          <a:xfrm>
            <a:off x="2457599" y="7712615"/>
            <a:ext cx="4338729" cy="1543050"/>
            <a:chOff x="0" y="0"/>
            <a:chExt cx="1142711" cy="406400"/>
          </a:xfrm>
        </p:grpSpPr>
        <p:sp>
          <p:nvSpPr>
            <p:cNvPr id="13" name="Freeform 13"/>
            <p:cNvSpPr/>
            <p:nvPr/>
          </p:nvSpPr>
          <p:spPr>
            <a:xfrm>
              <a:off x="0" y="0"/>
              <a:ext cx="1142711" cy="406400"/>
            </a:xfrm>
            <a:custGeom>
              <a:avLst/>
              <a:gdLst/>
              <a:ahLst/>
              <a:cxnLst/>
              <a:rect l="l" t="t" r="r" b="b"/>
              <a:pathLst>
                <a:path w="1142711" h="406400">
                  <a:moveTo>
                    <a:pt x="939511" y="0"/>
                  </a:moveTo>
                  <a:cubicBezTo>
                    <a:pt x="1051735" y="0"/>
                    <a:pt x="1142711" y="90976"/>
                    <a:pt x="1142711" y="203200"/>
                  </a:cubicBezTo>
                  <a:cubicBezTo>
                    <a:pt x="1142711" y="315424"/>
                    <a:pt x="1051735" y="406400"/>
                    <a:pt x="939511" y="406400"/>
                  </a:cubicBezTo>
                  <a:lnTo>
                    <a:pt x="203200" y="406400"/>
                  </a:lnTo>
                  <a:cubicBezTo>
                    <a:pt x="90976" y="406400"/>
                    <a:pt x="0" y="315424"/>
                    <a:pt x="0" y="203200"/>
                  </a:cubicBezTo>
                  <a:cubicBezTo>
                    <a:pt x="0" y="90976"/>
                    <a:pt x="90976" y="0"/>
                    <a:pt x="203200" y="0"/>
                  </a:cubicBezTo>
                  <a:close/>
                </a:path>
              </a:pathLst>
            </a:custGeom>
            <a:solidFill>
              <a:srgbClr val="4D83BB"/>
            </a:solidFill>
          </p:spPr>
          <p:txBody>
            <a:bodyPr/>
            <a:lstStyle/>
            <a:p>
              <a:endParaRPr lang="zh-SG" altLang="en-US"/>
            </a:p>
          </p:txBody>
        </p:sp>
        <p:sp>
          <p:nvSpPr>
            <p:cNvPr id="14" name="TextBox 14"/>
            <p:cNvSpPr txBox="1"/>
            <p:nvPr/>
          </p:nvSpPr>
          <p:spPr>
            <a:xfrm>
              <a:off x="0" y="-57150"/>
              <a:ext cx="1142711" cy="463550"/>
            </a:xfrm>
            <a:prstGeom prst="rect">
              <a:avLst/>
            </a:prstGeom>
          </p:spPr>
          <p:txBody>
            <a:bodyPr lIns="50800" tIns="50800" rIns="50800" bIns="50800" rtlCol="0" anchor="ctr"/>
            <a:lstStyle/>
            <a:p>
              <a:pPr algn="ctr">
                <a:lnSpc>
                  <a:spcPts val="4199"/>
                </a:lnSpc>
              </a:pPr>
              <a:r>
                <a:rPr lang="en-US" sz="2999">
                  <a:solidFill>
                    <a:srgbClr val="F2F7FA"/>
                  </a:solidFill>
                  <a:latin typeface="TT Hoves"/>
                  <a:ea typeface="TT Hoves"/>
                  <a:cs typeface="TT Hoves"/>
                  <a:sym typeface="TT Hoves"/>
                </a:rPr>
                <a:t>Bed turnover management</a:t>
              </a:r>
            </a:p>
          </p:txBody>
        </p:sp>
      </p:grpSp>
      <p:sp>
        <p:nvSpPr>
          <p:cNvPr id="15" name="TextBox 15"/>
          <p:cNvSpPr txBox="1"/>
          <p:nvPr/>
        </p:nvSpPr>
        <p:spPr>
          <a:xfrm>
            <a:off x="1028700" y="936243"/>
            <a:ext cx="15002145" cy="1875427"/>
          </a:xfrm>
          <a:prstGeom prst="rect">
            <a:avLst/>
          </a:prstGeom>
        </p:spPr>
        <p:txBody>
          <a:bodyPr lIns="0" tIns="0" rIns="0" bIns="0" rtlCol="0" anchor="t">
            <a:spAutoFit/>
          </a:bodyPr>
          <a:lstStyle/>
          <a:p>
            <a:pPr algn="l">
              <a:lnSpc>
                <a:spcPts val="6925"/>
              </a:lnSpc>
            </a:pPr>
            <a:r>
              <a:rPr lang="en-US" sz="7139" b="1">
                <a:solidFill>
                  <a:srgbClr val="343434"/>
                </a:solidFill>
                <a:latin typeface="Telegraf Bold"/>
                <a:ea typeface="Telegraf Bold"/>
                <a:cs typeface="Telegraf Bold"/>
                <a:sym typeface="Telegraf Bold"/>
              </a:rPr>
              <a:t>PREDICTING LENGTH OF HOSPITAL STAY</a:t>
            </a:r>
          </a:p>
        </p:txBody>
      </p:sp>
      <p:sp>
        <p:nvSpPr>
          <p:cNvPr id="16" name="TextBox 16"/>
          <p:cNvSpPr txBox="1"/>
          <p:nvPr/>
        </p:nvSpPr>
        <p:spPr>
          <a:xfrm>
            <a:off x="1028700" y="2678320"/>
            <a:ext cx="9657424"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REGRESSION </a:t>
            </a:r>
          </a:p>
        </p:txBody>
      </p:sp>
      <p:sp>
        <p:nvSpPr>
          <p:cNvPr id="17" name="TextBox 17"/>
          <p:cNvSpPr txBox="1"/>
          <p:nvPr/>
        </p:nvSpPr>
        <p:spPr>
          <a:xfrm>
            <a:off x="762000" y="6486746"/>
            <a:ext cx="2775645" cy="537846"/>
          </a:xfrm>
          <a:prstGeom prst="rect">
            <a:avLst/>
          </a:prstGeom>
        </p:spPr>
        <p:txBody>
          <a:bodyPr lIns="0" tIns="0" rIns="0" bIns="0" rtlCol="0" anchor="t">
            <a:spAutoFit/>
          </a:bodyPr>
          <a:lstStyle/>
          <a:p>
            <a:pPr algn="ctr">
              <a:lnSpc>
                <a:spcPts val="4479"/>
              </a:lnSpc>
              <a:spcBef>
                <a:spcPct val="0"/>
              </a:spcBef>
            </a:pPr>
            <a:r>
              <a:rPr lang="en-US" sz="3199" dirty="0">
                <a:solidFill>
                  <a:srgbClr val="343434"/>
                </a:solidFill>
                <a:latin typeface="TT Hoves"/>
                <a:ea typeface="TT Hoves"/>
                <a:cs typeface="TT Hoves"/>
                <a:sym typeface="TT Hoves"/>
              </a:rPr>
              <a:t>Business Value:</a:t>
            </a:r>
          </a:p>
        </p:txBody>
      </p:sp>
      <p:grpSp>
        <p:nvGrpSpPr>
          <p:cNvPr id="18" name="Group 18"/>
          <p:cNvGrpSpPr/>
          <p:nvPr/>
        </p:nvGrpSpPr>
        <p:grpSpPr>
          <a:xfrm>
            <a:off x="7350791" y="7715250"/>
            <a:ext cx="4338729" cy="1543050"/>
            <a:chOff x="0" y="0"/>
            <a:chExt cx="1142711" cy="406400"/>
          </a:xfrm>
        </p:grpSpPr>
        <p:sp>
          <p:nvSpPr>
            <p:cNvPr id="19" name="Freeform 19"/>
            <p:cNvSpPr/>
            <p:nvPr/>
          </p:nvSpPr>
          <p:spPr>
            <a:xfrm>
              <a:off x="0" y="0"/>
              <a:ext cx="1142711" cy="406400"/>
            </a:xfrm>
            <a:custGeom>
              <a:avLst/>
              <a:gdLst/>
              <a:ahLst/>
              <a:cxnLst/>
              <a:rect l="l" t="t" r="r" b="b"/>
              <a:pathLst>
                <a:path w="1142711" h="406400">
                  <a:moveTo>
                    <a:pt x="939511" y="0"/>
                  </a:moveTo>
                  <a:cubicBezTo>
                    <a:pt x="1051735" y="0"/>
                    <a:pt x="1142711" y="90976"/>
                    <a:pt x="1142711" y="203200"/>
                  </a:cubicBezTo>
                  <a:cubicBezTo>
                    <a:pt x="1142711" y="315424"/>
                    <a:pt x="1051735" y="406400"/>
                    <a:pt x="939511" y="406400"/>
                  </a:cubicBezTo>
                  <a:lnTo>
                    <a:pt x="203200" y="406400"/>
                  </a:lnTo>
                  <a:cubicBezTo>
                    <a:pt x="90976" y="406400"/>
                    <a:pt x="0" y="315424"/>
                    <a:pt x="0" y="203200"/>
                  </a:cubicBezTo>
                  <a:cubicBezTo>
                    <a:pt x="0" y="90976"/>
                    <a:pt x="90976" y="0"/>
                    <a:pt x="203200" y="0"/>
                  </a:cubicBezTo>
                  <a:close/>
                </a:path>
              </a:pathLst>
            </a:custGeom>
            <a:solidFill>
              <a:srgbClr val="4D83BB"/>
            </a:solidFill>
          </p:spPr>
          <p:txBody>
            <a:bodyPr/>
            <a:lstStyle/>
            <a:p>
              <a:endParaRPr lang="zh-SG" altLang="en-US"/>
            </a:p>
          </p:txBody>
        </p:sp>
        <p:sp>
          <p:nvSpPr>
            <p:cNvPr id="20" name="TextBox 20"/>
            <p:cNvSpPr txBox="1"/>
            <p:nvPr/>
          </p:nvSpPr>
          <p:spPr>
            <a:xfrm>
              <a:off x="0" y="-57150"/>
              <a:ext cx="1142711" cy="463550"/>
            </a:xfrm>
            <a:prstGeom prst="rect">
              <a:avLst/>
            </a:prstGeom>
          </p:spPr>
          <p:txBody>
            <a:bodyPr lIns="50800" tIns="50800" rIns="50800" bIns="50800" rtlCol="0" anchor="ctr"/>
            <a:lstStyle/>
            <a:p>
              <a:pPr algn="ctr">
                <a:lnSpc>
                  <a:spcPts val="4199"/>
                </a:lnSpc>
              </a:pPr>
              <a:r>
                <a:rPr lang="en-US" sz="2999">
                  <a:solidFill>
                    <a:srgbClr val="F2F7FA"/>
                  </a:solidFill>
                  <a:latin typeface="TT Hoves"/>
                  <a:ea typeface="TT Hoves"/>
                  <a:cs typeface="TT Hoves"/>
                  <a:sym typeface="TT Hoves"/>
                </a:rPr>
                <a:t>Staffing management</a:t>
              </a:r>
            </a:p>
          </p:txBody>
        </p:sp>
      </p:grpSp>
      <p:grpSp>
        <p:nvGrpSpPr>
          <p:cNvPr id="21" name="Group 21"/>
          <p:cNvGrpSpPr/>
          <p:nvPr/>
        </p:nvGrpSpPr>
        <p:grpSpPr>
          <a:xfrm>
            <a:off x="12265494" y="7715250"/>
            <a:ext cx="4338729" cy="1543050"/>
            <a:chOff x="0" y="0"/>
            <a:chExt cx="1142711" cy="406400"/>
          </a:xfrm>
        </p:grpSpPr>
        <p:sp>
          <p:nvSpPr>
            <p:cNvPr id="22" name="Freeform 22"/>
            <p:cNvSpPr/>
            <p:nvPr/>
          </p:nvSpPr>
          <p:spPr>
            <a:xfrm>
              <a:off x="0" y="0"/>
              <a:ext cx="1142711" cy="406400"/>
            </a:xfrm>
            <a:custGeom>
              <a:avLst/>
              <a:gdLst/>
              <a:ahLst/>
              <a:cxnLst/>
              <a:rect l="l" t="t" r="r" b="b"/>
              <a:pathLst>
                <a:path w="1142711" h="406400">
                  <a:moveTo>
                    <a:pt x="939511" y="0"/>
                  </a:moveTo>
                  <a:cubicBezTo>
                    <a:pt x="1051735" y="0"/>
                    <a:pt x="1142711" y="90976"/>
                    <a:pt x="1142711" y="203200"/>
                  </a:cubicBezTo>
                  <a:cubicBezTo>
                    <a:pt x="1142711" y="315424"/>
                    <a:pt x="1051735" y="406400"/>
                    <a:pt x="939511" y="406400"/>
                  </a:cubicBezTo>
                  <a:lnTo>
                    <a:pt x="203200" y="406400"/>
                  </a:lnTo>
                  <a:cubicBezTo>
                    <a:pt x="90976" y="406400"/>
                    <a:pt x="0" y="315424"/>
                    <a:pt x="0" y="203200"/>
                  </a:cubicBezTo>
                  <a:cubicBezTo>
                    <a:pt x="0" y="90976"/>
                    <a:pt x="90976" y="0"/>
                    <a:pt x="203200" y="0"/>
                  </a:cubicBezTo>
                  <a:close/>
                </a:path>
              </a:pathLst>
            </a:custGeom>
            <a:solidFill>
              <a:srgbClr val="4D83BB"/>
            </a:solidFill>
          </p:spPr>
          <p:txBody>
            <a:bodyPr/>
            <a:lstStyle/>
            <a:p>
              <a:endParaRPr lang="zh-SG" altLang="en-US"/>
            </a:p>
          </p:txBody>
        </p:sp>
        <p:sp>
          <p:nvSpPr>
            <p:cNvPr id="23" name="TextBox 23"/>
            <p:cNvSpPr txBox="1"/>
            <p:nvPr/>
          </p:nvSpPr>
          <p:spPr>
            <a:xfrm>
              <a:off x="0" y="-57150"/>
              <a:ext cx="1142711" cy="463550"/>
            </a:xfrm>
            <a:prstGeom prst="rect">
              <a:avLst/>
            </a:prstGeom>
          </p:spPr>
          <p:txBody>
            <a:bodyPr lIns="50800" tIns="50800" rIns="50800" bIns="50800" rtlCol="0" anchor="ctr"/>
            <a:lstStyle/>
            <a:p>
              <a:pPr algn="ctr">
                <a:lnSpc>
                  <a:spcPts val="4199"/>
                </a:lnSpc>
              </a:pPr>
              <a:r>
                <a:rPr lang="en-US" sz="2999">
                  <a:solidFill>
                    <a:srgbClr val="F2F7FA"/>
                  </a:solidFill>
                  <a:latin typeface="TT Hoves"/>
                  <a:ea typeface="TT Hoves"/>
                  <a:cs typeface="TT Hoves"/>
                  <a:sym typeface="TT Hoves"/>
                </a:rPr>
                <a:t>Proactive Resource Management</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8468470" y="9035824"/>
            <a:ext cx="12701350" cy="5382197"/>
          </a:xfrm>
          <a:custGeom>
            <a:avLst/>
            <a:gdLst/>
            <a:ahLst/>
            <a:cxnLst/>
            <a:rect l="l" t="t" r="r" b="b"/>
            <a:pathLst>
              <a:path w="12701350" h="5382197">
                <a:moveTo>
                  <a:pt x="0" y="0"/>
                </a:moveTo>
                <a:lnTo>
                  <a:pt x="12701350" y="0"/>
                </a:lnTo>
                <a:lnTo>
                  <a:pt x="12701350"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rot="-8410460">
            <a:off x="1935723" y="-5126712"/>
            <a:ext cx="11976399" cy="7170869"/>
          </a:xfrm>
          <a:custGeom>
            <a:avLst/>
            <a:gdLst/>
            <a:ahLst/>
            <a:cxnLst/>
            <a:rect l="l" t="t" r="r" b="b"/>
            <a:pathLst>
              <a:path w="11976399" h="7170869">
                <a:moveTo>
                  <a:pt x="0" y="0"/>
                </a:moveTo>
                <a:lnTo>
                  <a:pt x="11976399" y="0"/>
                </a:lnTo>
                <a:lnTo>
                  <a:pt x="11976399" y="7170868"/>
                </a:lnTo>
                <a:lnTo>
                  <a:pt x="0" y="7170868"/>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862822" y="5047488"/>
            <a:ext cx="7750814" cy="1919786"/>
            <a:chOff x="0" y="0"/>
            <a:chExt cx="2041367" cy="505623"/>
          </a:xfrm>
        </p:grpSpPr>
        <p:sp>
          <p:nvSpPr>
            <p:cNvPr id="5" name="Freeform 5"/>
            <p:cNvSpPr/>
            <p:nvPr/>
          </p:nvSpPr>
          <p:spPr>
            <a:xfrm>
              <a:off x="0" y="0"/>
              <a:ext cx="2041367" cy="505623"/>
            </a:xfrm>
            <a:custGeom>
              <a:avLst/>
              <a:gdLst/>
              <a:ahLst/>
              <a:cxnLst/>
              <a:rect l="l" t="t" r="r" b="b"/>
              <a:pathLst>
                <a:path w="2041367" h="505623">
                  <a:moveTo>
                    <a:pt x="31963" y="0"/>
                  </a:moveTo>
                  <a:lnTo>
                    <a:pt x="2009403" y="0"/>
                  </a:lnTo>
                  <a:cubicBezTo>
                    <a:pt x="2017881" y="0"/>
                    <a:pt x="2026011" y="3368"/>
                    <a:pt x="2032005" y="9362"/>
                  </a:cubicBezTo>
                  <a:cubicBezTo>
                    <a:pt x="2037999" y="15356"/>
                    <a:pt x="2041367" y="23486"/>
                    <a:pt x="2041367" y="31963"/>
                  </a:cubicBezTo>
                  <a:lnTo>
                    <a:pt x="2041367" y="473659"/>
                  </a:lnTo>
                  <a:cubicBezTo>
                    <a:pt x="2041367" y="482137"/>
                    <a:pt x="2037999" y="490267"/>
                    <a:pt x="2032005" y="496261"/>
                  </a:cubicBezTo>
                  <a:cubicBezTo>
                    <a:pt x="2026011" y="502255"/>
                    <a:pt x="2017881" y="505623"/>
                    <a:pt x="2009403" y="505623"/>
                  </a:cubicBezTo>
                  <a:lnTo>
                    <a:pt x="31963" y="505623"/>
                  </a:lnTo>
                  <a:cubicBezTo>
                    <a:pt x="23486" y="505623"/>
                    <a:pt x="15356" y="502255"/>
                    <a:pt x="9362" y="496261"/>
                  </a:cubicBezTo>
                  <a:cubicBezTo>
                    <a:pt x="3368" y="490267"/>
                    <a:pt x="0" y="482137"/>
                    <a:pt x="0" y="473659"/>
                  </a:cubicBezTo>
                  <a:lnTo>
                    <a:pt x="0" y="31963"/>
                  </a:lnTo>
                  <a:cubicBezTo>
                    <a:pt x="0" y="23486"/>
                    <a:pt x="3368" y="15356"/>
                    <a:pt x="9362" y="9362"/>
                  </a:cubicBezTo>
                  <a:cubicBezTo>
                    <a:pt x="15356" y="3368"/>
                    <a:pt x="23486" y="0"/>
                    <a:pt x="31963"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76200"/>
              <a:ext cx="2041367" cy="581823"/>
            </a:xfrm>
            <a:prstGeom prst="rect">
              <a:avLst/>
            </a:prstGeom>
          </p:spPr>
          <p:txBody>
            <a:bodyPr lIns="254000" tIns="254000" rIns="254000" bIns="254000" rtlCol="0" anchor="ctr"/>
            <a:lstStyle/>
            <a:p>
              <a:pPr algn="l">
                <a:lnSpc>
                  <a:spcPts val="4759"/>
                </a:lnSpc>
              </a:pPr>
              <a:r>
                <a:rPr lang="en-US" sz="3399" b="1">
                  <a:solidFill>
                    <a:srgbClr val="F2F7FA"/>
                  </a:solidFill>
                  <a:latin typeface="TT Hoves Bold"/>
                  <a:ea typeface="TT Hoves Bold"/>
                  <a:cs typeface="TT Hoves Bold"/>
                  <a:sym typeface="TT Hoves Bold"/>
                </a:rPr>
                <a:t>Target Variable:</a:t>
              </a:r>
              <a:r>
                <a:rPr lang="en-US" sz="3399">
                  <a:solidFill>
                    <a:srgbClr val="F2F7FA"/>
                  </a:solidFill>
                  <a:latin typeface="TT Hoves"/>
                  <a:ea typeface="TT Hoves"/>
                  <a:cs typeface="TT Hoves"/>
                  <a:sym typeface="TT Hoves"/>
                </a:rPr>
                <a:t> length_of_stay</a:t>
              </a:r>
            </a:p>
          </p:txBody>
        </p:sp>
      </p:grpSp>
      <p:sp>
        <p:nvSpPr>
          <p:cNvPr id="7" name="TextBox 7"/>
          <p:cNvSpPr txBox="1"/>
          <p:nvPr/>
        </p:nvSpPr>
        <p:spPr>
          <a:xfrm>
            <a:off x="11785591" y="178932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D</a:t>
            </a:r>
          </a:p>
        </p:txBody>
      </p:sp>
      <p:sp>
        <p:nvSpPr>
          <p:cNvPr id="8" name="TextBox 8"/>
          <p:cNvSpPr txBox="1"/>
          <p:nvPr/>
        </p:nvSpPr>
        <p:spPr>
          <a:xfrm>
            <a:off x="1028700" y="834344"/>
            <a:ext cx="10310181" cy="1424071"/>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PROBLEM ASSUMPTIONS AND SCOPE</a:t>
            </a:r>
          </a:p>
        </p:txBody>
      </p:sp>
      <p:sp>
        <p:nvSpPr>
          <p:cNvPr id="9" name="TextBox 9"/>
          <p:cNvSpPr txBox="1"/>
          <p:nvPr/>
        </p:nvSpPr>
        <p:spPr>
          <a:xfrm>
            <a:off x="11785591" y="704347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F</a:t>
            </a:r>
          </a:p>
        </p:txBody>
      </p:sp>
      <p:sp>
        <p:nvSpPr>
          <p:cNvPr id="10" name="TextBox 10"/>
          <p:cNvSpPr txBox="1"/>
          <p:nvPr/>
        </p:nvSpPr>
        <p:spPr>
          <a:xfrm>
            <a:off x="1028700" y="2191740"/>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Regression</a:t>
            </a:r>
          </a:p>
        </p:txBody>
      </p:sp>
      <p:grpSp>
        <p:nvGrpSpPr>
          <p:cNvPr id="11" name="Group 11"/>
          <p:cNvGrpSpPr/>
          <p:nvPr/>
        </p:nvGrpSpPr>
        <p:grpSpPr>
          <a:xfrm>
            <a:off x="9540473" y="2244623"/>
            <a:ext cx="7718827" cy="6740976"/>
            <a:chOff x="0" y="0"/>
            <a:chExt cx="2032942" cy="1775401"/>
          </a:xfrm>
        </p:grpSpPr>
        <p:sp>
          <p:nvSpPr>
            <p:cNvPr id="12" name="Freeform 12"/>
            <p:cNvSpPr/>
            <p:nvPr/>
          </p:nvSpPr>
          <p:spPr>
            <a:xfrm>
              <a:off x="0" y="0"/>
              <a:ext cx="2032942" cy="1775401"/>
            </a:xfrm>
            <a:custGeom>
              <a:avLst/>
              <a:gdLst/>
              <a:ahLst/>
              <a:cxnLst/>
              <a:rect l="l" t="t" r="r" b="b"/>
              <a:pathLst>
                <a:path w="2032942" h="1775401">
                  <a:moveTo>
                    <a:pt x="32096" y="0"/>
                  </a:moveTo>
                  <a:lnTo>
                    <a:pt x="2000846" y="0"/>
                  </a:lnTo>
                  <a:cubicBezTo>
                    <a:pt x="2009359" y="0"/>
                    <a:pt x="2017522" y="3382"/>
                    <a:pt x="2023542" y="9401"/>
                  </a:cubicBezTo>
                  <a:cubicBezTo>
                    <a:pt x="2029561" y="15420"/>
                    <a:pt x="2032942" y="23583"/>
                    <a:pt x="2032942" y="32096"/>
                  </a:cubicBezTo>
                  <a:lnTo>
                    <a:pt x="2032942" y="1743305"/>
                  </a:lnTo>
                  <a:cubicBezTo>
                    <a:pt x="2032942" y="1751818"/>
                    <a:pt x="2029561" y="1759981"/>
                    <a:pt x="2023542" y="1766001"/>
                  </a:cubicBezTo>
                  <a:cubicBezTo>
                    <a:pt x="2017522" y="1772020"/>
                    <a:pt x="2009359" y="1775401"/>
                    <a:pt x="2000846" y="1775401"/>
                  </a:cubicBezTo>
                  <a:lnTo>
                    <a:pt x="32096" y="1775401"/>
                  </a:lnTo>
                  <a:cubicBezTo>
                    <a:pt x="23583" y="1775401"/>
                    <a:pt x="15420" y="1772020"/>
                    <a:pt x="9401" y="1766001"/>
                  </a:cubicBezTo>
                  <a:cubicBezTo>
                    <a:pt x="3382" y="1759981"/>
                    <a:pt x="0" y="1751818"/>
                    <a:pt x="0" y="1743305"/>
                  </a:cubicBezTo>
                  <a:lnTo>
                    <a:pt x="0" y="32096"/>
                  </a:lnTo>
                  <a:cubicBezTo>
                    <a:pt x="0" y="23583"/>
                    <a:pt x="3382" y="15420"/>
                    <a:pt x="9401" y="9401"/>
                  </a:cubicBezTo>
                  <a:cubicBezTo>
                    <a:pt x="15420" y="3382"/>
                    <a:pt x="23583" y="0"/>
                    <a:pt x="32096"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3" name="TextBox 13"/>
            <p:cNvSpPr txBox="1"/>
            <p:nvPr/>
          </p:nvSpPr>
          <p:spPr>
            <a:xfrm>
              <a:off x="0" y="-66675"/>
              <a:ext cx="2032942" cy="1842076"/>
            </a:xfrm>
            <a:prstGeom prst="rect">
              <a:avLst/>
            </a:prstGeom>
          </p:spPr>
          <p:txBody>
            <a:bodyPr lIns="254000" tIns="254000" rIns="254000" bIns="254000" rtlCol="0" anchor="ctr"/>
            <a:lstStyle/>
            <a:p>
              <a:pPr algn="l">
                <a:lnSpc>
                  <a:spcPts val="5040"/>
                </a:lnSpc>
              </a:pPr>
              <a:r>
                <a:rPr lang="en-US" sz="3600" b="1">
                  <a:solidFill>
                    <a:srgbClr val="F2F7FA"/>
                  </a:solidFill>
                  <a:latin typeface="TT Hoves Bold"/>
                  <a:ea typeface="TT Hoves Bold"/>
                  <a:cs typeface="TT Hoves Bold"/>
                  <a:sym typeface="TT Hoves Bold"/>
                </a:rPr>
                <a:t>Features: </a:t>
              </a:r>
            </a:p>
            <a:p>
              <a:pPr marL="647700" lvl="1" indent="-323850" algn="l">
                <a:lnSpc>
                  <a:spcPts val="4200"/>
                </a:lnSpc>
                <a:buAutoNum type="arabicPeriod"/>
              </a:pPr>
              <a:r>
                <a:rPr lang="en-US" sz="3000">
                  <a:solidFill>
                    <a:srgbClr val="F2F7FA"/>
                  </a:solidFill>
                  <a:latin typeface="TT Hoves"/>
                  <a:ea typeface="TT Hoves"/>
                  <a:cs typeface="TT Hoves"/>
                  <a:sym typeface="TT Hoves"/>
                </a:rPr>
                <a:t>Race</a:t>
              </a:r>
            </a:p>
            <a:p>
              <a:pPr marL="647700" lvl="1" indent="-323850" algn="l">
                <a:lnSpc>
                  <a:spcPts val="4200"/>
                </a:lnSpc>
                <a:buAutoNum type="arabicPeriod"/>
              </a:pPr>
              <a:r>
                <a:rPr lang="en-US" sz="3000">
                  <a:solidFill>
                    <a:srgbClr val="F2F7FA"/>
                  </a:solidFill>
                  <a:latin typeface="TT Hoves"/>
                  <a:ea typeface="TT Hoves"/>
                  <a:cs typeface="TT Hoves"/>
                  <a:sym typeface="TT Hoves"/>
                </a:rPr>
                <a:t>Gender</a:t>
              </a:r>
            </a:p>
            <a:p>
              <a:pPr marL="647700" lvl="1" indent="-323850" algn="l">
                <a:lnSpc>
                  <a:spcPts val="4200"/>
                </a:lnSpc>
                <a:buAutoNum type="arabicPeriod"/>
              </a:pPr>
              <a:r>
                <a:rPr lang="en-US" sz="3000">
                  <a:solidFill>
                    <a:srgbClr val="F2F7FA"/>
                  </a:solidFill>
                  <a:latin typeface="TT Hoves"/>
                  <a:ea typeface="TT Hoves"/>
                  <a:cs typeface="TT Hoves"/>
                  <a:sym typeface="TT Hoves"/>
                </a:rPr>
                <a:t>Age</a:t>
              </a:r>
            </a:p>
            <a:p>
              <a:pPr marL="647700" lvl="1" indent="-323850" algn="l">
                <a:lnSpc>
                  <a:spcPts val="4200"/>
                </a:lnSpc>
                <a:buAutoNum type="arabicPeriod"/>
              </a:pPr>
              <a:r>
                <a:rPr lang="en-US" sz="3000">
                  <a:solidFill>
                    <a:srgbClr val="F2F7FA"/>
                  </a:solidFill>
                  <a:latin typeface="TT Hoves"/>
                  <a:ea typeface="TT Hoves"/>
                  <a:cs typeface="TT Hoves"/>
                  <a:sym typeface="TT Hoves"/>
                </a:rPr>
                <a:t>Admission type/source</a:t>
              </a:r>
            </a:p>
            <a:p>
              <a:pPr marL="647700" lvl="1" indent="-323850" algn="l">
                <a:lnSpc>
                  <a:spcPts val="4200"/>
                </a:lnSpc>
                <a:buAutoNum type="arabicPeriod"/>
              </a:pPr>
              <a:r>
                <a:rPr lang="en-US" sz="3000">
                  <a:solidFill>
                    <a:srgbClr val="F2F7FA"/>
                  </a:solidFill>
                  <a:latin typeface="TT Hoves"/>
                  <a:ea typeface="TT Hoves"/>
                  <a:cs typeface="TT Hoves"/>
                  <a:sym typeface="TT Hoves"/>
                </a:rPr>
                <a:t>Primary Diagnosis</a:t>
              </a:r>
            </a:p>
            <a:p>
              <a:pPr marL="647700" lvl="1" indent="-323850" algn="l">
                <a:lnSpc>
                  <a:spcPts val="4200"/>
                </a:lnSpc>
                <a:buAutoNum type="arabicPeriod"/>
              </a:pPr>
              <a:r>
                <a:rPr lang="en-US" sz="3000">
                  <a:solidFill>
                    <a:srgbClr val="F2F7FA"/>
                  </a:solidFill>
                  <a:latin typeface="TT Hoves"/>
                  <a:ea typeface="TT Hoves"/>
                  <a:cs typeface="TT Hoves"/>
                  <a:sym typeface="TT Hoves"/>
                </a:rPr>
                <a:t>Total Prior Visits</a:t>
              </a:r>
            </a:p>
            <a:p>
              <a:pPr marL="647700" lvl="1" indent="-323850" algn="l">
                <a:lnSpc>
                  <a:spcPts val="4200"/>
                </a:lnSpc>
                <a:buAutoNum type="arabicPeriod"/>
              </a:pPr>
              <a:r>
                <a:rPr lang="en-US" sz="3000">
                  <a:solidFill>
                    <a:srgbClr val="F2F7FA"/>
                  </a:solidFill>
                  <a:latin typeface="TT Hoves"/>
                  <a:ea typeface="TT Hoves"/>
                  <a:cs typeface="TT Hoves"/>
                  <a:sym typeface="TT Hoves"/>
                </a:rPr>
                <a:t>Number of Medication/Procedures</a:t>
              </a:r>
            </a:p>
            <a:p>
              <a:pPr marL="647700" lvl="1" indent="-323850" algn="l">
                <a:lnSpc>
                  <a:spcPts val="4200"/>
                </a:lnSpc>
                <a:buAutoNum type="arabicPeriod"/>
              </a:pPr>
              <a:r>
                <a:rPr lang="en-US" sz="3000">
                  <a:solidFill>
                    <a:srgbClr val="F2F7FA"/>
                  </a:solidFill>
                  <a:latin typeface="TT Hoves"/>
                  <a:ea typeface="TT Hoves"/>
                  <a:cs typeface="TT Hoves"/>
                  <a:sym typeface="TT Hoves"/>
                </a:rPr>
                <a:t>Number of inpatient/outpatient/emergency</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8410460">
            <a:off x="1935723" y="-5126712"/>
            <a:ext cx="11976399" cy="7170869"/>
          </a:xfrm>
          <a:custGeom>
            <a:avLst/>
            <a:gdLst/>
            <a:ahLst/>
            <a:cxnLst/>
            <a:rect l="l" t="t" r="r" b="b"/>
            <a:pathLst>
              <a:path w="11976399" h="7170869">
                <a:moveTo>
                  <a:pt x="0" y="0"/>
                </a:moveTo>
                <a:lnTo>
                  <a:pt x="11976399" y="0"/>
                </a:lnTo>
                <a:lnTo>
                  <a:pt x="11976399" y="7170868"/>
                </a:lnTo>
                <a:lnTo>
                  <a:pt x="0" y="7170868"/>
                </a:lnTo>
                <a:lnTo>
                  <a:pt x="0" y="0"/>
                </a:lnTo>
                <a:close/>
              </a:path>
            </a:pathLst>
          </a:custGeom>
          <a:blipFill>
            <a:blip r:embed="rId2"/>
            <a:stretch>
              <a:fillRect/>
            </a:stretch>
          </a:blipFill>
        </p:spPr>
        <p:txBody>
          <a:bodyPr/>
          <a:lstStyle/>
          <a:p>
            <a:endParaRPr lang="zh-SG" altLang="en-US"/>
          </a:p>
        </p:txBody>
      </p:sp>
      <p:grpSp>
        <p:nvGrpSpPr>
          <p:cNvPr id="3" name="Group 3"/>
          <p:cNvGrpSpPr/>
          <p:nvPr/>
        </p:nvGrpSpPr>
        <p:grpSpPr>
          <a:xfrm>
            <a:off x="1028700" y="1028700"/>
            <a:ext cx="5473709" cy="2427050"/>
            <a:chOff x="0" y="0"/>
            <a:chExt cx="1441635" cy="639223"/>
          </a:xfrm>
        </p:grpSpPr>
        <p:sp>
          <p:nvSpPr>
            <p:cNvPr id="4" name="Freeform 4"/>
            <p:cNvSpPr/>
            <p:nvPr/>
          </p:nvSpPr>
          <p:spPr>
            <a:xfrm>
              <a:off x="0" y="0"/>
              <a:ext cx="1441635" cy="639223"/>
            </a:xfrm>
            <a:custGeom>
              <a:avLst/>
              <a:gdLst/>
              <a:ahLst/>
              <a:cxnLst/>
              <a:rect l="l" t="t" r="r" b="b"/>
              <a:pathLst>
                <a:path w="1441635" h="639223">
                  <a:moveTo>
                    <a:pt x="45260" y="0"/>
                  </a:moveTo>
                  <a:lnTo>
                    <a:pt x="1396375" y="0"/>
                  </a:lnTo>
                  <a:cubicBezTo>
                    <a:pt x="1421372" y="0"/>
                    <a:pt x="1441635" y="20264"/>
                    <a:pt x="1441635" y="45260"/>
                  </a:cubicBezTo>
                  <a:lnTo>
                    <a:pt x="1441635" y="593963"/>
                  </a:lnTo>
                  <a:cubicBezTo>
                    <a:pt x="1441635" y="618959"/>
                    <a:pt x="1421372" y="639223"/>
                    <a:pt x="1396375" y="639223"/>
                  </a:cubicBezTo>
                  <a:lnTo>
                    <a:pt x="45260" y="639223"/>
                  </a:lnTo>
                  <a:cubicBezTo>
                    <a:pt x="20264" y="639223"/>
                    <a:pt x="0" y="618959"/>
                    <a:pt x="0" y="593963"/>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5" name="TextBox 5"/>
            <p:cNvSpPr txBox="1"/>
            <p:nvPr/>
          </p:nvSpPr>
          <p:spPr>
            <a:xfrm>
              <a:off x="0" y="-57150"/>
              <a:ext cx="1441635" cy="696373"/>
            </a:xfrm>
            <a:prstGeom prst="rect">
              <a:avLst/>
            </a:prstGeom>
          </p:spPr>
          <p:txBody>
            <a:bodyPr lIns="50800" tIns="50800" rIns="50800" bIns="50800" rtlCol="0" anchor="ctr"/>
            <a:lstStyle/>
            <a:p>
              <a:pPr algn="ctr">
                <a:lnSpc>
                  <a:spcPts val="3639"/>
                </a:lnSpc>
              </a:pPr>
              <a:endParaRPr/>
            </a:p>
          </p:txBody>
        </p:sp>
      </p:grpSp>
      <p:grpSp>
        <p:nvGrpSpPr>
          <p:cNvPr id="6" name="Group 6"/>
          <p:cNvGrpSpPr/>
          <p:nvPr/>
        </p:nvGrpSpPr>
        <p:grpSpPr>
          <a:xfrm>
            <a:off x="6359354" y="6310795"/>
            <a:ext cx="5473709" cy="2431846"/>
            <a:chOff x="0" y="0"/>
            <a:chExt cx="1441635" cy="640486"/>
          </a:xfrm>
        </p:grpSpPr>
        <p:sp>
          <p:nvSpPr>
            <p:cNvPr id="7" name="Freeform 7"/>
            <p:cNvSpPr/>
            <p:nvPr/>
          </p:nvSpPr>
          <p:spPr>
            <a:xfrm>
              <a:off x="0" y="0"/>
              <a:ext cx="1441635" cy="640486"/>
            </a:xfrm>
            <a:custGeom>
              <a:avLst/>
              <a:gdLst/>
              <a:ahLst/>
              <a:cxnLst/>
              <a:rect l="l" t="t" r="r" b="b"/>
              <a:pathLst>
                <a:path w="1441635" h="640486">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8" name="TextBox 8"/>
            <p:cNvSpPr txBox="1"/>
            <p:nvPr/>
          </p:nvSpPr>
          <p:spPr>
            <a:xfrm>
              <a:off x="0" y="-57150"/>
              <a:ext cx="1441635" cy="697636"/>
            </a:xfrm>
            <a:prstGeom prst="rect">
              <a:avLst/>
            </a:prstGeom>
          </p:spPr>
          <p:txBody>
            <a:bodyPr lIns="50800" tIns="50800" rIns="50800" bIns="50800" rtlCol="0" anchor="ctr"/>
            <a:lstStyle/>
            <a:p>
              <a:pPr algn="ctr">
                <a:lnSpc>
                  <a:spcPts val="3639"/>
                </a:lnSpc>
              </a:pPr>
              <a:endParaRPr/>
            </a:p>
          </p:txBody>
        </p:sp>
      </p:grpSp>
      <p:grpSp>
        <p:nvGrpSpPr>
          <p:cNvPr id="9" name="Group 9"/>
          <p:cNvGrpSpPr/>
          <p:nvPr/>
        </p:nvGrpSpPr>
        <p:grpSpPr>
          <a:xfrm>
            <a:off x="11785591" y="1028700"/>
            <a:ext cx="5473709" cy="2431846"/>
            <a:chOff x="0" y="0"/>
            <a:chExt cx="1441635" cy="640486"/>
          </a:xfrm>
        </p:grpSpPr>
        <p:sp>
          <p:nvSpPr>
            <p:cNvPr id="10" name="Freeform 10"/>
            <p:cNvSpPr/>
            <p:nvPr/>
          </p:nvSpPr>
          <p:spPr>
            <a:xfrm>
              <a:off x="0" y="0"/>
              <a:ext cx="1441635" cy="640486"/>
            </a:xfrm>
            <a:custGeom>
              <a:avLst/>
              <a:gdLst/>
              <a:ahLst/>
              <a:cxnLst/>
              <a:rect l="l" t="t" r="r" b="b"/>
              <a:pathLst>
                <a:path w="1441635" h="640486">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1" name="TextBox 11"/>
            <p:cNvSpPr txBox="1"/>
            <p:nvPr/>
          </p:nvSpPr>
          <p:spPr>
            <a:xfrm>
              <a:off x="0" y="-57150"/>
              <a:ext cx="1441635" cy="697636"/>
            </a:xfrm>
            <a:prstGeom prst="rect">
              <a:avLst/>
            </a:prstGeom>
          </p:spPr>
          <p:txBody>
            <a:bodyPr lIns="50800" tIns="50800" rIns="50800" bIns="50800" rtlCol="0" anchor="ctr"/>
            <a:lstStyle/>
            <a:p>
              <a:pPr algn="ctr">
                <a:lnSpc>
                  <a:spcPts val="3639"/>
                </a:lnSpc>
              </a:pPr>
              <a:endParaRPr/>
            </a:p>
          </p:txBody>
        </p:sp>
      </p:grpSp>
      <p:sp>
        <p:nvSpPr>
          <p:cNvPr id="12" name="TextBox 12"/>
          <p:cNvSpPr txBox="1"/>
          <p:nvPr/>
        </p:nvSpPr>
        <p:spPr>
          <a:xfrm>
            <a:off x="1028700" y="178932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1</a:t>
            </a:r>
          </a:p>
        </p:txBody>
      </p:sp>
      <p:sp>
        <p:nvSpPr>
          <p:cNvPr id="13" name="TextBox 13"/>
          <p:cNvSpPr txBox="1"/>
          <p:nvPr/>
        </p:nvSpPr>
        <p:spPr>
          <a:xfrm>
            <a:off x="11785591" y="1817268"/>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2</a:t>
            </a:r>
          </a:p>
        </p:txBody>
      </p:sp>
      <p:grpSp>
        <p:nvGrpSpPr>
          <p:cNvPr id="14" name="Group 14"/>
          <p:cNvGrpSpPr/>
          <p:nvPr/>
        </p:nvGrpSpPr>
        <p:grpSpPr>
          <a:xfrm>
            <a:off x="6591555" y="3945293"/>
            <a:ext cx="5009307" cy="1193970"/>
            <a:chOff x="0" y="0"/>
            <a:chExt cx="6679077" cy="1591960"/>
          </a:xfrm>
        </p:grpSpPr>
        <p:sp>
          <p:nvSpPr>
            <p:cNvPr id="15" name="TextBox 15"/>
            <p:cNvSpPr txBox="1"/>
            <p:nvPr/>
          </p:nvSpPr>
          <p:spPr>
            <a:xfrm>
              <a:off x="0" y="47625"/>
              <a:ext cx="6679077" cy="1040491"/>
            </a:xfrm>
            <a:prstGeom prst="rect">
              <a:avLst/>
            </a:prstGeom>
          </p:spPr>
          <p:txBody>
            <a:bodyPr lIns="0" tIns="0" rIns="0" bIns="0" rtlCol="0" anchor="t">
              <a:spAutoFit/>
            </a:bodyPr>
            <a:lstStyle/>
            <a:p>
              <a:pPr algn="ctr">
                <a:lnSpc>
                  <a:spcPts val="5221"/>
                </a:lnSpc>
              </a:pPr>
              <a:r>
                <a:rPr lang="en-US" sz="5383" b="1">
                  <a:solidFill>
                    <a:srgbClr val="343434"/>
                  </a:solidFill>
                  <a:latin typeface="Telegraf Bold"/>
                  <a:ea typeface="Telegraf Bold"/>
                  <a:cs typeface="Telegraf Bold"/>
                  <a:sym typeface="Telegraf Bold"/>
                </a:rPr>
                <a:t>MODELS</a:t>
              </a:r>
            </a:p>
          </p:txBody>
        </p:sp>
        <p:sp>
          <p:nvSpPr>
            <p:cNvPr id="16" name="TextBox 16"/>
            <p:cNvSpPr txBox="1"/>
            <p:nvPr/>
          </p:nvSpPr>
          <p:spPr>
            <a:xfrm>
              <a:off x="0" y="1026753"/>
              <a:ext cx="6679077" cy="565206"/>
            </a:xfrm>
            <a:prstGeom prst="rect">
              <a:avLst/>
            </a:prstGeom>
          </p:spPr>
          <p:txBody>
            <a:bodyPr lIns="0" tIns="0" rIns="0" bIns="0" rtlCol="0" anchor="t">
              <a:spAutoFit/>
            </a:bodyPr>
            <a:lstStyle/>
            <a:p>
              <a:pPr algn="ctr">
                <a:lnSpc>
                  <a:spcPts val="3389"/>
                </a:lnSpc>
                <a:spcBef>
                  <a:spcPct val="0"/>
                </a:spcBef>
              </a:pPr>
              <a:r>
                <a:rPr lang="en-US" sz="2420" spc="58">
                  <a:solidFill>
                    <a:srgbClr val="343434"/>
                  </a:solidFill>
                  <a:latin typeface="Telegraf"/>
                  <a:ea typeface="Telegraf"/>
                  <a:cs typeface="Telegraf"/>
                  <a:sym typeface="Telegraf"/>
                </a:rPr>
                <a:t>REGRESSION TASK</a:t>
              </a:r>
            </a:p>
          </p:txBody>
        </p:sp>
      </p:grpSp>
      <p:sp>
        <p:nvSpPr>
          <p:cNvPr id="17" name="TextBox 17"/>
          <p:cNvSpPr txBox="1"/>
          <p:nvPr/>
        </p:nvSpPr>
        <p:spPr>
          <a:xfrm>
            <a:off x="2526047" y="1645818"/>
            <a:ext cx="3587842" cy="1102361"/>
          </a:xfrm>
          <a:prstGeom prst="rect">
            <a:avLst/>
          </a:prstGeom>
        </p:spPr>
        <p:txBody>
          <a:bodyPr lIns="0" tIns="0" rIns="0" bIns="0" rtlCol="0" anchor="t">
            <a:spAutoFit/>
          </a:bodyPr>
          <a:lstStyle/>
          <a:p>
            <a:pPr algn="just">
              <a:lnSpc>
                <a:spcPts val="4339"/>
              </a:lnSpc>
              <a:spcBef>
                <a:spcPct val="0"/>
              </a:spcBef>
            </a:pPr>
            <a:r>
              <a:rPr lang="en-US" sz="3099" spc="154">
                <a:solidFill>
                  <a:srgbClr val="F2F7FA"/>
                </a:solidFill>
                <a:latin typeface="Telegraf"/>
                <a:ea typeface="Telegraf"/>
                <a:cs typeface="Telegraf"/>
                <a:sym typeface="Telegraf"/>
              </a:rPr>
              <a:t>Linear Regression</a:t>
            </a:r>
          </a:p>
        </p:txBody>
      </p:sp>
      <p:sp>
        <p:nvSpPr>
          <p:cNvPr id="18" name="TextBox 18"/>
          <p:cNvSpPr txBox="1"/>
          <p:nvPr/>
        </p:nvSpPr>
        <p:spPr>
          <a:xfrm>
            <a:off x="6113889" y="7099363"/>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3</a:t>
            </a:r>
          </a:p>
        </p:txBody>
      </p:sp>
      <p:sp>
        <p:nvSpPr>
          <p:cNvPr id="19" name="TextBox 19"/>
          <p:cNvSpPr txBox="1"/>
          <p:nvPr/>
        </p:nvSpPr>
        <p:spPr>
          <a:xfrm>
            <a:off x="11785591" y="704347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4</a:t>
            </a:r>
          </a:p>
        </p:txBody>
      </p:sp>
      <p:sp>
        <p:nvSpPr>
          <p:cNvPr id="20" name="AutoShape 20"/>
          <p:cNvSpPr/>
          <p:nvPr/>
        </p:nvSpPr>
        <p:spPr>
          <a:xfrm>
            <a:off x="6502409" y="2242225"/>
            <a:ext cx="5283182" cy="30342"/>
          </a:xfrm>
          <a:prstGeom prst="line">
            <a:avLst/>
          </a:prstGeom>
          <a:ln w="19050" cap="flat">
            <a:solidFill>
              <a:srgbClr val="164B82"/>
            </a:solidFill>
            <a:prstDash val="sysDash"/>
            <a:headEnd type="oval" w="lg" len="lg"/>
            <a:tailEnd type="oval" w="lg" len="lg"/>
          </a:ln>
        </p:spPr>
        <p:txBody>
          <a:bodyPr/>
          <a:lstStyle/>
          <a:p>
            <a:endParaRPr lang="zh-SG" altLang="en-US"/>
          </a:p>
        </p:txBody>
      </p:sp>
      <p:sp>
        <p:nvSpPr>
          <p:cNvPr id="21" name="AutoShape 21"/>
          <p:cNvSpPr/>
          <p:nvPr/>
        </p:nvSpPr>
        <p:spPr>
          <a:xfrm>
            <a:off x="6502409" y="4871699"/>
            <a:ext cx="446710" cy="0"/>
          </a:xfrm>
          <a:prstGeom prst="line">
            <a:avLst/>
          </a:prstGeom>
          <a:ln w="19050" cap="flat">
            <a:solidFill>
              <a:srgbClr val="164B82"/>
            </a:solidFill>
            <a:prstDash val="sysDash"/>
            <a:headEnd type="oval" w="lg" len="lg"/>
            <a:tailEnd type="oval" w="lg" len="lg"/>
          </a:ln>
        </p:spPr>
        <p:txBody>
          <a:bodyPr/>
          <a:lstStyle/>
          <a:p>
            <a:endParaRPr lang="zh-SG" altLang="en-US"/>
          </a:p>
        </p:txBody>
      </p:sp>
      <p:sp>
        <p:nvSpPr>
          <p:cNvPr id="22" name="AutoShape 22"/>
          <p:cNvSpPr/>
          <p:nvPr/>
        </p:nvSpPr>
        <p:spPr>
          <a:xfrm flipV="1">
            <a:off x="11338881" y="4871699"/>
            <a:ext cx="446710" cy="0"/>
          </a:xfrm>
          <a:prstGeom prst="line">
            <a:avLst/>
          </a:prstGeom>
          <a:ln w="19050" cap="flat">
            <a:solidFill>
              <a:srgbClr val="164B82"/>
            </a:solidFill>
            <a:prstDash val="sysDash"/>
            <a:headEnd type="oval" w="lg" len="lg"/>
            <a:tailEnd type="oval" w="lg" len="lg"/>
          </a:ln>
        </p:spPr>
        <p:txBody>
          <a:bodyPr/>
          <a:lstStyle/>
          <a:p>
            <a:endParaRPr lang="zh-SG" altLang="en-US"/>
          </a:p>
        </p:txBody>
      </p:sp>
      <p:sp>
        <p:nvSpPr>
          <p:cNvPr id="23" name="TextBox 23"/>
          <p:cNvSpPr txBox="1"/>
          <p:nvPr/>
        </p:nvSpPr>
        <p:spPr>
          <a:xfrm>
            <a:off x="13488734" y="1673762"/>
            <a:ext cx="4396495" cy="1102361"/>
          </a:xfrm>
          <a:prstGeom prst="rect">
            <a:avLst/>
          </a:prstGeom>
        </p:spPr>
        <p:txBody>
          <a:bodyPr lIns="0" tIns="0" rIns="0" bIns="0" rtlCol="0" anchor="t">
            <a:spAutoFit/>
          </a:bodyPr>
          <a:lstStyle/>
          <a:p>
            <a:pPr algn="l">
              <a:lnSpc>
                <a:spcPts val="4339"/>
              </a:lnSpc>
              <a:spcBef>
                <a:spcPct val="0"/>
              </a:spcBef>
            </a:pPr>
            <a:r>
              <a:rPr lang="en-US" sz="3099" spc="154">
                <a:solidFill>
                  <a:srgbClr val="F2F7FA"/>
                </a:solidFill>
                <a:latin typeface="Telegraf"/>
                <a:ea typeface="Telegraf"/>
                <a:cs typeface="Telegraf"/>
                <a:sym typeface="Telegraf"/>
              </a:rPr>
              <a:t>Random Forest Regressor</a:t>
            </a:r>
          </a:p>
        </p:txBody>
      </p:sp>
      <p:sp>
        <p:nvSpPr>
          <p:cNvPr id="24" name="TextBox 24"/>
          <p:cNvSpPr txBox="1"/>
          <p:nvPr/>
        </p:nvSpPr>
        <p:spPr>
          <a:xfrm>
            <a:off x="7437363" y="6927913"/>
            <a:ext cx="4395700" cy="1102361"/>
          </a:xfrm>
          <a:prstGeom prst="rect">
            <a:avLst/>
          </a:prstGeom>
        </p:spPr>
        <p:txBody>
          <a:bodyPr lIns="0" tIns="0" rIns="0" bIns="0" rtlCol="0" anchor="t">
            <a:spAutoFit/>
          </a:bodyPr>
          <a:lstStyle/>
          <a:p>
            <a:pPr algn="l">
              <a:lnSpc>
                <a:spcPts val="4339"/>
              </a:lnSpc>
              <a:spcBef>
                <a:spcPct val="0"/>
              </a:spcBef>
            </a:pPr>
            <a:r>
              <a:rPr lang="en-US" sz="3099" spc="154">
                <a:solidFill>
                  <a:srgbClr val="F2F7FA"/>
                </a:solidFill>
                <a:latin typeface="Telegraf"/>
                <a:ea typeface="Telegraf"/>
                <a:cs typeface="Telegraf"/>
                <a:sym typeface="Telegraf"/>
              </a:rPr>
              <a:t>HistGradientBoostingRegressor</a:t>
            </a:r>
          </a:p>
        </p:txBody>
      </p:sp>
      <p:sp>
        <p:nvSpPr>
          <p:cNvPr id="25" name="TextBox 25"/>
          <p:cNvSpPr txBox="1"/>
          <p:nvPr/>
        </p:nvSpPr>
        <p:spPr>
          <a:xfrm>
            <a:off x="13282938" y="6927913"/>
            <a:ext cx="3587842" cy="1102361"/>
          </a:xfrm>
          <a:prstGeom prst="rect">
            <a:avLst/>
          </a:prstGeom>
        </p:spPr>
        <p:txBody>
          <a:bodyPr lIns="0" tIns="0" rIns="0" bIns="0" rtlCol="0" anchor="t">
            <a:spAutoFit/>
          </a:bodyPr>
          <a:lstStyle/>
          <a:p>
            <a:pPr algn="l">
              <a:lnSpc>
                <a:spcPts val="4339"/>
              </a:lnSpc>
            </a:pPr>
            <a:r>
              <a:rPr lang="en-US" sz="3099" spc="154">
                <a:solidFill>
                  <a:srgbClr val="F2F7FA"/>
                </a:solidFill>
                <a:latin typeface="Telegraf"/>
                <a:ea typeface="Telegraf"/>
                <a:cs typeface="Telegraf"/>
                <a:sym typeface="Telegraf"/>
              </a:rPr>
              <a:t>XGBoost </a:t>
            </a:r>
          </a:p>
          <a:p>
            <a:pPr algn="l">
              <a:lnSpc>
                <a:spcPts val="4339"/>
              </a:lnSpc>
              <a:spcBef>
                <a:spcPct val="0"/>
              </a:spcBef>
            </a:pPr>
            <a:r>
              <a:rPr lang="en-US" sz="3099" spc="154">
                <a:solidFill>
                  <a:srgbClr val="F2F7FA"/>
                </a:solidFill>
                <a:latin typeface="Telegraf"/>
                <a:ea typeface="Telegraf"/>
                <a:cs typeface="Telegraf"/>
                <a:sym typeface="Telegraf"/>
              </a:rPr>
              <a:t>Classifier</a:t>
            </a:r>
          </a:p>
        </p:txBody>
      </p:sp>
      <p:sp>
        <p:nvSpPr>
          <p:cNvPr id="26" name="Freeform 26"/>
          <p:cNvSpPr/>
          <p:nvPr/>
        </p:nvSpPr>
        <p:spPr>
          <a:xfrm rot="225008">
            <a:off x="1573248" y="8973281"/>
            <a:ext cx="12701350" cy="5382197"/>
          </a:xfrm>
          <a:custGeom>
            <a:avLst/>
            <a:gdLst/>
            <a:ahLst/>
            <a:cxnLst/>
            <a:rect l="l" t="t" r="r" b="b"/>
            <a:pathLst>
              <a:path w="12701350" h="5382197">
                <a:moveTo>
                  <a:pt x="0" y="0"/>
                </a:moveTo>
                <a:lnTo>
                  <a:pt x="12701349" y="0"/>
                </a:lnTo>
                <a:lnTo>
                  <a:pt x="12701349" y="5382197"/>
                </a:lnTo>
                <a:lnTo>
                  <a:pt x="0" y="5382197"/>
                </a:lnTo>
                <a:lnTo>
                  <a:pt x="0" y="0"/>
                </a:lnTo>
                <a:close/>
              </a:path>
            </a:pathLst>
          </a:custGeom>
          <a:blipFill>
            <a:blip r:embed="rId3"/>
            <a:stretch>
              <a:fillRect/>
            </a:stretch>
          </a:blipFill>
        </p:spPr>
        <p:txBody>
          <a:bodyPr/>
          <a:lstStyle/>
          <a:p>
            <a:endParaRPr lang="zh-SG"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Regression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1</a:t>
            </a:r>
          </a:p>
        </p:txBody>
      </p:sp>
      <p:sp>
        <p:nvSpPr>
          <p:cNvPr id="16" name="TextBox 16"/>
          <p:cNvSpPr txBox="1"/>
          <p:nvPr/>
        </p:nvSpPr>
        <p:spPr>
          <a:xfrm>
            <a:off x="14051349" y="978708"/>
            <a:ext cx="3587842" cy="1102361"/>
          </a:xfrm>
          <a:prstGeom prst="rect">
            <a:avLst/>
          </a:prstGeom>
        </p:spPr>
        <p:txBody>
          <a:bodyPr lIns="0" tIns="0" rIns="0" bIns="0" rtlCol="0" anchor="t">
            <a:spAutoFit/>
          </a:bodyPr>
          <a:lstStyle/>
          <a:p>
            <a:pPr algn="just">
              <a:lnSpc>
                <a:spcPts val="4339"/>
              </a:lnSpc>
              <a:spcBef>
                <a:spcPct val="0"/>
              </a:spcBef>
            </a:pPr>
            <a:r>
              <a:rPr lang="en-US" sz="3099" spc="154">
                <a:solidFill>
                  <a:srgbClr val="F2F7FA"/>
                </a:solidFill>
                <a:latin typeface="Telegraf"/>
                <a:ea typeface="Telegraf"/>
                <a:cs typeface="Telegraf"/>
                <a:sym typeface="Telegraf"/>
              </a:rPr>
              <a:t>Linear Regression</a:t>
            </a:r>
          </a:p>
        </p:txBody>
      </p:sp>
      <p:graphicFrame>
        <p:nvGraphicFramePr>
          <p:cNvPr id="17" name="表格 16">
            <a:extLst>
              <a:ext uri="{FF2B5EF4-FFF2-40B4-BE49-F238E27FC236}">
                <a16:creationId xmlns:a16="http://schemas.microsoft.com/office/drawing/2014/main" id="{3A4B01CC-ECA2-7429-7C10-0C5B63F54A9B}"/>
              </a:ext>
            </a:extLst>
          </p:cNvPr>
          <p:cNvGraphicFramePr>
            <a:graphicFrameLocks noGrp="1"/>
          </p:cNvGraphicFramePr>
          <p:nvPr>
            <p:extLst>
              <p:ext uri="{D42A27DB-BD31-4B8C-83A1-F6EECF244321}">
                <p14:modId xmlns:p14="http://schemas.microsoft.com/office/powerpoint/2010/main" val="1014577452"/>
              </p:ext>
            </p:extLst>
          </p:nvPr>
        </p:nvGraphicFramePr>
        <p:xfrm>
          <a:off x="2502708" y="3157460"/>
          <a:ext cx="13118292" cy="5595004"/>
        </p:xfrm>
        <a:graphic>
          <a:graphicData uri="http://schemas.openxmlformats.org/drawingml/2006/table">
            <a:tbl>
              <a:tblPr/>
              <a:tblGrid>
                <a:gridCol w="4372764">
                  <a:extLst>
                    <a:ext uri="{9D8B030D-6E8A-4147-A177-3AD203B41FA5}">
                      <a16:colId xmlns:a16="http://schemas.microsoft.com/office/drawing/2014/main" val="842923024"/>
                    </a:ext>
                  </a:extLst>
                </a:gridCol>
                <a:gridCol w="4372764">
                  <a:extLst>
                    <a:ext uri="{9D8B030D-6E8A-4147-A177-3AD203B41FA5}">
                      <a16:colId xmlns:a16="http://schemas.microsoft.com/office/drawing/2014/main" val="1843785640"/>
                    </a:ext>
                  </a:extLst>
                </a:gridCol>
                <a:gridCol w="4372764">
                  <a:extLst>
                    <a:ext uri="{9D8B030D-6E8A-4147-A177-3AD203B41FA5}">
                      <a16:colId xmlns:a16="http://schemas.microsoft.com/office/drawing/2014/main" val="331752426"/>
                    </a:ext>
                  </a:extLst>
                </a:gridCol>
              </a:tblGrid>
              <a:tr h="1398751">
                <a:tc>
                  <a:txBody>
                    <a:bodyPr/>
                    <a:lstStyle/>
                    <a:p>
                      <a:pPr algn="ctr">
                        <a:buNone/>
                      </a:pPr>
                      <a:r>
                        <a:rPr lang="en-SG" sz="3200" dirty="0">
                          <a:effectLst/>
                        </a:rPr>
                        <a:t>Regression Metrics</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600" dirty="0">
                          <a:effectLst/>
                        </a:rPr>
                        <a:t>TEST</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600">
                          <a:effectLst/>
                        </a:rPr>
                        <a:t>TRAIN</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75093239"/>
                  </a:ext>
                </a:extLst>
              </a:tr>
              <a:tr h="1398751">
                <a:tc>
                  <a:txBody>
                    <a:bodyPr/>
                    <a:lstStyle/>
                    <a:p>
                      <a:pPr algn="ctr">
                        <a:buNone/>
                      </a:pPr>
                      <a:r>
                        <a:rPr lang="en-SG" sz="3200" dirty="0">
                          <a:effectLst/>
                        </a:rPr>
                        <a:t>R-squared</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600" dirty="0">
                          <a:effectLst/>
                        </a:rPr>
                        <a:t>0.3256</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600">
                          <a:effectLst/>
                        </a:rPr>
                        <a:t>0.3305</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11880545"/>
                  </a:ext>
                </a:extLst>
              </a:tr>
              <a:tr h="1398751">
                <a:tc>
                  <a:txBody>
                    <a:bodyPr/>
                    <a:lstStyle/>
                    <a:p>
                      <a:pPr algn="ctr">
                        <a:buNone/>
                      </a:pPr>
                      <a:r>
                        <a:rPr lang="en-SG" sz="3200" dirty="0">
                          <a:effectLst/>
                        </a:rPr>
                        <a:t>Mean Absolute Error</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600">
                          <a:effectLst/>
                        </a:rPr>
                        <a:t>1.8321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600" dirty="0">
                          <a:effectLst/>
                        </a:rPr>
                        <a:t>1.824</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98333154"/>
                  </a:ext>
                </a:extLst>
              </a:tr>
              <a:tr h="1398751">
                <a:tc>
                  <a:txBody>
                    <a:bodyPr/>
                    <a:lstStyle/>
                    <a:p>
                      <a:pPr algn="ctr">
                        <a:buNone/>
                      </a:pPr>
                      <a:r>
                        <a:rPr lang="en-SG" sz="3200" dirty="0">
                          <a:effectLst/>
                        </a:rPr>
                        <a:t>Root Mean Squared Error</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600">
                          <a:effectLst/>
                        </a:rPr>
                        <a:t>2.4182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600" dirty="0">
                          <a:effectLst/>
                        </a:rPr>
                        <a:t>2.4011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52194306"/>
                  </a:ext>
                </a:extLst>
              </a:tr>
            </a:tbl>
          </a:graphicData>
        </a:graphic>
      </p:graphicFrame>
      <p:sp>
        <p:nvSpPr>
          <p:cNvPr id="18" name="Rectangle 1">
            <a:extLst>
              <a:ext uri="{FF2B5EF4-FFF2-40B4-BE49-F238E27FC236}">
                <a16:creationId xmlns:a16="http://schemas.microsoft.com/office/drawing/2014/main" id="{0FC0B771-85D0-8D2B-9AFD-285EB8D4265F}"/>
              </a:ext>
            </a:extLst>
          </p:cNvPr>
          <p:cNvSpPr>
            <a:spLocks noChangeArrowheads="1"/>
          </p:cNvSpPr>
          <p:nvPr/>
        </p:nvSpPr>
        <p:spPr bwMode="auto">
          <a:xfrm>
            <a:off x="493713" y="16002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2</a:t>
            </a:r>
          </a:p>
        </p:txBody>
      </p:sp>
      <p:sp>
        <p:nvSpPr>
          <p:cNvPr id="15" name="TextBox 15"/>
          <p:cNvSpPr txBox="1"/>
          <p:nvPr/>
        </p:nvSpPr>
        <p:spPr>
          <a:xfrm>
            <a:off x="14051349" y="978708"/>
            <a:ext cx="3207951" cy="1102361"/>
          </a:xfrm>
          <a:prstGeom prst="rect">
            <a:avLst/>
          </a:prstGeom>
        </p:spPr>
        <p:txBody>
          <a:bodyPr lIns="0" tIns="0" rIns="0" bIns="0" rtlCol="0" anchor="t">
            <a:spAutoFit/>
          </a:bodyPr>
          <a:lstStyle/>
          <a:p>
            <a:pPr algn="just">
              <a:lnSpc>
                <a:spcPts val="4339"/>
              </a:lnSpc>
              <a:spcBef>
                <a:spcPct val="0"/>
              </a:spcBef>
            </a:pPr>
            <a:r>
              <a:rPr lang="en-US" sz="3099" spc="154">
                <a:solidFill>
                  <a:srgbClr val="F2F7FA"/>
                </a:solidFill>
                <a:latin typeface="Telegraf"/>
                <a:ea typeface="Telegraf"/>
                <a:cs typeface="Telegraf"/>
                <a:sym typeface="Telegraf"/>
              </a:rPr>
              <a:t>Random Forest Regressor</a:t>
            </a:r>
          </a:p>
        </p:txBody>
      </p:sp>
      <p:sp>
        <p:nvSpPr>
          <p:cNvPr id="16" name="TextBox 16"/>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Regression</a:t>
            </a:r>
          </a:p>
        </p:txBody>
      </p:sp>
      <p:graphicFrame>
        <p:nvGraphicFramePr>
          <p:cNvPr id="17" name="表格 16">
            <a:extLst>
              <a:ext uri="{FF2B5EF4-FFF2-40B4-BE49-F238E27FC236}">
                <a16:creationId xmlns:a16="http://schemas.microsoft.com/office/drawing/2014/main" id="{E5906AFA-427F-1CB7-356E-ECC77CBDD64C}"/>
              </a:ext>
            </a:extLst>
          </p:cNvPr>
          <p:cNvGraphicFramePr>
            <a:graphicFrameLocks noGrp="1"/>
          </p:cNvGraphicFramePr>
          <p:nvPr>
            <p:extLst>
              <p:ext uri="{D42A27DB-BD31-4B8C-83A1-F6EECF244321}">
                <p14:modId xmlns:p14="http://schemas.microsoft.com/office/powerpoint/2010/main" val="3220783568"/>
              </p:ext>
            </p:extLst>
          </p:nvPr>
        </p:nvGraphicFramePr>
        <p:xfrm>
          <a:off x="1464230" y="3206640"/>
          <a:ext cx="15359540" cy="5540905"/>
        </p:xfrm>
        <a:graphic>
          <a:graphicData uri="http://schemas.openxmlformats.org/drawingml/2006/table">
            <a:tbl>
              <a:tblPr/>
              <a:tblGrid>
                <a:gridCol w="3071908">
                  <a:extLst>
                    <a:ext uri="{9D8B030D-6E8A-4147-A177-3AD203B41FA5}">
                      <a16:colId xmlns:a16="http://schemas.microsoft.com/office/drawing/2014/main" val="2366900680"/>
                    </a:ext>
                  </a:extLst>
                </a:gridCol>
                <a:gridCol w="3071908">
                  <a:extLst>
                    <a:ext uri="{9D8B030D-6E8A-4147-A177-3AD203B41FA5}">
                      <a16:colId xmlns:a16="http://schemas.microsoft.com/office/drawing/2014/main" val="1313031932"/>
                    </a:ext>
                  </a:extLst>
                </a:gridCol>
                <a:gridCol w="3071908">
                  <a:extLst>
                    <a:ext uri="{9D8B030D-6E8A-4147-A177-3AD203B41FA5}">
                      <a16:colId xmlns:a16="http://schemas.microsoft.com/office/drawing/2014/main" val="200315875"/>
                    </a:ext>
                  </a:extLst>
                </a:gridCol>
                <a:gridCol w="3071908">
                  <a:extLst>
                    <a:ext uri="{9D8B030D-6E8A-4147-A177-3AD203B41FA5}">
                      <a16:colId xmlns:a16="http://schemas.microsoft.com/office/drawing/2014/main" val="3559843348"/>
                    </a:ext>
                  </a:extLst>
                </a:gridCol>
                <a:gridCol w="3071908">
                  <a:extLst>
                    <a:ext uri="{9D8B030D-6E8A-4147-A177-3AD203B41FA5}">
                      <a16:colId xmlns:a16="http://schemas.microsoft.com/office/drawing/2014/main" val="2407993360"/>
                    </a:ext>
                  </a:extLst>
                </a:gridCol>
              </a:tblGrid>
              <a:tr h="1108181">
                <a:tc>
                  <a:txBody>
                    <a:bodyPr/>
                    <a:lstStyle/>
                    <a:p>
                      <a:pPr algn="ctr">
                        <a:buNone/>
                      </a:pPr>
                      <a:endParaRPr lang="zh-SG" altLang="en-US" sz="3200">
                        <a:effectLst/>
                      </a:endParaRP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gridSpan="2">
                  <a:txBody>
                    <a:bodyPr/>
                    <a:lstStyle/>
                    <a:p>
                      <a:pPr algn="ctr">
                        <a:buNone/>
                      </a:pPr>
                      <a:r>
                        <a:rPr lang="en-SG" sz="3200" dirty="0">
                          <a:effectLst/>
                        </a:rPr>
                        <a:t>Original Random Forest</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hMerge="1">
                  <a:txBody>
                    <a:bodyPr/>
                    <a:lstStyle/>
                    <a:p>
                      <a:endParaRPr lang="zh-SG" altLang="en-US"/>
                    </a:p>
                  </a:txBody>
                  <a:tcPr/>
                </a:tc>
                <a:tc gridSpan="2">
                  <a:txBody>
                    <a:bodyPr/>
                    <a:lstStyle/>
                    <a:p>
                      <a:pPr algn="ctr">
                        <a:buNone/>
                      </a:pPr>
                      <a:r>
                        <a:rPr lang="en-SG" sz="3200" dirty="0">
                          <a:effectLst/>
                        </a:rPr>
                        <a:t>Tuned Random Forest</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hMerge="1">
                  <a:txBody>
                    <a:bodyPr/>
                    <a:lstStyle/>
                    <a:p>
                      <a:endParaRPr lang="zh-SG" altLang="en-US"/>
                    </a:p>
                  </a:txBody>
                  <a:tcPr/>
                </a:tc>
                <a:extLst>
                  <a:ext uri="{0D108BD9-81ED-4DB2-BD59-A6C34878D82A}">
                    <a16:rowId xmlns:a16="http://schemas.microsoft.com/office/drawing/2014/main" val="1641375187"/>
                  </a:ext>
                </a:extLst>
              </a:tr>
              <a:tr h="1108181">
                <a:tc>
                  <a:txBody>
                    <a:bodyPr/>
                    <a:lstStyle/>
                    <a:p>
                      <a:pPr algn="ctr">
                        <a:buNone/>
                      </a:pPr>
                      <a:r>
                        <a:rPr lang="en-SG" sz="3200">
                          <a:effectLst/>
                        </a:rPr>
                        <a:t>Regression Metrics</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TEST</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TRAIN</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TEST</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dirty="0">
                          <a:effectLst/>
                        </a:rPr>
                        <a:t>TRAIN</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92754772"/>
                  </a:ext>
                </a:extLst>
              </a:tr>
              <a:tr h="1108181">
                <a:tc>
                  <a:txBody>
                    <a:bodyPr/>
                    <a:lstStyle/>
                    <a:p>
                      <a:pPr algn="ctr">
                        <a:buNone/>
                      </a:pPr>
                      <a:r>
                        <a:rPr lang="en-SG" sz="3200">
                          <a:effectLst/>
                        </a:rPr>
                        <a:t>R-squared</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0.3728</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0.9127</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0.3742</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0.7704</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1526442"/>
                  </a:ext>
                </a:extLst>
              </a:tr>
              <a:tr h="1108181">
                <a:tc>
                  <a:txBody>
                    <a:bodyPr/>
                    <a:lstStyle/>
                    <a:p>
                      <a:pPr algn="ctr">
                        <a:buNone/>
                      </a:pPr>
                      <a:r>
                        <a:rPr lang="en-SG" sz="3200">
                          <a:effectLst/>
                        </a:rPr>
                        <a:t>Mean Absolute Error</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1.7547</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0.6474</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1.7649</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1.0614</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42841230"/>
                  </a:ext>
                </a:extLst>
              </a:tr>
              <a:tr h="1108181">
                <a:tc>
                  <a:txBody>
                    <a:bodyPr/>
                    <a:lstStyle/>
                    <a:p>
                      <a:pPr algn="ctr">
                        <a:buNone/>
                      </a:pPr>
                      <a:r>
                        <a:rPr lang="en-SG" sz="3200">
                          <a:effectLst/>
                        </a:rPr>
                        <a:t>Root Mean Squared Error</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2.3321</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0.8668</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2.3295</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1.4062</a:t>
                      </a:r>
                    </a:p>
                  </a:txBody>
                  <a:tcPr marL="72489" marR="72489" marT="36245" marB="36245"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0571963"/>
                  </a:ext>
                </a:extLst>
              </a:tr>
            </a:tbl>
          </a:graphicData>
        </a:graphic>
      </p:graphicFrame>
      <p:sp>
        <p:nvSpPr>
          <p:cNvPr id="18" name="Rectangle 1">
            <a:extLst>
              <a:ext uri="{FF2B5EF4-FFF2-40B4-BE49-F238E27FC236}">
                <a16:creationId xmlns:a16="http://schemas.microsoft.com/office/drawing/2014/main" id="{790562E3-E6F6-F316-AF3C-12C769FD77D5}"/>
              </a:ext>
            </a:extLst>
          </p:cNvPr>
          <p:cNvSpPr>
            <a:spLocks noChangeArrowheads="1"/>
          </p:cNvSpPr>
          <p:nvPr/>
        </p:nvSpPr>
        <p:spPr bwMode="auto">
          <a:xfrm>
            <a:off x="1463928" y="2754026"/>
            <a:ext cx="4305554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Regression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3</a:t>
            </a:r>
          </a:p>
        </p:txBody>
      </p:sp>
      <p:sp>
        <p:nvSpPr>
          <p:cNvPr id="16" name="TextBox 16"/>
          <p:cNvSpPr txBox="1"/>
          <p:nvPr/>
        </p:nvSpPr>
        <p:spPr>
          <a:xfrm>
            <a:off x="14051349" y="978708"/>
            <a:ext cx="3587842" cy="1102361"/>
          </a:xfrm>
          <a:prstGeom prst="rect">
            <a:avLst/>
          </a:prstGeom>
        </p:spPr>
        <p:txBody>
          <a:bodyPr lIns="0" tIns="0" rIns="0" bIns="0" rtlCol="0" anchor="t">
            <a:spAutoFit/>
          </a:bodyPr>
          <a:lstStyle/>
          <a:p>
            <a:pPr algn="just">
              <a:lnSpc>
                <a:spcPts val="4339"/>
              </a:lnSpc>
              <a:spcBef>
                <a:spcPct val="0"/>
              </a:spcBef>
            </a:pPr>
            <a:r>
              <a:rPr lang="en-US" sz="3099" spc="154">
                <a:solidFill>
                  <a:srgbClr val="F2F7FA"/>
                </a:solidFill>
                <a:latin typeface="Telegraf"/>
                <a:ea typeface="Telegraf"/>
                <a:cs typeface="Telegraf"/>
                <a:sym typeface="Telegraf"/>
              </a:rPr>
              <a:t>HistGradientBoostingRegressor</a:t>
            </a:r>
          </a:p>
        </p:txBody>
      </p:sp>
      <p:graphicFrame>
        <p:nvGraphicFramePr>
          <p:cNvPr id="17" name="表格 16">
            <a:extLst>
              <a:ext uri="{FF2B5EF4-FFF2-40B4-BE49-F238E27FC236}">
                <a16:creationId xmlns:a16="http://schemas.microsoft.com/office/drawing/2014/main" id="{CE85ABD9-CEE1-3B03-0F00-FFCABCA2648F}"/>
              </a:ext>
            </a:extLst>
          </p:cNvPr>
          <p:cNvGraphicFramePr>
            <a:graphicFrameLocks noGrp="1"/>
          </p:cNvGraphicFramePr>
          <p:nvPr>
            <p:extLst>
              <p:ext uri="{D42A27DB-BD31-4B8C-83A1-F6EECF244321}">
                <p14:modId xmlns:p14="http://schemas.microsoft.com/office/powerpoint/2010/main" val="2720322185"/>
              </p:ext>
            </p:extLst>
          </p:nvPr>
        </p:nvGraphicFramePr>
        <p:xfrm>
          <a:off x="2590800" y="3163209"/>
          <a:ext cx="12252555" cy="5932724"/>
        </p:xfrm>
        <a:graphic>
          <a:graphicData uri="http://schemas.openxmlformats.org/drawingml/2006/table">
            <a:tbl>
              <a:tblPr/>
              <a:tblGrid>
                <a:gridCol w="3961625">
                  <a:extLst>
                    <a:ext uri="{9D8B030D-6E8A-4147-A177-3AD203B41FA5}">
                      <a16:colId xmlns:a16="http://schemas.microsoft.com/office/drawing/2014/main" val="1532082928"/>
                    </a:ext>
                  </a:extLst>
                </a:gridCol>
                <a:gridCol w="4206745">
                  <a:extLst>
                    <a:ext uri="{9D8B030D-6E8A-4147-A177-3AD203B41FA5}">
                      <a16:colId xmlns:a16="http://schemas.microsoft.com/office/drawing/2014/main" val="2885211864"/>
                    </a:ext>
                  </a:extLst>
                </a:gridCol>
                <a:gridCol w="4084185">
                  <a:extLst>
                    <a:ext uri="{9D8B030D-6E8A-4147-A177-3AD203B41FA5}">
                      <a16:colId xmlns:a16="http://schemas.microsoft.com/office/drawing/2014/main" val="3232771644"/>
                    </a:ext>
                  </a:extLst>
                </a:gridCol>
              </a:tblGrid>
              <a:tr h="1483181">
                <a:tc>
                  <a:txBody>
                    <a:bodyPr/>
                    <a:lstStyle/>
                    <a:p>
                      <a:pPr algn="ctr">
                        <a:buNone/>
                      </a:pPr>
                      <a:r>
                        <a:rPr lang="en-SG" sz="3200" dirty="0">
                          <a:effectLst/>
                        </a:rPr>
                        <a:t>Regression Metrics</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TEST</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TRAIN</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40054038"/>
                  </a:ext>
                </a:extLst>
              </a:tr>
              <a:tr h="1483181">
                <a:tc>
                  <a:txBody>
                    <a:bodyPr/>
                    <a:lstStyle/>
                    <a:p>
                      <a:pPr algn="ctr">
                        <a:buNone/>
                      </a:pPr>
                      <a:r>
                        <a:rPr lang="en-SG" sz="3200">
                          <a:effectLst/>
                        </a:rPr>
                        <a:t>R-squared</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0.4009</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0.4455</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4969008"/>
                  </a:ext>
                </a:extLst>
              </a:tr>
              <a:tr h="1483181">
                <a:tc>
                  <a:txBody>
                    <a:bodyPr/>
                    <a:lstStyle/>
                    <a:p>
                      <a:pPr algn="ctr">
                        <a:buNone/>
                      </a:pPr>
                      <a:r>
                        <a:rPr lang="en-SG" sz="3200">
                          <a:effectLst/>
                        </a:rPr>
                        <a:t>Mean Absolute Error</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1.7081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1.644</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02413681"/>
                  </a:ext>
                </a:extLst>
              </a:tr>
              <a:tr h="1483181">
                <a:tc>
                  <a:txBody>
                    <a:bodyPr/>
                    <a:lstStyle/>
                    <a:p>
                      <a:pPr algn="ctr">
                        <a:buNone/>
                      </a:pPr>
                      <a:r>
                        <a:rPr lang="en-SG" sz="3200">
                          <a:effectLst/>
                        </a:rPr>
                        <a:t>Root Mean Squared Error</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2.2792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2.1852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64283945"/>
                  </a:ext>
                </a:extLst>
              </a:tr>
            </a:tbl>
          </a:graphicData>
        </a:graphic>
      </p:graphicFrame>
      <p:sp>
        <p:nvSpPr>
          <p:cNvPr id="18" name="Rectangle 1">
            <a:extLst>
              <a:ext uri="{FF2B5EF4-FFF2-40B4-BE49-F238E27FC236}">
                <a16:creationId xmlns:a16="http://schemas.microsoft.com/office/drawing/2014/main" id="{9EE00F00-8CCA-C4D9-73A2-29B260DC442F}"/>
              </a:ext>
            </a:extLst>
          </p:cNvPr>
          <p:cNvSpPr>
            <a:spLocks noChangeArrowheads="1"/>
          </p:cNvSpPr>
          <p:nvPr/>
        </p:nvSpPr>
        <p:spPr bwMode="auto">
          <a:xfrm>
            <a:off x="2590800" y="2969937"/>
            <a:ext cx="27476892" cy="49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dirty="0"/>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Regression</a:t>
            </a:r>
          </a:p>
        </p:txBody>
      </p:sp>
      <p:sp>
        <p:nvSpPr>
          <p:cNvPr id="15" name="TextBox 15"/>
          <p:cNvSpPr txBox="1"/>
          <p:nvPr/>
        </p:nvSpPr>
        <p:spPr>
          <a:xfrm>
            <a:off x="13051502" y="1275245"/>
            <a:ext cx="3817333" cy="576055"/>
          </a:xfrm>
          <a:prstGeom prst="rect">
            <a:avLst/>
          </a:prstGeom>
        </p:spPr>
        <p:txBody>
          <a:bodyPr wrap="square" lIns="0" tIns="0" rIns="0" bIns="0" rtlCol="0" anchor="t">
            <a:spAutoFit/>
          </a:bodyPr>
          <a:lstStyle/>
          <a:p>
            <a:pPr algn="just">
              <a:lnSpc>
                <a:spcPts val="4339"/>
              </a:lnSpc>
              <a:spcBef>
                <a:spcPct val="0"/>
              </a:spcBef>
            </a:pPr>
            <a:r>
              <a:rPr lang="en-US" sz="4800" spc="154" dirty="0" err="1">
                <a:solidFill>
                  <a:srgbClr val="F2F7FA"/>
                </a:solidFill>
                <a:latin typeface="Telegraf"/>
                <a:ea typeface="Telegraf"/>
                <a:cs typeface="Telegraf"/>
                <a:sym typeface="Telegraf"/>
              </a:rPr>
              <a:t>Summay</a:t>
            </a:r>
            <a:endParaRPr lang="en-US" sz="3099" spc="154" dirty="0">
              <a:solidFill>
                <a:srgbClr val="F2F7FA"/>
              </a:solidFill>
              <a:latin typeface="Telegraf"/>
              <a:ea typeface="Telegraf"/>
              <a:cs typeface="Telegraf"/>
              <a:sym typeface="Telegraf"/>
            </a:endParaRPr>
          </a:p>
        </p:txBody>
      </p:sp>
      <p:graphicFrame>
        <p:nvGraphicFramePr>
          <p:cNvPr id="16" name="表格 15">
            <a:extLst>
              <a:ext uri="{FF2B5EF4-FFF2-40B4-BE49-F238E27FC236}">
                <a16:creationId xmlns:a16="http://schemas.microsoft.com/office/drawing/2014/main" id="{44AEEE51-F44A-5CD3-0E9B-56FD32700661}"/>
              </a:ext>
            </a:extLst>
          </p:cNvPr>
          <p:cNvGraphicFramePr>
            <a:graphicFrameLocks noGrp="1"/>
          </p:cNvGraphicFramePr>
          <p:nvPr>
            <p:extLst>
              <p:ext uri="{D42A27DB-BD31-4B8C-83A1-F6EECF244321}">
                <p14:modId xmlns:p14="http://schemas.microsoft.com/office/powerpoint/2010/main" val="2874990583"/>
              </p:ext>
            </p:extLst>
          </p:nvPr>
        </p:nvGraphicFramePr>
        <p:xfrm>
          <a:off x="1752600" y="3345183"/>
          <a:ext cx="14452172" cy="6291792"/>
        </p:xfrm>
        <a:graphic>
          <a:graphicData uri="http://schemas.openxmlformats.org/drawingml/2006/table">
            <a:tbl>
              <a:tblPr/>
              <a:tblGrid>
                <a:gridCol w="3613043">
                  <a:extLst>
                    <a:ext uri="{9D8B030D-6E8A-4147-A177-3AD203B41FA5}">
                      <a16:colId xmlns:a16="http://schemas.microsoft.com/office/drawing/2014/main" val="1859939626"/>
                    </a:ext>
                  </a:extLst>
                </a:gridCol>
                <a:gridCol w="3930757">
                  <a:extLst>
                    <a:ext uri="{9D8B030D-6E8A-4147-A177-3AD203B41FA5}">
                      <a16:colId xmlns:a16="http://schemas.microsoft.com/office/drawing/2014/main" val="711995431"/>
                    </a:ext>
                  </a:extLst>
                </a:gridCol>
                <a:gridCol w="3295329">
                  <a:extLst>
                    <a:ext uri="{9D8B030D-6E8A-4147-A177-3AD203B41FA5}">
                      <a16:colId xmlns:a16="http://schemas.microsoft.com/office/drawing/2014/main" val="856348210"/>
                    </a:ext>
                  </a:extLst>
                </a:gridCol>
                <a:gridCol w="3613043">
                  <a:extLst>
                    <a:ext uri="{9D8B030D-6E8A-4147-A177-3AD203B41FA5}">
                      <a16:colId xmlns:a16="http://schemas.microsoft.com/office/drawing/2014/main" val="2402657825"/>
                    </a:ext>
                  </a:extLst>
                </a:gridCol>
              </a:tblGrid>
              <a:tr h="1572948">
                <a:tc>
                  <a:txBody>
                    <a:bodyPr/>
                    <a:lstStyle/>
                    <a:p>
                      <a:pPr algn="ctr">
                        <a:buNone/>
                      </a:pPr>
                      <a:r>
                        <a:rPr lang="en-SG" sz="3200">
                          <a:effectLst/>
                        </a:rPr>
                        <a:t>Regression Metrics</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dirty="0" err="1">
                          <a:effectLst/>
                        </a:rPr>
                        <a:t>HistGradientBoosting</a:t>
                      </a:r>
                      <a:endParaRPr lang="en-SG" sz="3200" dirty="0">
                        <a:effectLst/>
                      </a:endParaRP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43B0EF"/>
                    </a:solidFill>
                  </a:tcPr>
                </a:tc>
                <a:tc>
                  <a:txBody>
                    <a:bodyPr/>
                    <a:lstStyle/>
                    <a:p>
                      <a:pPr algn="ctr">
                        <a:buNone/>
                      </a:pPr>
                      <a:r>
                        <a:rPr lang="en-SG" sz="3200" dirty="0">
                          <a:effectLst/>
                        </a:rPr>
                        <a:t>Random Forest</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Linear</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7515339"/>
                  </a:ext>
                </a:extLst>
              </a:tr>
              <a:tr h="1572948">
                <a:tc>
                  <a:txBody>
                    <a:bodyPr/>
                    <a:lstStyle/>
                    <a:p>
                      <a:pPr algn="ctr">
                        <a:buNone/>
                      </a:pPr>
                      <a:r>
                        <a:rPr lang="en-SG" sz="3200">
                          <a:effectLst/>
                        </a:rPr>
                        <a:t>R-squared</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0.4009</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43B0EF"/>
                    </a:solidFill>
                  </a:tcPr>
                </a:tc>
                <a:tc>
                  <a:txBody>
                    <a:bodyPr/>
                    <a:lstStyle/>
                    <a:p>
                      <a:pPr algn="ctr">
                        <a:buNone/>
                      </a:pPr>
                      <a:r>
                        <a:rPr lang="en-US" altLang="zh-SG" sz="3200">
                          <a:effectLst/>
                        </a:rPr>
                        <a:t>0.3742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0.3256</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67573936"/>
                  </a:ext>
                </a:extLst>
              </a:tr>
              <a:tr h="1572948">
                <a:tc>
                  <a:txBody>
                    <a:bodyPr/>
                    <a:lstStyle/>
                    <a:p>
                      <a:pPr algn="ctr">
                        <a:buNone/>
                      </a:pPr>
                      <a:r>
                        <a:rPr lang="en-SG" sz="3200">
                          <a:effectLst/>
                        </a:rPr>
                        <a:t>Mean Absolute Error</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1.7081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43B0EF"/>
                    </a:solidFill>
                  </a:tcPr>
                </a:tc>
                <a:tc>
                  <a:txBody>
                    <a:bodyPr/>
                    <a:lstStyle/>
                    <a:p>
                      <a:pPr algn="ctr">
                        <a:buNone/>
                      </a:pPr>
                      <a:r>
                        <a:rPr lang="en-US" altLang="zh-SG" sz="3200">
                          <a:effectLst/>
                        </a:rPr>
                        <a:t>1.7649</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1.8321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66310371"/>
                  </a:ext>
                </a:extLst>
              </a:tr>
              <a:tr h="1572948">
                <a:tc>
                  <a:txBody>
                    <a:bodyPr/>
                    <a:lstStyle/>
                    <a:p>
                      <a:pPr algn="ctr">
                        <a:buNone/>
                      </a:pPr>
                      <a:r>
                        <a:rPr lang="en-SG" sz="3200">
                          <a:effectLst/>
                        </a:rPr>
                        <a:t>Root Mean Squared Error</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2.2792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43B0EF"/>
                    </a:solidFill>
                  </a:tcPr>
                </a:tc>
                <a:tc>
                  <a:txBody>
                    <a:bodyPr/>
                    <a:lstStyle/>
                    <a:p>
                      <a:pPr algn="ctr">
                        <a:buNone/>
                      </a:pPr>
                      <a:r>
                        <a:rPr lang="en-US" altLang="zh-SG" sz="3200">
                          <a:effectLst/>
                        </a:rPr>
                        <a:t>2.3295</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2.4182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16062722"/>
                  </a:ext>
                </a:extLst>
              </a:tr>
            </a:tbl>
          </a:graphicData>
        </a:graphic>
      </p:graphicFrame>
      <p:sp>
        <p:nvSpPr>
          <p:cNvPr id="17" name="Rectangle 1">
            <a:extLst>
              <a:ext uri="{FF2B5EF4-FFF2-40B4-BE49-F238E27FC236}">
                <a16:creationId xmlns:a16="http://schemas.microsoft.com/office/drawing/2014/main" id="{6CFFFD2E-43E2-AE4B-5B73-7F1467E4189A}"/>
              </a:ext>
            </a:extLst>
          </p:cNvPr>
          <p:cNvSpPr>
            <a:spLocks noChangeArrowheads="1"/>
          </p:cNvSpPr>
          <p:nvPr/>
        </p:nvSpPr>
        <p:spPr bwMode="auto">
          <a:xfrm>
            <a:off x="1472854" y="2719964"/>
            <a:ext cx="3027033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8" name="TextBox 8"/>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9" name="TextBox 9"/>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OVERALL EVALUATION</a:t>
            </a:r>
          </a:p>
        </p:txBody>
      </p:sp>
      <p:sp>
        <p:nvSpPr>
          <p:cNvPr id="10" name="TextBox 10"/>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Length of Stay Regression model</a:t>
            </a:r>
          </a:p>
        </p:txBody>
      </p:sp>
      <p:grpSp>
        <p:nvGrpSpPr>
          <p:cNvPr id="11" name="Group 11"/>
          <p:cNvGrpSpPr/>
          <p:nvPr/>
        </p:nvGrpSpPr>
        <p:grpSpPr>
          <a:xfrm>
            <a:off x="1028700" y="2516534"/>
            <a:ext cx="16230600" cy="864286"/>
            <a:chOff x="0" y="0"/>
            <a:chExt cx="4274726" cy="227631"/>
          </a:xfrm>
        </p:grpSpPr>
        <p:sp>
          <p:nvSpPr>
            <p:cNvPr id="12" name="Freeform 12"/>
            <p:cNvSpPr/>
            <p:nvPr/>
          </p:nvSpPr>
          <p:spPr>
            <a:xfrm>
              <a:off x="0" y="0"/>
              <a:ext cx="4274726" cy="227631"/>
            </a:xfrm>
            <a:custGeom>
              <a:avLst/>
              <a:gdLst/>
              <a:ahLst/>
              <a:cxnLst/>
              <a:rect l="l" t="t" r="r" b="b"/>
              <a:pathLst>
                <a:path w="4274726" h="227631">
                  <a:moveTo>
                    <a:pt x="15264" y="0"/>
                  </a:moveTo>
                  <a:lnTo>
                    <a:pt x="4259462" y="0"/>
                  </a:lnTo>
                  <a:cubicBezTo>
                    <a:pt x="4263510" y="0"/>
                    <a:pt x="4267393" y="1608"/>
                    <a:pt x="4270255" y="4471"/>
                  </a:cubicBezTo>
                  <a:cubicBezTo>
                    <a:pt x="4273118" y="7333"/>
                    <a:pt x="4274726" y="11216"/>
                    <a:pt x="4274726" y="15264"/>
                  </a:cubicBezTo>
                  <a:lnTo>
                    <a:pt x="4274726" y="212367"/>
                  </a:lnTo>
                  <a:cubicBezTo>
                    <a:pt x="4274726" y="216415"/>
                    <a:pt x="4273118" y="220298"/>
                    <a:pt x="4270255" y="223160"/>
                  </a:cubicBezTo>
                  <a:cubicBezTo>
                    <a:pt x="4267393" y="226023"/>
                    <a:pt x="4263510" y="227631"/>
                    <a:pt x="4259462" y="227631"/>
                  </a:cubicBezTo>
                  <a:lnTo>
                    <a:pt x="15264" y="227631"/>
                  </a:lnTo>
                  <a:cubicBezTo>
                    <a:pt x="11216" y="227631"/>
                    <a:pt x="7333" y="226023"/>
                    <a:pt x="4471" y="223160"/>
                  </a:cubicBezTo>
                  <a:cubicBezTo>
                    <a:pt x="1608" y="220298"/>
                    <a:pt x="0" y="216415"/>
                    <a:pt x="0" y="212367"/>
                  </a:cubicBezTo>
                  <a:lnTo>
                    <a:pt x="0" y="15264"/>
                  </a:lnTo>
                  <a:cubicBezTo>
                    <a:pt x="0" y="11216"/>
                    <a:pt x="1608" y="7333"/>
                    <a:pt x="4471" y="4471"/>
                  </a:cubicBezTo>
                  <a:cubicBezTo>
                    <a:pt x="7333" y="1608"/>
                    <a:pt x="11216" y="0"/>
                    <a:pt x="15264"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3" name="TextBox 13"/>
            <p:cNvSpPr txBox="1"/>
            <p:nvPr/>
          </p:nvSpPr>
          <p:spPr>
            <a:xfrm>
              <a:off x="0" y="-57150"/>
              <a:ext cx="4274726" cy="284781"/>
            </a:xfrm>
            <a:prstGeom prst="rect">
              <a:avLst/>
            </a:prstGeom>
          </p:spPr>
          <p:txBody>
            <a:bodyPr lIns="254000" tIns="254000" rIns="254000" bIns="254000" rtlCol="0" anchor="ctr"/>
            <a:lstStyle/>
            <a:p>
              <a:pPr algn="ctr">
                <a:lnSpc>
                  <a:spcPts val="3639"/>
                </a:lnSpc>
              </a:pPr>
              <a:r>
                <a:rPr lang="en-US" sz="2599" b="1">
                  <a:solidFill>
                    <a:srgbClr val="F2F7FA"/>
                  </a:solidFill>
                  <a:latin typeface="TT Hoves Bold"/>
                  <a:ea typeface="TT Hoves Bold"/>
                  <a:cs typeface="TT Hoves Bold"/>
                  <a:sym typeface="TT Hoves Bold"/>
                </a:rPr>
                <a:t>Recommended Model: HistGradientBoostingRegressor</a:t>
              </a:r>
            </a:p>
          </p:txBody>
        </p:sp>
      </p:grpSp>
      <p:sp>
        <p:nvSpPr>
          <p:cNvPr id="14" name="TextBox 14"/>
          <p:cNvSpPr txBox="1"/>
          <p:nvPr/>
        </p:nvSpPr>
        <p:spPr>
          <a:xfrm>
            <a:off x="1028700" y="3529017"/>
            <a:ext cx="16230600" cy="4563738"/>
          </a:xfrm>
          <a:prstGeom prst="rect">
            <a:avLst/>
          </a:prstGeom>
        </p:spPr>
        <p:txBody>
          <a:bodyPr lIns="0" tIns="0" rIns="0" bIns="0" rtlCol="0" anchor="t">
            <a:spAutoFit/>
          </a:bodyPr>
          <a:lstStyle/>
          <a:p>
            <a:pPr marL="556005" lvl="1" indent="-278003" algn="just">
              <a:lnSpc>
                <a:spcPts val="3605"/>
              </a:lnSpc>
              <a:buFont typeface="Arial"/>
              <a:buChar char="•"/>
            </a:pPr>
            <a:r>
              <a:rPr lang="en-US" sz="2575">
                <a:solidFill>
                  <a:srgbClr val="000000"/>
                </a:solidFill>
                <a:latin typeface="TT Hoves"/>
                <a:ea typeface="TT Hoves"/>
                <a:cs typeface="TT Hoves"/>
                <a:sym typeface="TT Hoves"/>
              </a:rPr>
              <a:t>Highest R-squared, lowest MAE and RMSE ⟶ </a:t>
            </a:r>
          </a:p>
          <a:p>
            <a:pPr marL="556005" lvl="1" indent="-278003" algn="just">
              <a:lnSpc>
                <a:spcPts val="3605"/>
              </a:lnSpc>
              <a:buFont typeface="Arial"/>
              <a:buChar char="•"/>
            </a:pPr>
            <a:r>
              <a:rPr lang="en-US" sz="2575">
                <a:solidFill>
                  <a:srgbClr val="000000"/>
                </a:solidFill>
                <a:latin typeface="TT Hoves"/>
                <a:ea typeface="TT Hoves"/>
                <a:cs typeface="TT Hoves"/>
                <a:sym typeface="TT Hoves"/>
              </a:rPr>
              <a:t>Agrees with various literatures that Gradient Boosting models performed better than Random Forest.</a:t>
            </a:r>
          </a:p>
          <a:p>
            <a:pPr marL="556005" lvl="1" indent="-278003" algn="just">
              <a:lnSpc>
                <a:spcPts val="3605"/>
              </a:lnSpc>
              <a:buFont typeface="Arial"/>
              <a:buChar char="•"/>
            </a:pPr>
            <a:r>
              <a:rPr lang="en-US" sz="2575" b="1">
                <a:solidFill>
                  <a:srgbClr val="000000"/>
                </a:solidFill>
                <a:latin typeface="TT Hoves Bold"/>
                <a:ea typeface="TT Hoves Bold"/>
                <a:cs typeface="TT Hoves Bold"/>
                <a:sym typeface="TT Hoves Bold"/>
              </a:rPr>
              <a:t>Consistent with our theoretical understanding</a:t>
            </a:r>
            <a:r>
              <a:rPr lang="en-US" sz="2575">
                <a:solidFill>
                  <a:srgbClr val="000000"/>
                </a:solidFill>
                <a:latin typeface="TT Hoves"/>
                <a:ea typeface="TT Hoves"/>
                <a:cs typeface="TT Hoves"/>
                <a:sym typeface="TT Hoves"/>
              </a:rPr>
              <a:t> of the gradient boosting algorithm</a:t>
            </a:r>
          </a:p>
          <a:p>
            <a:pPr marL="1112010" lvl="2" indent="-370670" algn="just">
              <a:lnSpc>
                <a:spcPts val="3605"/>
              </a:lnSpc>
              <a:buFont typeface="Arial"/>
              <a:buChar char="⚬"/>
            </a:pPr>
            <a:r>
              <a:rPr lang="en-US" sz="2575" b="1">
                <a:solidFill>
                  <a:srgbClr val="000000"/>
                </a:solidFill>
                <a:latin typeface="TT Hoves Bold"/>
                <a:ea typeface="TT Hoves Bold"/>
                <a:cs typeface="TT Hoves Bold"/>
                <a:sym typeface="TT Hoves Bold"/>
              </a:rPr>
              <a:t>Iteratively </a:t>
            </a:r>
            <a:r>
              <a:rPr lang="en-US" sz="2575">
                <a:solidFill>
                  <a:srgbClr val="000000"/>
                </a:solidFill>
                <a:latin typeface="TT Hoves"/>
                <a:ea typeface="TT Hoves"/>
                <a:cs typeface="TT Hoves"/>
                <a:sym typeface="TT Hoves"/>
              </a:rPr>
              <a:t>train model to correct previous mistakes</a:t>
            </a:r>
          </a:p>
          <a:p>
            <a:pPr marL="1112010" lvl="2" indent="-370670" algn="just">
              <a:lnSpc>
                <a:spcPts val="3605"/>
              </a:lnSpc>
              <a:buFont typeface="Arial"/>
              <a:buChar char="⚬"/>
            </a:pPr>
            <a:r>
              <a:rPr lang="en-US" sz="2575">
                <a:solidFill>
                  <a:srgbClr val="000000"/>
                </a:solidFill>
                <a:latin typeface="TT Hoves"/>
                <a:ea typeface="TT Hoves"/>
                <a:cs typeface="TT Hoves"/>
                <a:sym typeface="TT Hoves"/>
              </a:rPr>
              <a:t>Captures </a:t>
            </a:r>
            <a:r>
              <a:rPr lang="en-US" sz="2575" b="1">
                <a:solidFill>
                  <a:srgbClr val="000000"/>
                </a:solidFill>
                <a:latin typeface="TT Hoves Bold"/>
                <a:ea typeface="TT Hoves Bold"/>
                <a:cs typeface="TT Hoves Bold"/>
                <a:sym typeface="TT Hoves Bold"/>
              </a:rPr>
              <a:t>complex </a:t>
            </a:r>
            <a:r>
              <a:rPr lang="en-US" sz="2575">
                <a:solidFill>
                  <a:srgbClr val="000000"/>
                </a:solidFill>
                <a:latin typeface="TT Hoves"/>
                <a:ea typeface="TT Hoves"/>
                <a:cs typeface="TT Hoves"/>
                <a:sym typeface="TT Hoves"/>
              </a:rPr>
              <a:t>relationships between features</a:t>
            </a:r>
          </a:p>
          <a:p>
            <a:pPr marL="1112010" lvl="2" indent="-370670" algn="just">
              <a:lnSpc>
                <a:spcPts val="3605"/>
              </a:lnSpc>
              <a:buFont typeface="Arial"/>
              <a:buChar char="⚬"/>
            </a:pPr>
            <a:r>
              <a:rPr lang="en-US" sz="2575">
                <a:solidFill>
                  <a:srgbClr val="000000"/>
                </a:solidFill>
                <a:latin typeface="TT Hoves"/>
                <a:ea typeface="TT Hoves"/>
                <a:cs typeface="TT Hoves"/>
                <a:sym typeface="TT Hoves"/>
              </a:rPr>
              <a:t>Important for real-life, complex indicators in healthcare that are not necessarily independent</a:t>
            </a:r>
          </a:p>
          <a:p>
            <a:pPr algn="just">
              <a:lnSpc>
                <a:spcPts val="3605"/>
              </a:lnSpc>
            </a:pPr>
            <a:endParaRPr lang="en-US" sz="2575">
              <a:solidFill>
                <a:srgbClr val="000000"/>
              </a:solidFill>
              <a:latin typeface="TT Hoves"/>
              <a:ea typeface="TT Hoves"/>
              <a:cs typeface="TT Hoves"/>
              <a:sym typeface="TT Hoves"/>
            </a:endParaRPr>
          </a:p>
          <a:p>
            <a:pPr algn="just">
              <a:lnSpc>
                <a:spcPts val="3605"/>
              </a:lnSpc>
            </a:pPr>
            <a:endParaRPr lang="en-US" sz="2575">
              <a:solidFill>
                <a:srgbClr val="000000"/>
              </a:solidFill>
              <a:latin typeface="TT Hoves"/>
              <a:ea typeface="TT Hoves"/>
              <a:cs typeface="TT Hoves"/>
              <a:sym typeface="TT Hoves"/>
            </a:endParaRPr>
          </a:p>
          <a:p>
            <a:pPr algn="just">
              <a:lnSpc>
                <a:spcPts val="3605"/>
              </a:lnSpc>
            </a:pPr>
            <a:endParaRPr lang="en-US" sz="2575">
              <a:solidFill>
                <a:srgbClr val="000000"/>
              </a:solidFill>
              <a:latin typeface="TT Hoves"/>
              <a:ea typeface="TT Hoves"/>
              <a:cs typeface="TT Hoves"/>
              <a:sym typeface="TT Hoves"/>
            </a:endParaRPr>
          </a:p>
          <a:p>
            <a:pPr algn="just">
              <a:lnSpc>
                <a:spcPts val="3605"/>
              </a:lnSpc>
              <a:spcBef>
                <a:spcPct val="0"/>
              </a:spcBef>
            </a:pPr>
            <a:endParaRPr lang="en-US" sz="2575">
              <a:solidFill>
                <a:srgbClr val="000000"/>
              </a:solidFill>
              <a:latin typeface="TT Hoves"/>
              <a:ea typeface="TT Hoves"/>
              <a:cs typeface="TT Hoves"/>
              <a:sym typeface="TT Hoves"/>
            </a:endParaRPr>
          </a:p>
        </p:txBody>
      </p:sp>
      <p:grpSp>
        <p:nvGrpSpPr>
          <p:cNvPr id="15" name="Group 15"/>
          <p:cNvGrpSpPr/>
          <p:nvPr/>
        </p:nvGrpSpPr>
        <p:grpSpPr>
          <a:xfrm>
            <a:off x="1028700" y="7069429"/>
            <a:ext cx="16230600" cy="864286"/>
            <a:chOff x="0" y="0"/>
            <a:chExt cx="4274726" cy="227631"/>
          </a:xfrm>
        </p:grpSpPr>
        <p:sp>
          <p:nvSpPr>
            <p:cNvPr id="16" name="Freeform 16"/>
            <p:cNvSpPr/>
            <p:nvPr/>
          </p:nvSpPr>
          <p:spPr>
            <a:xfrm>
              <a:off x="0" y="0"/>
              <a:ext cx="4274726" cy="227631"/>
            </a:xfrm>
            <a:custGeom>
              <a:avLst/>
              <a:gdLst/>
              <a:ahLst/>
              <a:cxnLst/>
              <a:rect l="l" t="t" r="r" b="b"/>
              <a:pathLst>
                <a:path w="4274726" h="227631">
                  <a:moveTo>
                    <a:pt x="15264" y="0"/>
                  </a:moveTo>
                  <a:lnTo>
                    <a:pt x="4259462" y="0"/>
                  </a:lnTo>
                  <a:cubicBezTo>
                    <a:pt x="4263510" y="0"/>
                    <a:pt x="4267393" y="1608"/>
                    <a:pt x="4270255" y="4471"/>
                  </a:cubicBezTo>
                  <a:cubicBezTo>
                    <a:pt x="4273118" y="7333"/>
                    <a:pt x="4274726" y="11216"/>
                    <a:pt x="4274726" y="15264"/>
                  </a:cubicBezTo>
                  <a:lnTo>
                    <a:pt x="4274726" y="212367"/>
                  </a:lnTo>
                  <a:cubicBezTo>
                    <a:pt x="4274726" y="216415"/>
                    <a:pt x="4273118" y="220298"/>
                    <a:pt x="4270255" y="223160"/>
                  </a:cubicBezTo>
                  <a:cubicBezTo>
                    <a:pt x="4267393" y="226023"/>
                    <a:pt x="4263510" y="227631"/>
                    <a:pt x="4259462" y="227631"/>
                  </a:cubicBezTo>
                  <a:lnTo>
                    <a:pt x="15264" y="227631"/>
                  </a:lnTo>
                  <a:cubicBezTo>
                    <a:pt x="11216" y="227631"/>
                    <a:pt x="7333" y="226023"/>
                    <a:pt x="4471" y="223160"/>
                  </a:cubicBezTo>
                  <a:cubicBezTo>
                    <a:pt x="1608" y="220298"/>
                    <a:pt x="0" y="216415"/>
                    <a:pt x="0" y="212367"/>
                  </a:cubicBezTo>
                  <a:lnTo>
                    <a:pt x="0" y="15264"/>
                  </a:lnTo>
                  <a:cubicBezTo>
                    <a:pt x="0" y="11216"/>
                    <a:pt x="1608" y="7333"/>
                    <a:pt x="4471" y="4471"/>
                  </a:cubicBezTo>
                  <a:cubicBezTo>
                    <a:pt x="7333" y="1608"/>
                    <a:pt x="11216" y="0"/>
                    <a:pt x="15264"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7" name="TextBox 17"/>
            <p:cNvSpPr txBox="1"/>
            <p:nvPr/>
          </p:nvSpPr>
          <p:spPr>
            <a:xfrm>
              <a:off x="0" y="-57150"/>
              <a:ext cx="4274726" cy="284781"/>
            </a:xfrm>
            <a:prstGeom prst="rect">
              <a:avLst/>
            </a:prstGeom>
          </p:spPr>
          <p:txBody>
            <a:bodyPr lIns="254000" tIns="254000" rIns="254000" bIns="254000" rtlCol="0" anchor="ctr"/>
            <a:lstStyle/>
            <a:p>
              <a:pPr algn="ctr">
                <a:lnSpc>
                  <a:spcPts val="3639"/>
                </a:lnSpc>
              </a:pPr>
              <a:r>
                <a:rPr lang="en-US" sz="2599" b="1">
                  <a:solidFill>
                    <a:srgbClr val="F2F7FA"/>
                  </a:solidFill>
                  <a:latin typeface="TT Hoves Bold"/>
                  <a:ea typeface="TT Hoves Bold"/>
                  <a:cs typeface="TT Hoves Bold"/>
                  <a:sym typeface="TT Hoves Bold"/>
                </a:rPr>
                <a:t>The Baseline: Linear Regression </a:t>
              </a:r>
            </a:p>
          </p:txBody>
        </p:sp>
      </p:grpSp>
      <p:sp>
        <p:nvSpPr>
          <p:cNvPr id="18" name="TextBox 18"/>
          <p:cNvSpPr txBox="1"/>
          <p:nvPr/>
        </p:nvSpPr>
        <p:spPr>
          <a:xfrm>
            <a:off x="1028700" y="8245154"/>
            <a:ext cx="16230600" cy="1362711"/>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000000"/>
                </a:solidFill>
                <a:latin typeface="TT Hoves"/>
                <a:ea typeface="TT Hoves"/>
                <a:cs typeface="TT Hoves"/>
                <a:sym typeface="TT Hoves"/>
              </a:rPr>
              <a:t>Simplistic approach to something </a:t>
            </a:r>
            <a:r>
              <a:rPr lang="en-US" sz="2599" b="1">
                <a:solidFill>
                  <a:srgbClr val="000000"/>
                </a:solidFill>
                <a:latin typeface="TT Hoves Bold"/>
                <a:ea typeface="TT Hoves Bold"/>
                <a:cs typeface="TT Hoves Bold"/>
                <a:sym typeface="TT Hoves Bold"/>
              </a:rPr>
              <a:t>complex in nature</a:t>
            </a:r>
          </a:p>
          <a:p>
            <a:pPr marL="561336" lvl="1" indent="-280668" algn="l">
              <a:lnSpc>
                <a:spcPts val="3639"/>
              </a:lnSpc>
              <a:buFont typeface="Arial"/>
              <a:buChar char="•"/>
            </a:pPr>
            <a:r>
              <a:rPr lang="en-US" sz="2599">
                <a:solidFill>
                  <a:srgbClr val="000000"/>
                </a:solidFill>
                <a:latin typeface="TT Hoves"/>
                <a:ea typeface="TT Hoves"/>
                <a:cs typeface="TT Hoves"/>
                <a:sym typeface="TT Hoves"/>
              </a:rPr>
              <a:t>Poor performance can be attributed to the </a:t>
            </a:r>
            <a:r>
              <a:rPr lang="en-US" sz="2599" b="1">
                <a:solidFill>
                  <a:srgbClr val="000000"/>
                </a:solidFill>
                <a:latin typeface="TT Hoves Bold"/>
                <a:ea typeface="TT Hoves Bold"/>
                <a:cs typeface="TT Hoves Bold"/>
                <a:sym typeface="TT Hoves Bold"/>
              </a:rPr>
              <a:t>non-linearity</a:t>
            </a:r>
            <a:r>
              <a:rPr lang="en-US" sz="2599">
                <a:solidFill>
                  <a:srgbClr val="000000"/>
                </a:solidFill>
                <a:latin typeface="TT Hoves"/>
                <a:ea typeface="TT Hoves"/>
                <a:cs typeface="TT Hoves"/>
                <a:sym typeface="TT Hoves"/>
              </a:rPr>
              <a:t> of the features and its effect on length of hospital stay.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sp>
        <p:nvSpPr>
          <p:cNvPr id="5" name="Freeform 5"/>
          <p:cNvSpPr/>
          <p:nvPr/>
        </p:nvSpPr>
        <p:spPr>
          <a:xfrm>
            <a:off x="1802905" y="2131416"/>
            <a:ext cx="6574774" cy="7792324"/>
          </a:xfrm>
          <a:custGeom>
            <a:avLst/>
            <a:gdLst/>
            <a:ahLst/>
            <a:cxnLst/>
            <a:rect l="l" t="t" r="r" b="b"/>
            <a:pathLst>
              <a:path w="6574774" h="7792324">
                <a:moveTo>
                  <a:pt x="0" y="0"/>
                </a:moveTo>
                <a:lnTo>
                  <a:pt x="6574773" y="0"/>
                </a:lnTo>
                <a:lnTo>
                  <a:pt x="6574773" y="7792324"/>
                </a:lnTo>
                <a:lnTo>
                  <a:pt x="0" y="7792324"/>
                </a:lnTo>
                <a:lnTo>
                  <a:pt x="0" y="0"/>
                </a:lnTo>
                <a:close/>
              </a:path>
            </a:pathLst>
          </a:custGeom>
          <a:blipFill>
            <a:blip r:embed="rId5"/>
            <a:stretch>
              <a:fillRect/>
            </a:stretch>
          </a:blipFill>
        </p:spPr>
        <p:txBody>
          <a:bodyPr/>
          <a:lstStyle/>
          <a:p>
            <a:endParaRPr lang="zh-SG" altLang="en-US"/>
          </a:p>
        </p:txBody>
      </p:sp>
      <p:sp>
        <p:nvSpPr>
          <p:cNvPr id="6" name="TextBox 6"/>
          <p:cNvSpPr txBox="1"/>
          <p:nvPr/>
        </p:nvSpPr>
        <p:spPr>
          <a:xfrm>
            <a:off x="1028700" y="834344"/>
            <a:ext cx="17259300"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FEATURE CONTRIBUTION - SHAP ANALYSIS</a:t>
            </a:r>
          </a:p>
        </p:txBody>
      </p:sp>
      <p:sp>
        <p:nvSpPr>
          <p:cNvPr id="7" name="TextBox 7"/>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Regression</a:t>
            </a:r>
          </a:p>
        </p:txBody>
      </p:sp>
      <p:sp>
        <p:nvSpPr>
          <p:cNvPr id="8" name="TextBox 8"/>
          <p:cNvSpPr txBox="1"/>
          <p:nvPr/>
        </p:nvSpPr>
        <p:spPr>
          <a:xfrm>
            <a:off x="9178159" y="1792849"/>
            <a:ext cx="7218759" cy="1820418"/>
          </a:xfrm>
          <a:prstGeom prst="rect">
            <a:avLst/>
          </a:prstGeom>
        </p:spPr>
        <p:txBody>
          <a:bodyPr lIns="0" tIns="0" rIns="0" bIns="0" rtlCol="0" anchor="t">
            <a:spAutoFit/>
          </a:bodyPr>
          <a:lstStyle/>
          <a:p>
            <a:pPr algn="l">
              <a:lnSpc>
                <a:spcPts val="3611"/>
              </a:lnSpc>
              <a:spcBef>
                <a:spcPct val="0"/>
              </a:spcBef>
            </a:pPr>
            <a:r>
              <a:rPr lang="en-US" sz="2579" b="1">
                <a:solidFill>
                  <a:srgbClr val="000000"/>
                </a:solidFill>
                <a:latin typeface="TT Hoves Bold"/>
                <a:ea typeface="TT Hoves Bold"/>
                <a:cs typeface="TT Hoves Bold"/>
                <a:sym typeface="TT Hoves Bold"/>
              </a:rPr>
              <a:t>Top 3 features for "Length of Stay" Prediction</a:t>
            </a:r>
          </a:p>
          <a:p>
            <a:pPr marL="557022" lvl="1" indent="-278511" algn="l">
              <a:lnSpc>
                <a:spcPts val="3611"/>
              </a:lnSpc>
              <a:spcBef>
                <a:spcPct val="0"/>
              </a:spcBef>
              <a:buFont typeface="Arial"/>
              <a:buChar char="•"/>
            </a:pPr>
            <a:r>
              <a:rPr lang="en-US" sz="2579">
                <a:solidFill>
                  <a:srgbClr val="000000"/>
                </a:solidFill>
                <a:latin typeface="TT Hoves"/>
                <a:ea typeface="TT Hoves"/>
                <a:cs typeface="TT Hoves"/>
                <a:sym typeface="TT Hoves"/>
              </a:rPr>
              <a:t>Number of Medication</a:t>
            </a:r>
          </a:p>
          <a:p>
            <a:pPr marL="557022" lvl="1" indent="-278511" algn="l">
              <a:lnSpc>
                <a:spcPts val="3611"/>
              </a:lnSpc>
              <a:spcBef>
                <a:spcPct val="0"/>
              </a:spcBef>
              <a:buFont typeface="Arial"/>
              <a:buChar char="•"/>
            </a:pPr>
            <a:r>
              <a:rPr lang="en-US" sz="2579">
                <a:solidFill>
                  <a:srgbClr val="000000"/>
                </a:solidFill>
                <a:latin typeface="TT Hoves"/>
                <a:ea typeface="TT Hoves"/>
                <a:cs typeface="TT Hoves"/>
                <a:sym typeface="TT Hoves"/>
              </a:rPr>
              <a:t>Number of Lab Procedures</a:t>
            </a:r>
          </a:p>
          <a:p>
            <a:pPr marL="557022" lvl="1" indent="-278511" algn="l">
              <a:lnSpc>
                <a:spcPts val="3611"/>
              </a:lnSpc>
              <a:buFont typeface="Arial"/>
              <a:buChar char="•"/>
            </a:pPr>
            <a:r>
              <a:rPr lang="en-US" sz="2579">
                <a:solidFill>
                  <a:srgbClr val="000000"/>
                </a:solidFill>
                <a:latin typeface="TT Hoves"/>
                <a:ea typeface="TT Hoves"/>
                <a:cs typeface="TT Hoves"/>
                <a:sym typeface="TT Hoves"/>
              </a:rPr>
              <a:t>Age</a:t>
            </a:r>
          </a:p>
        </p:txBody>
      </p:sp>
      <p:sp>
        <p:nvSpPr>
          <p:cNvPr id="9" name="TextBox 9"/>
          <p:cNvSpPr txBox="1"/>
          <p:nvPr/>
        </p:nvSpPr>
        <p:spPr>
          <a:xfrm>
            <a:off x="9237319" y="7614950"/>
            <a:ext cx="6780609" cy="1820418"/>
          </a:xfrm>
          <a:prstGeom prst="rect">
            <a:avLst/>
          </a:prstGeom>
        </p:spPr>
        <p:txBody>
          <a:bodyPr lIns="0" tIns="0" rIns="0" bIns="0" rtlCol="0" anchor="t">
            <a:spAutoFit/>
          </a:bodyPr>
          <a:lstStyle/>
          <a:p>
            <a:pPr algn="l">
              <a:lnSpc>
                <a:spcPts val="3611"/>
              </a:lnSpc>
              <a:spcBef>
                <a:spcPct val="0"/>
              </a:spcBef>
            </a:pPr>
            <a:r>
              <a:rPr lang="en-US" sz="2579" b="1" dirty="0">
                <a:solidFill>
                  <a:srgbClr val="000000"/>
                </a:solidFill>
                <a:latin typeface="TT Hoves Bold"/>
                <a:ea typeface="TT Hoves Bold"/>
                <a:cs typeface="TT Hoves Bold"/>
                <a:sym typeface="TT Hoves Bold"/>
              </a:rPr>
              <a:t>Feature importance through SHAP analysis</a:t>
            </a:r>
          </a:p>
          <a:p>
            <a:pPr marL="557022" lvl="1" indent="-278511" algn="l">
              <a:lnSpc>
                <a:spcPts val="3611"/>
              </a:lnSpc>
              <a:spcBef>
                <a:spcPct val="0"/>
              </a:spcBef>
              <a:buFont typeface="Arial"/>
              <a:buChar char="•"/>
            </a:pPr>
            <a:r>
              <a:rPr lang="en-US" sz="2579" dirty="0">
                <a:solidFill>
                  <a:srgbClr val="000000"/>
                </a:solidFill>
                <a:latin typeface="TT Hoves"/>
                <a:ea typeface="TT Hoves"/>
                <a:cs typeface="TT Hoves"/>
                <a:sym typeface="TT Hoves"/>
              </a:rPr>
              <a:t>Logically sound</a:t>
            </a:r>
          </a:p>
          <a:p>
            <a:pPr marL="557022" lvl="1" indent="-278511" algn="l">
              <a:lnSpc>
                <a:spcPts val="3611"/>
              </a:lnSpc>
              <a:spcBef>
                <a:spcPct val="0"/>
              </a:spcBef>
              <a:buFont typeface="Arial"/>
              <a:buChar char="•"/>
            </a:pPr>
            <a:r>
              <a:rPr lang="en-US" sz="2579" dirty="0">
                <a:solidFill>
                  <a:srgbClr val="000000"/>
                </a:solidFill>
                <a:latin typeface="TT Hoves"/>
                <a:ea typeface="TT Hoves"/>
                <a:cs typeface="TT Hoves"/>
                <a:sym typeface="TT Hoves"/>
              </a:rPr>
              <a:t>Clinically interpretable</a:t>
            </a:r>
          </a:p>
          <a:p>
            <a:pPr marL="557022" lvl="1" indent="-278511" algn="l">
              <a:lnSpc>
                <a:spcPts val="3611"/>
              </a:lnSpc>
              <a:buFont typeface="Arial"/>
              <a:buChar char="•"/>
            </a:pPr>
            <a:r>
              <a:rPr lang="en-US" sz="2579" dirty="0">
                <a:solidFill>
                  <a:srgbClr val="000000"/>
                </a:solidFill>
                <a:latin typeface="TT Hoves"/>
                <a:ea typeface="TT Hoves"/>
                <a:cs typeface="TT Hoves"/>
                <a:sym typeface="TT Hoves"/>
              </a:rPr>
              <a:t>Provides confidence</a:t>
            </a:r>
          </a:p>
        </p:txBody>
      </p:sp>
      <p:graphicFrame>
        <p:nvGraphicFramePr>
          <p:cNvPr id="10" name="表格 9">
            <a:extLst>
              <a:ext uri="{FF2B5EF4-FFF2-40B4-BE49-F238E27FC236}">
                <a16:creationId xmlns:a16="http://schemas.microsoft.com/office/drawing/2014/main" id="{4C86EEA7-DFEB-8F41-3F8F-8EF9FE4CCD45}"/>
              </a:ext>
            </a:extLst>
          </p:cNvPr>
          <p:cNvGraphicFramePr>
            <a:graphicFrameLocks noGrp="1"/>
          </p:cNvGraphicFramePr>
          <p:nvPr>
            <p:extLst>
              <p:ext uri="{D42A27DB-BD31-4B8C-83A1-F6EECF244321}">
                <p14:modId xmlns:p14="http://schemas.microsoft.com/office/powerpoint/2010/main" val="1436867886"/>
              </p:ext>
            </p:extLst>
          </p:nvPr>
        </p:nvGraphicFramePr>
        <p:xfrm>
          <a:off x="9193925" y="4145534"/>
          <a:ext cx="7218759" cy="3401335"/>
        </p:xfrm>
        <a:graphic>
          <a:graphicData uri="http://schemas.openxmlformats.org/drawingml/2006/table">
            <a:tbl>
              <a:tblPr/>
              <a:tblGrid>
                <a:gridCol w="2406253">
                  <a:extLst>
                    <a:ext uri="{9D8B030D-6E8A-4147-A177-3AD203B41FA5}">
                      <a16:colId xmlns:a16="http://schemas.microsoft.com/office/drawing/2014/main" val="1148623605"/>
                    </a:ext>
                  </a:extLst>
                </a:gridCol>
                <a:gridCol w="2406253">
                  <a:extLst>
                    <a:ext uri="{9D8B030D-6E8A-4147-A177-3AD203B41FA5}">
                      <a16:colId xmlns:a16="http://schemas.microsoft.com/office/drawing/2014/main" val="125952980"/>
                    </a:ext>
                  </a:extLst>
                </a:gridCol>
                <a:gridCol w="2406253">
                  <a:extLst>
                    <a:ext uri="{9D8B030D-6E8A-4147-A177-3AD203B41FA5}">
                      <a16:colId xmlns:a16="http://schemas.microsoft.com/office/drawing/2014/main" val="4276611519"/>
                    </a:ext>
                  </a:extLst>
                </a:gridCol>
              </a:tblGrid>
              <a:tr h="646984">
                <a:tc>
                  <a:txBody>
                    <a:bodyPr/>
                    <a:lstStyle/>
                    <a:p>
                      <a:pPr algn="ctr">
                        <a:buNone/>
                      </a:pPr>
                      <a:r>
                        <a:rPr lang="en-SG" b="1">
                          <a:solidFill>
                            <a:srgbClr val="1B1C1D"/>
                          </a:solidFill>
                          <a:effectLst/>
                        </a:rPr>
                        <a:t>Feature Value</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FEFEF"/>
                    </a:solidFill>
                  </a:tcPr>
                </a:tc>
                <a:tc>
                  <a:txBody>
                    <a:bodyPr/>
                    <a:lstStyle/>
                    <a:p>
                      <a:pPr algn="ctr">
                        <a:buNone/>
                      </a:pPr>
                      <a:r>
                        <a:rPr lang="en-SG" b="1" dirty="0">
                          <a:solidFill>
                            <a:srgbClr val="1B1C1D"/>
                          </a:solidFill>
                          <a:effectLst/>
                        </a:rPr>
                        <a:t>Impact on Length of Stay</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FEFEF"/>
                    </a:solidFill>
                  </a:tcPr>
                </a:tc>
                <a:tc>
                  <a:txBody>
                    <a:bodyPr/>
                    <a:lstStyle/>
                    <a:p>
                      <a:pPr algn="ctr">
                        <a:buNone/>
                      </a:pPr>
                      <a:r>
                        <a:rPr lang="en-SG" b="1" dirty="0">
                          <a:solidFill>
                            <a:srgbClr val="1B1C1D"/>
                          </a:solidFill>
                          <a:effectLst/>
                        </a:rPr>
                        <a:t>Interpretation</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FEFEF"/>
                    </a:solidFill>
                  </a:tcPr>
                </a:tc>
                <a:extLst>
                  <a:ext uri="{0D108BD9-81ED-4DB2-BD59-A6C34878D82A}">
                    <a16:rowId xmlns:a16="http://schemas.microsoft.com/office/drawing/2014/main" val="2190103298"/>
                  </a:ext>
                </a:extLst>
              </a:tr>
              <a:tr h="918117">
                <a:tc>
                  <a:txBody>
                    <a:bodyPr/>
                    <a:lstStyle/>
                    <a:p>
                      <a:pPr algn="ctr" rtl="0">
                        <a:buNone/>
                      </a:pPr>
                      <a:r>
                        <a:rPr lang="en-SG" b="0" i="0">
                          <a:solidFill>
                            <a:srgbClr val="1B1C1D"/>
                          </a:solidFill>
                          <a:effectLst/>
                        </a:rPr>
                        <a:t>Number of Medication </a:t>
                      </a:r>
                      <a:r>
                        <a:rPr lang="en-SG" b="1" i="0">
                          <a:solidFill>
                            <a:srgbClr val="1B1C1D"/>
                          </a:solidFill>
                          <a:effectLst/>
                        </a:rPr>
                        <a:t>↑</a:t>
                      </a:r>
                      <a:endParaRPr lang="en-SG">
                        <a:solidFill>
                          <a:srgbClr val="1B1C1D"/>
                        </a:solidFill>
                        <a:effectLst/>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zh-SG" altLang="en-US" sz="3600" b="1">
                          <a:solidFill>
                            <a:srgbClr val="1B1C1D"/>
                          </a:solidFill>
                          <a:effectLst/>
                        </a:rPr>
                        <a:t>↑</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en-SG">
                          <a:solidFill>
                            <a:srgbClr val="1B1C1D"/>
                          </a:solidFill>
                          <a:effectLst/>
                        </a:rPr>
                        <a:t>More medication required ⟶ Longer length of stay</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973512876"/>
                  </a:ext>
                </a:extLst>
              </a:tr>
              <a:tr h="918117">
                <a:tc>
                  <a:txBody>
                    <a:bodyPr/>
                    <a:lstStyle/>
                    <a:p>
                      <a:pPr algn="ctr" rtl="0">
                        <a:buNone/>
                      </a:pPr>
                      <a:r>
                        <a:rPr lang="en-SG" b="0" i="0">
                          <a:solidFill>
                            <a:srgbClr val="1B1C1D"/>
                          </a:solidFill>
                          <a:effectLst/>
                        </a:rPr>
                        <a:t>Number of Lab procedures </a:t>
                      </a:r>
                      <a:r>
                        <a:rPr lang="en-SG" b="1" i="0">
                          <a:solidFill>
                            <a:srgbClr val="1B1C1D"/>
                          </a:solidFill>
                          <a:effectLst/>
                        </a:rPr>
                        <a:t>↑</a:t>
                      </a:r>
                      <a:endParaRPr lang="en-SG">
                        <a:solidFill>
                          <a:srgbClr val="1B1C1D"/>
                        </a:solidFill>
                        <a:effectLst/>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zh-SG" altLang="en-US" sz="3600" b="1" dirty="0">
                          <a:effectLst/>
                        </a:rPr>
                        <a:t>↑</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en-SG">
                          <a:solidFill>
                            <a:srgbClr val="1B1C1D"/>
                          </a:solidFill>
                          <a:effectLst/>
                        </a:rPr>
                        <a:t>More lab procedures prescribed ⟶ Longer length of stay</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726734049"/>
                  </a:ext>
                </a:extLst>
              </a:tr>
              <a:tr h="918117">
                <a:tc>
                  <a:txBody>
                    <a:bodyPr/>
                    <a:lstStyle/>
                    <a:p>
                      <a:pPr algn="ctr" rtl="0">
                        <a:buNone/>
                      </a:pPr>
                      <a:r>
                        <a:rPr lang="en-SG" b="0" i="0">
                          <a:solidFill>
                            <a:srgbClr val="000000"/>
                          </a:solidFill>
                          <a:effectLst/>
                        </a:rPr>
                        <a:t>Age </a:t>
                      </a:r>
                      <a:r>
                        <a:rPr lang="en-SG" b="1" i="0">
                          <a:solidFill>
                            <a:srgbClr val="000000"/>
                          </a:solidFill>
                          <a:effectLst/>
                        </a:rPr>
                        <a:t>↑</a:t>
                      </a:r>
                      <a:endParaRPr lang="en-SG">
                        <a:effectLst/>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zh-SG" altLang="en-US" sz="3600" b="1" dirty="0">
                          <a:effectLst/>
                        </a:rPr>
                        <a:t>↑</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en-SG" dirty="0">
                          <a:solidFill>
                            <a:srgbClr val="1B1C1D"/>
                          </a:solidFill>
                          <a:effectLst/>
                        </a:rPr>
                        <a:t>Older patients ⟶ Longer length of stay</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856344350"/>
                  </a:ext>
                </a:extLst>
              </a:tr>
            </a:tbl>
          </a:graphicData>
        </a:graphic>
      </p:graphicFrame>
      <p:sp>
        <p:nvSpPr>
          <p:cNvPr id="11" name="Rectangle 1">
            <a:extLst>
              <a:ext uri="{FF2B5EF4-FFF2-40B4-BE49-F238E27FC236}">
                <a16:creationId xmlns:a16="http://schemas.microsoft.com/office/drawing/2014/main" id="{25FAF473-CE0D-1211-AF76-83D2A980D659}"/>
              </a:ext>
            </a:extLst>
          </p:cNvPr>
          <p:cNvSpPr>
            <a:spLocks noChangeArrowheads="1"/>
          </p:cNvSpPr>
          <p:nvPr/>
        </p:nvSpPr>
        <p:spPr bwMode="auto">
          <a:xfrm>
            <a:off x="8028646" y="4282934"/>
            <a:ext cx="1604168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sp>
        <p:nvSpPr>
          <p:cNvPr id="4" name="Freeform 4"/>
          <p:cNvSpPr/>
          <p:nvPr/>
        </p:nvSpPr>
        <p:spPr>
          <a:xfrm>
            <a:off x="1047118" y="2393643"/>
            <a:ext cx="6323446" cy="5106098"/>
          </a:xfrm>
          <a:custGeom>
            <a:avLst/>
            <a:gdLst/>
            <a:ahLst/>
            <a:cxnLst/>
            <a:rect l="l" t="t" r="r" b="b"/>
            <a:pathLst>
              <a:path w="6323446" h="5106098">
                <a:moveTo>
                  <a:pt x="0" y="0"/>
                </a:moveTo>
                <a:lnTo>
                  <a:pt x="6323446" y="0"/>
                </a:lnTo>
                <a:lnTo>
                  <a:pt x="6323446" y="5106099"/>
                </a:lnTo>
                <a:lnTo>
                  <a:pt x="0" y="5106099"/>
                </a:lnTo>
                <a:lnTo>
                  <a:pt x="0" y="0"/>
                </a:lnTo>
                <a:close/>
              </a:path>
            </a:pathLst>
          </a:custGeom>
          <a:blipFill>
            <a:blip r:embed="rId5"/>
            <a:stretch>
              <a:fillRect/>
            </a:stretch>
          </a:blipFill>
        </p:spPr>
        <p:txBody>
          <a:bodyPr/>
          <a:lstStyle/>
          <a:p>
            <a:endParaRPr lang="zh-SG" altLang="en-US"/>
          </a:p>
        </p:txBody>
      </p:sp>
      <p:sp>
        <p:nvSpPr>
          <p:cNvPr id="5" name="Freeform 5"/>
          <p:cNvSpPr/>
          <p:nvPr/>
        </p:nvSpPr>
        <p:spPr>
          <a:xfrm>
            <a:off x="1047118" y="7499742"/>
            <a:ext cx="6323446" cy="1161933"/>
          </a:xfrm>
          <a:custGeom>
            <a:avLst/>
            <a:gdLst/>
            <a:ahLst/>
            <a:cxnLst/>
            <a:rect l="l" t="t" r="r" b="b"/>
            <a:pathLst>
              <a:path w="6323446" h="1161933">
                <a:moveTo>
                  <a:pt x="0" y="0"/>
                </a:moveTo>
                <a:lnTo>
                  <a:pt x="6323446" y="0"/>
                </a:lnTo>
                <a:lnTo>
                  <a:pt x="6323446" y="1161933"/>
                </a:lnTo>
                <a:lnTo>
                  <a:pt x="0" y="1161933"/>
                </a:lnTo>
                <a:lnTo>
                  <a:pt x="0" y="0"/>
                </a:lnTo>
                <a:close/>
              </a:path>
            </a:pathLst>
          </a:custGeom>
          <a:blipFill>
            <a:blip r:embed="rId6"/>
            <a:stretch>
              <a:fillRect/>
            </a:stretch>
          </a:blipFill>
        </p:spPr>
        <p:txBody>
          <a:bodyPr/>
          <a:lstStyle/>
          <a:p>
            <a:endParaRPr lang="zh-SG" altLang="en-US"/>
          </a:p>
        </p:txBody>
      </p:sp>
      <p:sp>
        <p:nvSpPr>
          <p:cNvPr id="6" name="TextBox 6"/>
          <p:cNvSpPr txBox="1"/>
          <p:nvPr/>
        </p:nvSpPr>
        <p:spPr>
          <a:xfrm>
            <a:off x="1028700" y="834344"/>
            <a:ext cx="17259300"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FEATURE CONTRIBUTION - SHAP ANALYSIS</a:t>
            </a:r>
          </a:p>
        </p:txBody>
      </p:sp>
      <p:sp>
        <p:nvSpPr>
          <p:cNvPr id="7" name="TextBox 7"/>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Understanding the top feature</a:t>
            </a:r>
          </a:p>
        </p:txBody>
      </p:sp>
      <p:sp>
        <p:nvSpPr>
          <p:cNvPr id="8" name="TextBox 8"/>
          <p:cNvSpPr txBox="1"/>
          <p:nvPr/>
        </p:nvSpPr>
        <p:spPr>
          <a:xfrm>
            <a:off x="7903070" y="2348566"/>
            <a:ext cx="10384930" cy="3004185"/>
          </a:xfrm>
          <a:prstGeom prst="rect">
            <a:avLst/>
          </a:prstGeom>
        </p:spPr>
        <p:txBody>
          <a:bodyPr lIns="0" tIns="0" rIns="0" bIns="0" rtlCol="0" anchor="t">
            <a:spAutoFit/>
          </a:bodyPr>
          <a:lstStyle/>
          <a:p>
            <a:pPr algn="l">
              <a:lnSpc>
                <a:spcPts val="3990"/>
              </a:lnSpc>
            </a:pPr>
            <a:r>
              <a:rPr lang="en-US" sz="2850" b="1">
                <a:solidFill>
                  <a:srgbClr val="000000"/>
                </a:solidFill>
                <a:latin typeface="TT Hoves Bold"/>
                <a:ea typeface="TT Hoves Bold"/>
                <a:cs typeface="TT Hoves Bold"/>
                <a:sym typeface="TT Hoves Bold"/>
              </a:rPr>
              <a:t>Effect of Number of Medication on Length of Stay</a:t>
            </a:r>
          </a:p>
          <a:p>
            <a:pPr marL="615315" lvl="1" indent="-307658" algn="l">
              <a:lnSpc>
                <a:spcPts val="3990"/>
              </a:lnSpc>
              <a:buFont typeface="Arial"/>
              <a:buChar char="•"/>
            </a:pPr>
            <a:r>
              <a:rPr lang="en-US" sz="2850">
                <a:solidFill>
                  <a:srgbClr val="000000"/>
                </a:solidFill>
                <a:latin typeface="TT Hoves"/>
                <a:ea typeface="TT Hoves"/>
                <a:cs typeface="TT Hoves"/>
                <a:sym typeface="TT Hoves"/>
              </a:rPr>
              <a:t>Generally Linear</a:t>
            </a:r>
          </a:p>
          <a:p>
            <a:pPr marL="615315" lvl="1" indent="-307658" algn="l">
              <a:lnSpc>
                <a:spcPts val="3990"/>
              </a:lnSpc>
              <a:buFont typeface="Arial"/>
              <a:buChar char="•"/>
            </a:pPr>
            <a:r>
              <a:rPr lang="en-US" sz="2850">
                <a:solidFill>
                  <a:srgbClr val="000000"/>
                </a:solidFill>
                <a:latin typeface="TT Hoves"/>
                <a:ea typeface="TT Hoves"/>
                <a:cs typeface="TT Hoves"/>
                <a:sym typeface="TT Hoves"/>
              </a:rPr>
              <a:t>Beyond threshold of 40, further increase does not cause significant change to prediction</a:t>
            </a:r>
          </a:p>
          <a:p>
            <a:pPr marL="615315" lvl="1" indent="-307658" algn="l">
              <a:lnSpc>
                <a:spcPts val="3990"/>
              </a:lnSpc>
              <a:buFont typeface="Arial"/>
              <a:buChar char="•"/>
            </a:pPr>
            <a:r>
              <a:rPr lang="en-US" sz="2850">
                <a:solidFill>
                  <a:srgbClr val="000000"/>
                </a:solidFill>
                <a:latin typeface="TT Hoves"/>
                <a:ea typeface="TT Hoves"/>
                <a:cs typeface="TT Hoves"/>
                <a:sym typeface="TT Hoves"/>
              </a:rPr>
              <a:t>Could be attributed to data sparsity (see below extract from EDA)</a:t>
            </a:r>
          </a:p>
        </p:txBody>
      </p:sp>
      <p:sp>
        <p:nvSpPr>
          <p:cNvPr id="9" name="TextBox 9"/>
          <p:cNvSpPr txBox="1"/>
          <p:nvPr/>
        </p:nvSpPr>
        <p:spPr>
          <a:xfrm>
            <a:off x="7943633" y="6317951"/>
            <a:ext cx="10344367" cy="2499360"/>
          </a:xfrm>
          <a:prstGeom prst="rect">
            <a:avLst/>
          </a:prstGeom>
        </p:spPr>
        <p:txBody>
          <a:bodyPr lIns="0" tIns="0" rIns="0" bIns="0" rtlCol="0" anchor="t">
            <a:spAutoFit/>
          </a:bodyPr>
          <a:lstStyle/>
          <a:p>
            <a:pPr algn="l">
              <a:lnSpc>
                <a:spcPts val="3990"/>
              </a:lnSpc>
              <a:spcBef>
                <a:spcPct val="0"/>
              </a:spcBef>
            </a:pPr>
            <a:r>
              <a:rPr lang="en-US" sz="2850">
                <a:solidFill>
                  <a:srgbClr val="000000"/>
                </a:solidFill>
                <a:latin typeface="TT Hoves"/>
                <a:ea typeface="TT Hoves"/>
                <a:cs typeface="TT Hoves"/>
                <a:sym typeface="TT Hoves"/>
              </a:rPr>
              <a:t>The analysis confirms that </a:t>
            </a:r>
            <a:r>
              <a:rPr lang="en-US" sz="2850" b="1">
                <a:solidFill>
                  <a:srgbClr val="000000"/>
                </a:solidFill>
                <a:latin typeface="TT Hoves Bold"/>
                <a:ea typeface="TT Hoves Bold"/>
                <a:cs typeface="TT Hoves Bold"/>
                <a:sym typeface="TT Hoves Bold"/>
              </a:rPr>
              <a:t>suggests</a:t>
            </a:r>
            <a:r>
              <a:rPr lang="en-US" sz="2850">
                <a:solidFill>
                  <a:srgbClr val="000000"/>
                </a:solidFill>
                <a:latin typeface="TT Hoves"/>
                <a:ea typeface="TT Hoves"/>
                <a:cs typeface="TT Hoves"/>
                <a:sym typeface="TT Hoves"/>
              </a:rPr>
              <a:t> that the model may not have enough samples in high range of medication to provide meaningful adjustments to prediction</a:t>
            </a:r>
          </a:p>
          <a:p>
            <a:pPr algn="l">
              <a:lnSpc>
                <a:spcPts val="3990"/>
              </a:lnSpc>
              <a:spcBef>
                <a:spcPct val="0"/>
              </a:spcBef>
            </a:pPr>
            <a:endParaRPr lang="en-US" sz="2850">
              <a:solidFill>
                <a:srgbClr val="000000"/>
              </a:solidFill>
              <a:latin typeface="TT Hoves"/>
              <a:ea typeface="TT Hoves"/>
              <a:cs typeface="TT Hoves"/>
              <a:sym typeface="TT Hoves"/>
            </a:endParaRPr>
          </a:p>
          <a:p>
            <a:pPr algn="l">
              <a:lnSpc>
                <a:spcPts val="3990"/>
              </a:lnSpc>
              <a:spcBef>
                <a:spcPct val="0"/>
              </a:spcBef>
            </a:pPr>
            <a:r>
              <a:rPr lang="en-US" sz="2850">
                <a:solidFill>
                  <a:srgbClr val="000000"/>
                </a:solidFill>
                <a:latin typeface="TT Hoves"/>
                <a:ea typeface="TT Hoves"/>
                <a:cs typeface="TT Hoves"/>
                <a:sym typeface="TT Hoves"/>
              </a:rPr>
              <a:t>Potential improvement to dataset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9950507" y="7177426"/>
            <a:ext cx="12701350" cy="5382197"/>
          </a:xfrm>
          <a:custGeom>
            <a:avLst/>
            <a:gdLst/>
            <a:ahLst/>
            <a:cxnLst/>
            <a:rect l="l" t="t" r="r" b="b"/>
            <a:pathLst>
              <a:path w="12701350" h="5382197">
                <a:moveTo>
                  <a:pt x="0" y="0"/>
                </a:moveTo>
                <a:lnTo>
                  <a:pt x="12701350" y="0"/>
                </a:lnTo>
                <a:lnTo>
                  <a:pt x="12701350"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rot="1784357">
            <a:off x="-575872" y="-647487"/>
            <a:ext cx="7735476" cy="4631616"/>
          </a:xfrm>
          <a:custGeom>
            <a:avLst/>
            <a:gdLst/>
            <a:ahLst/>
            <a:cxnLst/>
            <a:rect l="l" t="t" r="r" b="b"/>
            <a:pathLst>
              <a:path w="7735476" h="4631616">
                <a:moveTo>
                  <a:pt x="0" y="0"/>
                </a:moveTo>
                <a:lnTo>
                  <a:pt x="7735475" y="0"/>
                </a:lnTo>
                <a:lnTo>
                  <a:pt x="7735475" y="4631616"/>
                </a:lnTo>
                <a:lnTo>
                  <a:pt x="0" y="4631616"/>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0" y="-392510"/>
            <a:ext cx="2222584" cy="11072020"/>
            <a:chOff x="0" y="0"/>
            <a:chExt cx="585372" cy="2916088"/>
          </a:xfrm>
        </p:grpSpPr>
        <p:sp>
          <p:nvSpPr>
            <p:cNvPr id="5" name="Freeform 5"/>
            <p:cNvSpPr/>
            <p:nvPr/>
          </p:nvSpPr>
          <p:spPr>
            <a:xfrm>
              <a:off x="0" y="0"/>
              <a:ext cx="585372" cy="2916088"/>
            </a:xfrm>
            <a:custGeom>
              <a:avLst/>
              <a:gdLst/>
              <a:ahLst/>
              <a:cxnLst/>
              <a:rect l="l" t="t" r="r" b="b"/>
              <a:pathLst>
                <a:path w="585372" h="2916088">
                  <a:moveTo>
                    <a:pt x="0" y="0"/>
                  </a:moveTo>
                  <a:lnTo>
                    <a:pt x="585372" y="0"/>
                  </a:lnTo>
                  <a:lnTo>
                    <a:pt x="585372"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585372" cy="2973238"/>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3291865" y="2445367"/>
            <a:ext cx="12023167" cy="1831486"/>
          </a:xfrm>
          <a:prstGeom prst="rect">
            <a:avLst/>
          </a:prstGeom>
        </p:spPr>
        <p:txBody>
          <a:bodyPr lIns="0" tIns="0" rIns="0" bIns="0" rtlCol="0" anchor="t">
            <a:spAutoFit/>
          </a:bodyPr>
          <a:lstStyle/>
          <a:p>
            <a:pPr algn="l">
              <a:lnSpc>
                <a:spcPts val="6731"/>
              </a:lnSpc>
            </a:pPr>
            <a:r>
              <a:rPr lang="en-US" sz="6939" b="1">
                <a:solidFill>
                  <a:srgbClr val="343434"/>
                </a:solidFill>
                <a:latin typeface="Telegraf Bold"/>
                <a:ea typeface="Telegraf Bold"/>
                <a:cs typeface="Telegraf Bold"/>
                <a:sym typeface="Telegraf Bold"/>
              </a:rPr>
              <a:t>PREDICTING DISCHARGE DESTINATION </a:t>
            </a:r>
          </a:p>
        </p:txBody>
      </p:sp>
      <p:sp>
        <p:nvSpPr>
          <p:cNvPr id="8" name="TextBox 8"/>
          <p:cNvSpPr txBox="1"/>
          <p:nvPr/>
        </p:nvSpPr>
        <p:spPr>
          <a:xfrm>
            <a:off x="3291865" y="5146240"/>
            <a:ext cx="9737167"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CLASSIFICATION PROBLEM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2"/>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8" name="TextBox 8"/>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grpSp>
        <p:nvGrpSpPr>
          <p:cNvPr id="9" name="Group 9"/>
          <p:cNvGrpSpPr/>
          <p:nvPr/>
        </p:nvGrpSpPr>
        <p:grpSpPr>
          <a:xfrm>
            <a:off x="1028700" y="3899634"/>
            <a:ext cx="16230600" cy="2436935"/>
            <a:chOff x="0" y="0"/>
            <a:chExt cx="4274726" cy="641827"/>
          </a:xfrm>
        </p:grpSpPr>
        <p:sp>
          <p:nvSpPr>
            <p:cNvPr id="10" name="Freeform 10"/>
            <p:cNvSpPr/>
            <p:nvPr/>
          </p:nvSpPr>
          <p:spPr>
            <a:xfrm>
              <a:off x="0" y="0"/>
              <a:ext cx="4274726" cy="641827"/>
            </a:xfrm>
            <a:custGeom>
              <a:avLst/>
              <a:gdLst/>
              <a:ahLst/>
              <a:cxnLst/>
              <a:rect l="l" t="t" r="r" b="b"/>
              <a:pathLst>
                <a:path w="4274726" h="641827">
                  <a:moveTo>
                    <a:pt x="15264" y="0"/>
                  </a:moveTo>
                  <a:lnTo>
                    <a:pt x="4259462" y="0"/>
                  </a:lnTo>
                  <a:cubicBezTo>
                    <a:pt x="4263510" y="0"/>
                    <a:pt x="4267393" y="1608"/>
                    <a:pt x="4270255" y="4471"/>
                  </a:cubicBezTo>
                  <a:cubicBezTo>
                    <a:pt x="4273118" y="7333"/>
                    <a:pt x="4274726" y="11216"/>
                    <a:pt x="4274726" y="15264"/>
                  </a:cubicBezTo>
                  <a:lnTo>
                    <a:pt x="4274726" y="626563"/>
                  </a:lnTo>
                  <a:cubicBezTo>
                    <a:pt x="4274726" y="630611"/>
                    <a:pt x="4273118" y="634493"/>
                    <a:pt x="4270255" y="637356"/>
                  </a:cubicBezTo>
                  <a:cubicBezTo>
                    <a:pt x="4267393" y="640218"/>
                    <a:pt x="4263510" y="641827"/>
                    <a:pt x="4259462" y="641827"/>
                  </a:cubicBezTo>
                  <a:lnTo>
                    <a:pt x="15264" y="641827"/>
                  </a:lnTo>
                  <a:cubicBezTo>
                    <a:pt x="11216" y="641827"/>
                    <a:pt x="7333" y="640218"/>
                    <a:pt x="4471" y="637356"/>
                  </a:cubicBezTo>
                  <a:cubicBezTo>
                    <a:pt x="1608" y="634493"/>
                    <a:pt x="0" y="630611"/>
                    <a:pt x="0" y="626563"/>
                  </a:cubicBezTo>
                  <a:lnTo>
                    <a:pt x="0" y="15264"/>
                  </a:lnTo>
                  <a:cubicBezTo>
                    <a:pt x="0" y="11216"/>
                    <a:pt x="1608" y="7333"/>
                    <a:pt x="4471" y="4471"/>
                  </a:cubicBezTo>
                  <a:cubicBezTo>
                    <a:pt x="7333" y="1608"/>
                    <a:pt x="11216" y="0"/>
                    <a:pt x="15264"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1" name="TextBox 11"/>
            <p:cNvSpPr txBox="1"/>
            <p:nvPr/>
          </p:nvSpPr>
          <p:spPr>
            <a:xfrm>
              <a:off x="0" y="-19050"/>
              <a:ext cx="4274726" cy="660877"/>
            </a:xfrm>
            <a:prstGeom prst="rect">
              <a:avLst/>
            </a:prstGeom>
          </p:spPr>
          <p:txBody>
            <a:bodyPr lIns="254000" tIns="254000" rIns="254000" bIns="254000" rtlCol="0" anchor="ctr"/>
            <a:lstStyle/>
            <a:p>
              <a:pPr algn="l">
                <a:lnSpc>
                  <a:spcPts val="4587"/>
                </a:lnSpc>
              </a:pPr>
              <a:r>
                <a:rPr lang="en-US" sz="3699" b="1">
                  <a:solidFill>
                    <a:srgbClr val="F2F7FA"/>
                  </a:solidFill>
                  <a:latin typeface="TT Hoves Bold"/>
                  <a:ea typeface="TT Hoves Bold"/>
                  <a:cs typeface="TT Hoves Bold"/>
                  <a:sym typeface="TT Hoves Bold"/>
                </a:rPr>
                <a:t>Objective:</a:t>
              </a:r>
              <a:r>
                <a:rPr lang="en-US" sz="3699">
                  <a:solidFill>
                    <a:srgbClr val="F2F7FA"/>
                  </a:solidFill>
                  <a:latin typeface="TT Hoves"/>
                  <a:ea typeface="TT Hoves"/>
                  <a:cs typeface="TT Hoves"/>
                  <a:sym typeface="TT Hoves"/>
                </a:rPr>
                <a:t> Predict patient’s </a:t>
              </a:r>
              <a:r>
                <a:rPr lang="en-US" sz="3699" b="1">
                  <a:solidFill>
                    <a:srgbClr val="F2F7FA"/>
                  </a:solidFill>
                  <a:latin typeface="TT Hoves Bold"/>
                  <a:ea typeface="TT Hoves Bold"/>
                  <a:cs typeface="TT Hoves Bold"/>
                  <a:sym typeface="TT Hoves Bold"/>
                </a:rPr>
                <a:t>discharge destination</a:t>
              </a:r>
              <a:r>
                <a:rPr lang="en-US" sz="3699">
                  <a:solidFill>
                    <a:srgbClr val="F2F7FA"/>
                  </a:solidFill>
                  <a:latin typeface="TT Hoves"/>
                  <a:ea typeface="TT Hoves"/>
                  <a:cs typeface="TT Hoves"/>
                  <a:sym typeface="TT Hoves"/>
                </a:rPr>
                <a:t> ahead of time to allow for </a:t>
              </a:r>
              <a:r>
                <a:rPr lang="en-US" sz="3699" b="1">
                  <a:solidFill>
                    <a:srgbClr val="F2F7FA"/>
                  </a:solidFill>
                  <a:latin typeface="TT Hoves Bold"/>
                  <a:ea typeface="TT Hoves Bold"/>
                  <a:cs typeface="TT Hoves Bold"/>
                  <a:sym typeface="TT Hoves Bold"/>
                </a:rPr>
                <a:t>proactive management of hospital resources</a:t>
              </a:r>
              <a:r>
                <a:rPr lang="en-US" sz="3699">
                  <a:solidFill>
                    <a:srgbClr val="F2F7FA"/>
                  </a:solidFill>
                  <a:latin typeface="TT Hoves"/>
                  <a:ea typeface="TT Hoves"/>
                  <a:cs typeface="TT Hoves"/>
                  <a:sym typeface="TT Hoves"/>
                </a:rPr>
                <a:t>, particularly regarding bed turn over and post-discharge logistics</a:t>
              </a:r>
            </a:p>
          </p:txBody>
        </p:sp>
      </p:grpSp>
      <p:grpSp>
        <p:nvGrpSpPr>
          <p:cNvPr id="12" name="Group 12"/>
          <p:cNvGrpSpPr/>
          <p:nvPr/>
        </p:nvGrpSpPr>
        <p:grpSpPr>
          <a:xfrm>
            <a:off x="2457599" y="7712615"/>
            <a:ext cx="4338729" cy="1543050"/>
            <a:chOff x="0" y="0"/>
            <a:chExt cx="1142711" cy="406400"/>
          </a:xfrm>
        </p:grpSpPr>
        <p:sp>
          <p:nvSpPr>
            <p:cNvPr id="13" name="Freeform 13"/>
            <p:cNvSpPr/>
            <p:nvPr/>
          </p:nvSpPr>
          <p:spPr>
            <a:xfrm>
              <a:off x="0" y="0"/>
              <a:ext cx="1142711" cy="406400"/>
            </a:xfrm>
            <a:custGeom>
              <a:avLst/>
              <a:gdLst/>
              <a:ahLst/>
              <a:cxnLst/>
              <a:rect l="l" t="t" r="r" b="b"/>
              <a:pathLst>
                <a:path w="1142711" h="406400">
                  <a:moveTo>
                    <a:pt x="939511" y="0"/>
                  </a:moveTo>
                  <a:cubicBezTo>
                    <a:pt x="1051735" y="0"/>
                    <a:pt x="1142711" y="90976"/>
                    <a:pt x="1142711" y="203200"/>
                  </a:cubicBezTo>
                  <a:cubicBezTo>
                    <a:pt x="1142711" y="315424"/>
                    <a:pt x="1051735" y="406400"/>
                    <a:pt x="939511" y="406400"/>
                  </a:cubicBezTo>
                  <a:lnTo>
                    <a:pt x="203200" y="406400"/>
                  </a:lnTo>
                  <a:cubicBezTo>
                    <a:pt x="90976" y="406400"/>
                    <a:pt x="0" y="315424"/>
                    <a:pt x="0" y="203200"/>
                  </a:cubicBezTo>
                  <a:cubicBezTo>
                    <a:pt x="0" y="90976"/>
                    <a:pt x="90976" y="0"/>
                    <a:pt x="203200" y="0"/>
                  </a:cubicBezTo>
                  <a:close/>
                </a:path>
              </a:pathLst>
            </a:custGeom>
            <a:solidFill>
              <a:srgbClr val="4D83BB"/>
            </a:solidFill>
          </p:spPr>
          <p:txBody>
            <a:bodyPr/>
            <a:lstStyle/>
            <a:p>
              <a:endParaRPr lang="zh-SG" altLang="en-US"/>
            </a:p>
          </p:txBody>
        </p:sp>
        <p:sp>
          <p:nvSpPr>
            <p:cNvPr id="14" name="TextBox 14"/>
            <p:cNvSpPr txBox="1"/>
            <p:nvPr/>
          </p:nvSpPr>
          <p:spPr>
            <a:xfrm>
              <a:off x="0" y="-57150"/>
              <a:ext cx="1142711" cy="463550"/>
            </a:xfrm>
            <a:prstGeom prst="rect">
              <a:avLst/>
            </a:prstGeom>
          </p:spPr>
          <p:txBody>
            <a:bodyPr lIns="50800" tIns="50800" rIns="50800" bIns="50800" rtlCol="0" anchor="ctr"/>
            <a:lstStyle/>
            <a:p>
              <a:pPr algn="ctr">
                <a:lnSpc>
                  <a:spcPts val="4199"/>
                </a:lnSpc>
              </a:pPr>
              <a:r>
                <a:rPr lang="en-US" sz="2999">
                  <a:solidFill>
                    <a:srgbClr val="F2F7FA"/>
                  </a:solidFill>
                  <a:latin typeface="TT Hoves"/>
                  <a:ea typeface="TT Hoves"/>
                  <a:cs typeface="TT Hoves"/>
                  <a:sym typeface="TT Hoves"/>
                </a:rPr>
                <a:t>Premptive arrangement of post discharge care</a:t>
              </a:r>
            </a:p>
          </p:txBody>
        </p:sp>
      </p:grpSp>
      <p:sp>
        <p:nvSpPr>
          <p:cNvPr id="15" name="TextBox 15"/>
          <p:cNvSpPr txBox="1"/>
          <p:nvPr/>
        </p:nvSpPr>
        <p:spPr>
          <a:xfrm>
            <a:off x="1028700" y="936243"/>
            <a:ext cx="15002145" cy="1875427"/>
          </a:xfrm>
          <a:prstGeom prst="rect">
            <a:avLst/>
          </a:prstGeom>
        </p:spPr>
        <p:txBody>
          <a:bodyPr lIns="0" tIns="0" rIns="0" bIns="0" rtlCol="0" anchor="t">
            <a:spAutoFit/>
          </a:bodyPr>
          <a:lstStyle/>
          <a:p>
            <a:pPr algn="l">
              <a:lnSpc>
                <a:spcPts val="6925"/>
              </a:lnSpc>
            </a:pPr>
            <a:r>
              <a:rPr lang="en-US" sz="7139" b="1">
                <a:solidFill>
                  <a:srgbClr val="343434"/>
                </a:solidFill>
                <a:latin typeface="Telegraf Bold"/>
                <a:ea typeface="Telegraf Bold"/>
                <a:cs typeface="Telegraf Bold"/>
                <a:sym typeface="Telegraf Bold"/>
              </a:rPr>
              <a:t>PREDICTING DISCHARGE DESTINATION</a:t>
            </a:r>
          </a:p>
        </p:txBody>
      </p:sp>
      <p:sp>
        <p:nvSpPr>
          <p:cNvPr id="16" name="TextBox 16"/>
          <p:cNvSpPr txBox="1"/>
          <p:nvPr/>
        </p:nvSpPr>
        <p:spPr>
          <a:xfrm>
            <a:off x="1028700" y="2678320"/>
            <a:ext cx="9657424" cy="151257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MULTI-CLASS CLASSIFICATION </a:t>
            </a:r>
          </a:p>
          <a:p>
            <a:pPr algn="l">
              <a:lnSpc>
                <a:spcPts val="5880"/>
              </a:lnSpc>
              <a:spcBef>
                <a:spcPct val="0"/>
              </a:spcBef>
            </a:pPr>
            <a:endParaRPr lang="en-US" sz="4200" spc="100">
              <a:solidFill>
                <a:srgbClr val="343434"/>
              </a:solidFill>
              <a:latin typeface="Telegraf"/>
              <a:ea typeface="Telegraf"/>
              <a:cs typeface="Telegraf"/>
              <a:sym typeface="Telegraf"/>
            </a:endParaRPr>
          </a:p>
        </p:txBody>
      </p:sp>
      <p:sp>
        <p:nvSpPr>
          <p:cNvPr id="17" name="TextBox 17"/>
          <p:cNvSpPr txBox="1"/>
          <p:nvPr/>
        </p:nvSpPr>
        <p:spPr>
          <a:xfrm>
            <a:off x="609600" y="6408899"/>
            <a:ext cx="2775645" cy="537846"/>
          </a:xfrm>
          <a:prstGeom prst="rect">
            <a:avLst/>
          </a:prstGeom>
        </p:spPr>
        <p:txBody>
          <a:bodyPr lIns="0" tIns="0" rIns="0" bIns="0" rtlCol="0" anchor="t">
            <a:spAutoFit/>
          </a:bodyPr>
          <a:lstStyle/>
          <a:p>
            <a:pPr algn="ctr">
              <a:lnSpc>
                <a:spcPts val="4479"/>
              </a:lnSpc>
              <a:spcBef>
                <a:spcPct val="0"/>
              </a:spcBef>
            </a:pPr>
            <a:r>
              <a:rPr lang="en-US" sz="3199">
                <a:solidFill>
                  <a:srgbClr val="343434"/>
                </a:solidFill>
                <a:latin typeface="TT Hoves"/>
                <a:ea typeface="TT Hoves"/>
                <a:cs typeface="TT Hoves"/>
                <a:sym typeface="TT Hoves"/>
              </a:rPr>
              <a:t>Business Value:</a:t>
            </a:r>
          </a:p>
        </p:txBody>
      </p:sp>
      <p:grpSp>
        <p:nvGrpSpPr>
          <p:cNvPr id="18" name="Group 18"/>
          <p:cNvGrpSpPr/>
          <p:nvPr/>
        </p:nvGrpSpPr>
        <p:grpSpPr>
          <a:xfrm>
            <a:off x="7350791" y="7715250"/>
            <a:ext cx="4338729" cy="1543050"/>
            <a:chOff x="0" y="0"/>
            <a:chExt cx="1142711" cy="406400"/>
          </a:xfrm>
        </p:grpSpPr>
        <p:sp>
          <p:nvSpPr>
            <p:cNvPr id="19" name="Freeform 19"/>
            <p:cNvSpPr/>
            <p:nvPr/>
          </p:nvSpPr>
          <p:spPr>
            <a:xfrm>
              <a:off x="0" y="0"/>
              <a:ext cx="1142711" cy="406400"/>
            </a:xfrm>
            <a:custGeom>
              <a:avLst/>
              <a:gdLst/>
              <a:ahLst/>
              <a:cxnLst/>
              <a:rect l="l" t="t" r="r" b="b"/>
              <a:pathLst>
                <a:path w="1142711" h="406400">
                  <a:moveTo>
                    <a:pt x="939511" y="0"/>
                  </a:moveTo>
                  <a:cubicBezTo>
                    <a:pt x="1051735" y="0"/>
                    <a:pt x="1142711" y="90976"/>
                    <a:pt x="1142711" y="203200"/>
                  </a:cubicBezTo>
                  <a:cubicBezTo>
                    <a:pt x="1142711" y="315424"/>
                    <a:pt x="1051735" y="406400"/>
                    <a:pt x="939511" y="406400"/>
                  </a:cubicBezTo>
                  <a:lnTo>
                    <a:pt x="203200" y="406400"/>
                  </a:lnTo>
                  <a:cubicBezTo>
                    <a:pt x="90976" y="406400"/>
                    <a:pt x="0" y="315424"/>
                    <a:pt x="0" y="203200"/>
                  </a:cubicBezTo>
                  <a:cubicBezTo>
                    <a:pt x="0" y="90976"/>
                    <a:pt x="90976" y="0"/>
                    <a:pt x="203200" y="0"/>
                  </a:cubicBezTo>
                  <a:close/>
                </a:path>
              </a:pathLst>
            </a:custGeom>
            <a:solidFill>
              <a:srgbClr val="4D83BB"/>
            </a:solidFill>
          </p:spPr>
          <p:txBody>
            <a:bodyPr/>
            <a:lstStyle/>
            <a:p>
              <a:endParaRPr lang="zh-SG" altLang="en-US"/>
            </a:p>
          </p:txBody>
        </p:sp>
        <p:sp>
          <p:nvSpPr>
            <p:cNvPr id="20" name="TextBox 20"/>
            <p:cNvSpPr txBox="1"/>
            <p:nvPr/>
          </p:nvSpPr>
          <p:spPr>
            <a:xfrm>
              <a:off x="0" y="-57150"/>
              <a:ext cx="1142711" cy="463550"/>
            </a:xfrm>
            <a:prstGeom prst="rect">
              <a:avLst/>
            </a:prstGeom>
          </p:spPr>
          <p:txBody>
            <a:bodyPr lIns="50800" tIns="50800" rIns="50800" bIns="50800" rtlCol="0" anchor="ctr"/>
            <a:lstStyle/>
            <a:p>
              <a:pPr algn="ctr">
                <a:lnSpc>
                  <a:spcPts val="4199"/>
                </a:lnSpc>
              </a:pPr>
              <a:r>
                <a:rPr lang="en-US" sz="2999">
                  <a:solidFill>
                    <a:srgbClr val="F2F7FA"/>
                  </a:solidFill>
                  <a:latin typeface="TT Hoves"/>
                  <a:ea typeface="TT Hoves"/>
                  <a:cs typeface="TT Hoves"/>
                  <a:sym typeface="TT Hoves"/>
                </a:rPr>
                <a:t>Minimise discharge delays</a:t>
              </a:r>
            </a:p>
          </p:txBody>
        </p:sp>
      </p:grpSp>
      <p:grpSp>
        <p:nvGrpSpPr>
          <p:cNvPr id="21" name="Group 21"/>
          <p:cNvGrpSpPr/>
          <p:nvPr/>
        </p:nvGrpSpPr>
        <p:grpSpPr>
          <a:xfrm>
            <a:off x="12265494" y="7715250"/>
            <a:ext cx="4338729" cy="1543050"/>
            <a:chOff x="0" y="0"/>
            <a:chExt cx="1142711" cy="406400"/>
          </a:xfrm>
        </p:grpSpPr>
        <p:sp>
          <p:nvSpPr>
            <p:cNvPr id="22" name="Freeform 22"/>
            <p:cNvSpPr/>
            <p:nvPr/>
          </p:nvSpPr>
          <p:spPr>
            <a:xfrm>
              <a:off x="0" y="0"/>
              <a:ext cx="1142711" cy="406400"/>
            </a:xfrm>
            <a:custGeom>
              <a:avLst/>
              <a:gdLst/>
              <a:ahLst/>
              <a:cxnLst/>
              <a:rect l="l" t="t" r="r" b="b"/>
              <a:pathLst>
                <a:path w="1142711" h="406400">
                  <a:moveTo>
                    <a:pt x="939511" y="0"/>
                  </a:moveTo>
                  <a:cubicBezTo>
                    <a:pt x="1051735" y="0"/>
                    <a:pt x="1142711" y="90976"/>
                    <a:pt x="1142711" y="203200"/>
                  </a:cubicBezTo>
                  <a:cubicBezTo>
                    <a:pt x="1142711" y="315424"/>
                    <a:pt x="1051735" y="406400"/>
                    <a:pt x="939511" y="406400"/>
                  </a:cubicBezTo>
                  <a:lnTo>
                    <a:pt x="203200" y="406400"/>
                  </a:lnTo>
                  <a:cubicBezTo>
                    <a:pt x="90976" y="406400"/>
                    <a:pt x="0" y="315424"/>
                    <a:pt x="0" y="203200"/>
                  </a:cubicBezTo>
                  <a:cubicBezTo>
                    <a:pt x="0" y="90976"/>
                    <a:pt x="90976" y="0"/>
                    <a:pt x="203200" y="0"/>
                  </a:cubicBezTo>
                  <a:close/>
                </a:path>
              </a:pathLst>
            </a:custGeom>
            <a:solidFill>
              <a:srgbClr val="4D83BB"/>
            </a:solidFill>
          </p:spPr>
          <p:txBody>
            <a:bodyPr/>
            <a:lstStyle/>
            <a:p>
              <a:endParaRPr lang="zh-SG" altLang="en-US"/>
            </a:p>
          </p:txBody>
        </p:sp>
        <p:sp>
          <p:nvSpPr>
            <p:cNvPr id="23" name="TextBox 23"/>
            <p:cNvSpPr txBox="1"/>
            <p:nvPr/>
          </p:nvSpPr>
          <p:spPr>
            <a:xfrm>
              <a:off x="0" y="-57150"/>
              <a:ext cx="1142711" cy="463550"/>
            </a:xfrm>
            <a:prstGeom prst="rect">
              <a:avLst/>
            </a:prstGeom>
          </p:spPr>
          <p:txBody>
            <a:bodyPr lIns="50800" tIns="50800" rIns="50800" bIns="50800" rtlCol="0" anchor="ctr"/>
            <a:lstStyle/>
            <a:p>
              <a:pPr algn="ctr">
                <a:lnSpc>
                  <a:spcPts val="4199"/>
                </a:lnSpc>
              </a:pPr>
              <a:r>
                <a:rPr lang="en-US" sz="2999">
                  <a:solidFill>
                    <a:srgbClr val="F2F7FA"/>
                  </a:solidFill>
                  <a:latin typeface="TT Hoves"/>
                  <a:ea typeface="TT Hoves"/>
                  <a:cs typeface="TT Hoves"/>
                  <a:sym typeface="TT Hoves"/>
                </a:rPr>
                <a:t>Proactive Resource Management</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8468470" y="9035824"/>
            <a:ext cx="12701350" cy="5382197"/>
          </a:xfrm>
          <a:custGeom>
            <a:avLst/>
            <a:gdLst/>
            <a:ahLst/>
            <a:cxnLst/>
            <a:rect l="l" t="t" r="r" b="b"/>
            <a:pathLst>
              <a:path w="12701350" h="5382197">
                <a:moveTo>
                  <a:pt x="0" y="0"/>
                </a:moveTo>
                <a:lnTo>
                  <a:pt x="12701350" y="0"/>
                </a:lnTo>
                <a:lnTo>
                  <a:pt x="12701350"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rot="-8410460">
            <a:off x="1935723" y="-5126712"/>
            <a:ext cx="11976399" cy="7170869"/>
          </a:xfrm>
          <a:custGeom>
            <a:avLst/>
            <a:gdLst/>
            <a:ahLst/>
            <a:cxnLst/>
            <a:rect l="l" t="t" r="r" b="b"/>
            <a:pathLst>
              <a:path w="11976399" h="7170869">
                <a:moveTo>
                  <a:pt x="0" y="0"/>
                </a:moveTo>
                <a:lnTo>
                  <a:pt x="11976399" y="0"/>
                </a:lnTo>
                <a:lnTo>
                  <a:pt x="11976399" y="7170868"/>
                </a:lnTo>
                <a:lnTo>
                  <a:pt x="0" y="7170868"/>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1028700" y="2983213"/>
            <a:ext cx="7750814" cy="1615262"/>
            <a:chOff x="0" y="0"/>
            <a:chExt cx="2041367" cy="425419"/>
          </a:xfrm>
        </p:grpSpPr>
        <p:sp>
          <p:nvSpPr>
            <p:cNvPr id="5" name="Freeform 5"/>
            <p:cNvSpPr/>
            <p:nvPr/>
          </p:nvSpPr>
          <p:spPr>
            <a:xfrm>
              <a:off x="0" y="0"/>
              <a:ext cx="2041367" cy="425419"/>
            </a:xfrm>
            <a:custGeom>
              <a:avLst/>
              <a:gdLst/>
              <a:ahLst/>
              <a:cxnLst/>
              <a:rect l="l" t="t" r="r" b="b"/>
              <a:pathLst>
                <a:path w="2041367" h="425419">
                  <a:moveTo>
                    <a:pt x="31963" y="0"/>
                  </a:moveTo>
                  <a:lnTo>
                    <a:pt x="2009403" y="0"/>
                  </a:lnTo>
                  <a:cubicBezTo>
                    <a:pt x="2017881" y="0"/>
                    <a:pt x="2026011" y="3368"/>
                    <a:pt x="2032005" y="9362"/>
                  </a:cubicBezTo>
                  <a:cubicBezTo>
                    <a:pt x="2037999" y="15356"/>
                    <a:pt x="2041367" y="23486"/>
                    <a:pt x="2041367" y="31963"/>
                  </a:cubicBezTo>
                  <a:lnTo>
                    <a:pt x="2041367" y="393455"/>
                  </a:lnTo>
                  <a:cubicBezTo>
                    <a:pt x="2041367" y="401933"/>
                    <a:pt x="2037999" y="410063"/>
                    <a:pt x="2032005" y="416057"/>
                  </a:cubicBezTo>
                  <a:cubicBezTo>
                    <a:pt x="2026011" y="422051"/>
                    <a:pt x="2017881" y="425419"/>
                    <a:pt x="2009403" y="425419"/>
                  </a:cubicBezTo>
                  <a:lnTo>
                    <a:pt x="31963" y="425419"/>
                  </a:lnTo>
                  <a:cubicBezTo>
                    <a:pt x="23486" y="425419"/>
                    <a:pt x="15356" y="422051"/>
                    <a:pt x="9362" y="416057"/>
                  </a:cubicBezTo>
                  <a:cubicBezTo>
                    <a:pt x="3368" y="410063"/>
                    <a:pt x="0" y="401933"/>
                    <a:pt x="0" y="393455"/>
                  </a:cubicBezTo>
                  <a:lnTo>
                    <a:pt x="0" y="31963"/>
                  </a:lnTo>
                  <a:cubicBezTo>
                    <a:pt x="0" y="23486"/>
                    <a:pt x="3368" y="15356"/>
                    <a:pt x="9362" y="9362"/>
                  </a:cubicBezTo>
                  <a:cubicBezTo>
                    <a:pt x="15356" y="3368"/>
                    <a:pt x="23486" y="0"/>
                    <a:pt x="31963"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76200"/>
              <a:ext cx="2041367" cy="501619"/>
            </a:xfrm>
            <a:prstGeom prst="rect">
              <a:avLst/>
            </a:prstGeom>
          </p:spPr>
          <p:txBody>
            <a:bodyPr lIns="254000" tIns="254000" rIns="254000" bIns="254000" rtlCol="0" anchor="ctr"/>
            <a:lstStyle/>
            <a:p>
              <a:pPr algn="l">
                <a:lnSpc>
                  <a:spcPts val="4759"/>
                </a:lnSpc>
              </a:pPr>
              <a:r>
                <a:rPr lang="en-US" sz="3399" b="1">
                  <a:solidFill>
                    <a:srgbClr val="F2F7FA"/>
                  </a:solidFill>
                  <a:latin typeface="TT Hoves Bold"/>
                  <a:ea typeface="TT Hoves Bold"/>
                  <a:cs typeface="TT Hoves Bold"/>
                  <a:sym typeface="TT Hoves Bold"/>
                </a:rPr>
                <a:t>Target Variable:</a:t>
              </a:r>
              <a:r>
                <a:rPr lang="en-US" sz="3399">
                  <a:solidFill>
                    <a:srgbClr val="F2F7FA"/>
                  </a:solidFill>
                  <a:latin typeface="TT Hoves"/>
                  <a:ea typeface="TT Hoves"/>
                  <a:cs typeface="TT Hoves"/>
                  <a:sym typeface="TT Hoves"/>
                </a:rPr>
                <a:t> discharge_dispostion</a:t>
              </a:r>
            </a:p>
          </p:txBody>
        </p:sp>
      </p:grpSp>
      <p:sp>
        <p:nvSpPr>
          <p:cNvPr id="7" name="TextBox 7"/>
          <p:cNvSpPr txBox="1"/>
          <p:nvPr/>
        </p:nvSpPr>
        <p:spPr>
          <a:xfrm>
            <a:off x="11785591" y="178932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D</a:t>
            </a:r>
          </a:p>
        </p:txBody>
      </p:sp>
      <p:sp>
        <p:nvSpPr>
          <p:cNvPr id="8" name="TextBox 8"/>
          <p:cNvSpPr txBox="1"/>
          <p:nvPr/>
        </p:nvSpPr>
        <p:spPr>
          <a:xfrm>
            <a:off x="1028700" y="834344"/>
            <a:ext cx="10310181" cy="1424071"/>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PROBLEM ASSUMPTIONS AND SCOPE</a:t>
            </a:r>
          </a:p>
        </p:txBody>
      </p:sp>
      <p:sp>
        <p:nvSpPr>
          <p:cNvPr id="9" name="TextBox 9"/>
          <p:cNvSpPr txBox="1"/>
          <p:nvPr/>
        </p:nvSpPr>
        <p:spPr>
          <a:xfrm>
            <a:off x="11785591" y="704347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F</a:t>
            </a:r>
          </a:p>
        </p:txBody>
      </p:sp>
      <p:sp>
        <p:nvSpPr>
          <p:cNvPr id="10" name="TextBox 10"/>
          <p:cNvSpPr txBox="1"/>
          <p:nvPr/>
        </p:nvSpPr>
        <p:spPr>
          <a:xfrm>
            <a:off x="1028700" y="2191740"/>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grpSp>
        <p:nvGrpSpPr>
          <p:cNvPr id="11" name="Group 11"/>
          <p:cNvGrpSpPr/>
          <p:nvPr/>
        </p:nvGrpSpPr>
        <p:grpSpPr>
          <a:xfrm>
            <a:off x="1028700" y="4741526"/>
            <a:ext cx="7750814" cy="4174010"/>
            <a:chOff x="0" y="0"/>
            <a:chExt cx="2041367" cy="1099328"/>
          </a:xfrm>
        </p:grpSpPr>
        <p:sp>
          <p:nvSpPr>
            <p:cNvPr id="12" name="Freeform 12"/>
            <p:cNvSpPr/>
            <p:nvPr/>
          </p:nvSpPr>
          <p:spPr>
            <a:xfrm>
              <a:off x="0" y="0"/>
              <a:ext cx="2041367" cy="1099328"/>
            </a:xfrm>
            <a:custGeom>
              <a:avLst/>
              <a:gdLst/>
              <a:ahLst/>
              <a:cxnLst/>
              <a:rect l="l" t="t" r="r" b="b"/>
              <a:pathLst>
                <a:path w="2041367" h="1099328">
                  <a:moveTo>
                    <a:pt x="31963" y="0"/>
                  </a:moveTo>
                  <a:lnTo>
                    <a:pt x="2009403" y="0"/>
                  </a:lnTo>
                  <a:cubicBezTo>
                    <a:pt x="2017881" y="0"/>
                    <a:pt x="2026011" y="3368"/>
                    <a:pt x="2032005" y="9362"/>
                  </a:cubicBezTo>
                  <a:cubicBezTo>
                    <a:pt x="2037999" y="15356"/>
                    <a:pt x="2041367" y="23486"/>
                    <a:pt x="2041367" y="31963"/>
                  </a:cubicBezTo>
                  <a:lnTo>
                    <a:pt x="2041367" y="1067365"/>
                  </a:lnTo>
                  <a:cubicBezTo>
                    <a:pt x="2041367" y="1075842"/>
                    <a:pt x="2037999" y="1083972"/>
                    <a:pt x="2032005" y="1089966"/>
                  </a:cubicBezTo>
                  <a:cubicBezTo>
                    <a:pt x="2026011" y="1095960"/>
                    <a:pt x="2017881" y="1099328"/>
                    <a:pt x="2009403" y="1099328"/>
                  </a:cubicBezTo>
                  <a:lnTo>
                    <a:pt x="31963" y="1099328"/>
                  </a:lnTo>
                  <a:cubicBezTo>
                    <a:pt x="23486" y="1099328"/>
                    <a:pt x="15356" y="1095960"/>
                    <a:pt x="9362" y="1089966"/>
                  </a:cubicBezTo>
                  <a:cubicBezTo>
                    <a:pt x="3368" y="1083972"/>
                    <a:pt x="0" y="1075842"/>
                    <a:pt x="0" y="1067365"/>
                  </a:cubicBezTo>
                  <a:lnTo>
                    <a:pt x="0" y="31963"/>
                  </a:lnTo>
                  <a:cubicBezTo>
                    <a:pt x="0" y="23486"/>
                    <a:pt x="3368" y="15356"/>
                    <a:pt x="9362" y="9362"/>
                  </a:cubicBezTo>
                  <a:cubicBezTo>
                    <a:pt x="15356" y="3368"/>
                    <a:pt x="23486" y="0"/>
                    <a:pt x="31963"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3" name="TextBox 13"/>
            <p:cNvSpPr txBox="1"/>
            <p:nvPr/>
          </p:nvSpPr>
          <p:spPr>
            <a:xfrm>
              <a:off x="0" y="-66675"/>
              <a:ext cx="2041367" cy="1166003"/>
            </a:xfrm>
            <a:prstGeom prst="rect">
              <a:avLst/>
            </a:prstGeom>
          </p:spPr>
          <p:txBody>
            <a:bodyPr lIns="254000" tIns="254000" rIns="254000" bIns="254000" rtlCol="0" anchor="ctr"/>
            <a:lstStyle/>
            <a:p>
              <a:pPr algn="l">
                <a:lnSpc>
                  <a:spcPts val="5040"/>
                </a:lnSpc>
              </a:pPr>
              <a:r>
                <a:rPr lang="en-US" sz="3600" b="1">
                  <a:solidFill>
                    <a:srgbClr val="F2F7FA"/>
                  </a:solidFill>
                  <a:latin typeface="TT Hoves Bold"/>
                  <a:ea typeface="TT Hoves Bold"/>
                  <a:cs typeface="TT Hoves Bold"/>
                  <a:sym typeface="TT Hoves Bold"/>
                </a:rPr>
                <a:t>Classes: </a:t>
              </a:r>
            </a:p>
            <a:p>
              <a:pPr marL="777240" lvl="1" indent="-388620" algn="l">
                <a:lnSpc>
                  <a:spcPts val="5040"/>
                </a:lnSpc>
                <a:buAutoNum type="arabicPeriod"/>
              </a:pPr>
              <a:r>
                <a:rPr lang="en-US" sz="3600">
                  <a:solidFill>
                    <a:srgbClr val="F2F7FA"/>
                  </a:solidFill>
                  <a:latin typeface="TT Hoves"/>
                  <a:ea typeface="TT Hoves"/>
                  <a:cs typeface="TT Hoves"/>
                  <a:sym typeface="TT Hoves"/>
                </a:rPr>
                <a:t>Discharged Home </a:t>
              </a:r>
            </a:p>
            <a:p>
              <a:pPr marL="777240" lvl="1" indent="-388620" algn="l">
                <a:lnSpc>
                  <a:spcPts val="5040"/>
                </a:lnSpc>
                <a:buAutoNum type="arabicPeriod"/>
              </a:pPr>
              <a:r>
                <a:rPr lang="en-US" sz="3600">
                  <a:solidFill>
                    <a:srgbClr val="F2F7FA"/>
                  </a:solidFill>
                  <a:latin typeface="TT Hoves"/>
                  <a:ea typeface="TT Hoves"/>
                  <a:cs typeface="TT Hoves"/>
                  <a:sym typeface="TT Hoves"/>
                </a:rPr>
                <a:t>Transferred to Another Hospital</a:t>
              </a:r>
            </a:p>
            <a:p>
              <a:pPr marL="777240" lvl="1" indent="-388620" algn="l">
                <a:lnSpc>
                  <a:spcPts val="5040"/>
                </a:lnSpc>
                <a:buAutoNum type="arabicPeriod"/>
              </a:pPr>
              <a:r>
                <a:rPr lang="en-US" sz="3600">
                  <a:solidFill>
                    <a:srgbClr val="F2F7FA"/>
                  </a:solidFill>
                  <a:latin typeface="TT Hoves"/>
                  <a:ea typeface="TT Hoves"/>
                  <a:cs typeface="TT Hoves"/>
                  <a:sym typeface="TT Hoves"/>
                </a:rPr>
                <a:t>Transferred to Facility-Based Care</a:t>
              </a:r>
            </a:p>
          </p:txBody>
        </p:sp>
      </p:grpSp>
      <p:grpSp>
        <p:nvGrpSpPr>
          <p:cNvPr id="14" name="Group 14"/>
          <p:cNvGrpSpPr/>
          <p:nvPr/>
        </p:nvGrpSpPr>
        <p:grpSpPr>
          <a:xfrm>
            <a:off x="9540473" y="2983213"/>
            <a:ext cx="7718827" cy="5932323"/>
            <a:chOff x="0" y="0"/>
            <a:chExt cx="2032942" cy="1562423"/>
          </a:xfrm>
        </p:grpSpPr>
        <p:sp>
          <p:nvSpPr>
            <p:cNvPr id="15" name="Freeform 15"/>
            <p:cNvSpPr/>
            <p:nvPr/>
          </p:nvSpPr>
          <p:spPr>
            <a:xfrm>
              <a:off x="0" y="0"/>
              <a:ext cx="2032942" cy="1562423"/>
            </a:xfrm>
            <a:custGeom>
              <a:avLst/>
              <a:gdLst/>
              <a:ahLst/>
              <a:cxnLst/>
              <a:rect l="l" t="t" r="r" b="b"/>
              <a:pathLst>
                <a:path w="2032942" h="1562423">
                  <a:moveTo>
                    <a:pt x="32096" y="0"/>
                  </a:moveTo>
                  <a:lnTo>
                    <a:pt x="2000846" y="0"/>
                  </a:lnTo>
                  <a:cubicBezTo>
                    <a:pt x="2009359" y="0"/>
                    <a:pt x="2017522" y="3382"/>
                    <a:pt x="2023542" y="9401"/>
                  </a:cubicBezTo>
                  <a:cubicBezTo>
                    <a:pt x="2029561" y="15420"/>
                    <a:pt x="2032942" y="23583"/>
                    <a:pt x="2032942" y="32096"/>
                  </a:cubicBezTo>
                  <a:lnTo>
                    <a:pt x="2032942" y="1530327"/>
                  </a:lnTo>
                  <a:cubicBezTo>
                    <a:pt x="2032942" y="1538839"/>
                    <a:pt x="2029561" y="1547003"/>
                    <a:pt x="2023542" y="1553022"/>
                  </a:cubicBezTo>
                  <a:cubicBezTo>
                    <a:pt x="2017522" y="1559041"/>
                    <a:pt x="2009359" y="1562423"/>
                    <a:pt x="2000846" y="1562423"/>
                  </a:cubicBezTo>
                  <a:lnTo>
                    <a:pt x="32096" y="1562423"/>
                  </a:lnTo>
                  <a:cubicBezTo>
                    <a:pt x="23583" y="1562423"/>
                    <a:pt x="15420" y="1559041"/>
                    <a:pt x="9401" y="1553022"/>
                  </a:cubicBezTo>
                  <a:cubicBezTo>
                    <a:pt x="3382" y="1547003"/>
                    <a:pt x="0" y="1538839"/>
                    <a:pt x="0" y="1530327"/>
                  </a:cubicBezTo>
                  <a:lnTo>
                    <a:pt x="0" y="32096"/>
                  </a:lnTo>
                  <a:cubicBezTo>
                    <a:pt x="0" y="23583"/>
                    <a:pt x="3382" y="15420"/>
                    <a:pt x="9401" y="9401"/>
                  </a:cubicBezTo>
                  <a:cubicBezTo>
                    <a:pt x="15420" y="3382"/>
                    <a:pt x="23583" y="0"/>
                    <a:pt x="32096"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6" name="TextBox 16"/>
            <p:cNvSpPr txBox="1"/>
            <p:nvPr/>
          </p:nvSpPr>
          <p:spPr>
            <a:xfrm>
              <a:off x="0" y="-66675"/>
              <a:ext cx="2032942" cy="1629098"/>
            </a:xfrm>
            <a:prstGeom prst="rect">
              <a:avLst/>
            </a:prstGeom>
          </p:spPr>
          <p:txBody>
            <a:bodyPr lIns="254000" tIns="254000" rIns="254000" bIns="254000" rtlCol="0" anchor="ctr"/>
            <a:lstStyle/>
            <a:p>
              <a:pPr algn="l">
                <a:lnSpc>
                  <a:spcPts val="5040"/>
                </a:lnSpc>
              </a:pPr>
              <a:r>
                <a:rPr lang="en-US" sz="3600" b="1">
                  <a:solidFill>
                    <a:srgbClr val="F2F7FA"/>
                  </a:solidFill>
                  <a:latin typeface="TT Hoves Bold"/>
                  <a:ea typeface="TT Hoves Bold"/>
                  <a:cs typeface="TT Hoves Bold"/>
                  <a:sym typeface="TT Hoves Bold"/>
                </a:rPr>
                <a:t>Independent Variables: </a:t>
              </a:r>
            </a:p>
            <a:p>
              <a:pPr marL="777240" lvl="1" indent="-388620" algn="l">
                <a:lnSpc>
                  <a:spcPts val="5040"/>
                </a:lnSpc>
                <a:buAutoNum type="arabicPeriod"/>
              </a:pPr>
              <a:r>
                <a:rPr lang="en-US" sz="3600">
                  <a:solidFill>
                    <a:srgbClr val="F2F7FA"/>
                  </a:solidFill>
                  <a:latin typeface="TT Hoves"/>
                  <a:ea typeface="TT Hoves"/>
                  <a:cs typeface="TT Hoves"/>
                  <a:sym typeface="TT Hoves"/>
                </a:rPr>
                <a:t>Demographic Characteristics (age, gender, race)</a:t>
              </a:r>
            </a:p>
            <a:p>
              <a:pPr marL="777240" lvl="1" indent="-388620" algn="l">
                <a:lnSpc>
                  <a:spcPts val="5040"/>
                </a:lnSpc>
                <a:buAutoNum type="arabicPeriod"/>
              </a:pPr>
              <a:r>
                <a:rPr lang="en-US" sz="3600">
                  <a:solidFill>
                    <a:srgbClr val="F2F7FA"/>
                  </a:solidFill>
                  <a:latin typeface="TT Hoves"/>
                  <a:ea typeface="TT Hoves"/>
                  <a:cs typeface="TT Hoves"/>
                  <a:sym typeface="TT Hoves"/>
                </a:rPr>
                <a:t>Admission Information (admission type)</a:t>
              </a:r>
            </a:p>
            <a:p>
              <a:pPr marL="777240" lvl="1" indent="-388620" algn="l">
                <a:lnSpc>
                  <a:spcPts val="5040"/>
                </a:lnSpc>
                <a:buAutoNum type="arabicPeriod"/>
              </a:pPr>
              <a:r>
                <a:rPr lang="en-US" sz="3600">
                  <a:solidFill>
                    <a:srgbClr val="F2F7FA"/>
                  </a:solidFill>
                  <a:latin typeface="TT Hoves"/>
                  <a:ea typeface="TT Hoves"/>
                  <a:cs typeface="TT Hoves"/>
                  <a:sym typeface="TT Hoves"/>
                </a:rPr>
                <a:t>Previous Hospital Stays</a:t>
              </a:r>
            </a:p>
            <a:p>
              <a:pPr marL="777240" lvl="1" indent="-388620" algn="l">
                <a:lnSpc>
                  <a:spcPts val="5040"/>
                </a:lnSpc>
                <a:buAutoNum type="arabicPeriod"/>
              </a:pPr>
              <a:r>
                <a:rPr lang="en-US" sz="3600">
                  <a:solidFill>
                    <a:srgbClr val="F2F7FA"/>
                  </a:solidFill>
                  <a:latin typeface="TT Hoves"/>
                  <a:ea typeface="TT Hoves"/>
                  <a:cs typeface="TT Hoves"/>
                  <a:sym typeface="TT Hoves"/>
                </a:rPr>
                <a:t>Drug Profile</a:t>
              </a:r>
            </a:p>
            <a:p>
              <a:pPr marL="777240" lvl="1" indent="-388620" algn="l">
                <a:lnSpc>
                  <a:spcPts val="5040"/>
                </a:lnSpc>
                <a:buAutoNum type="arabicPeriod"/>
              </a:pPr>
              <a:r>
                <a:rPr lang="en-US" sz="3600">
                  <a:solidFill>
                    <a:srgbClr val="F2F7FA"/>
                  </a:solidFill>
                  <a:latin typeface="TT Hoves"/>
                  <a:ea typeface="TT Hoves"/>
                  <a:cs typeface="TT Hoves"/>
                  <a:sym typeface="TT Hoves"/>
                </a:rPr>
                <a:t>Diagnostic Categoires</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8410460">
            <a:off x="1935723" y="-5126712"/>
            <a:ext cx="11976399" cy="7170869"/>
          </a:xfrm>
          <a:custGeom>
            <a:avLst/>
            <a:gdLst/>
            <a:ahLst/>
            <a:cxnLst/>
            <a:rect l="l" t="t" r="r" b="b"/>
            <a:pathLst>
              <a:path w="11976399" h="7170869">
                <a:moveTo>
                  <a:pt x="0" y="0"/>
                </a:moveTo>
                <a:lnTo>
                  <a:pt x="11976399" y="0"/>
                </a:lnTo>
                <a:lnTo>
                  <a:pt x="11976399" y="7170868"/>
                </a:lnTo>
                <a:lnTo>
                  <a:pt x="0" y="7170868"/>
                </a:lnTo>
                <a:lnTo>
                  <a:pt x="0" y="0"/>
                </a:lnTo>
                <a:close/>
              </a:path>
            </a:pathLst>
          </a:custGeom>
          <a:blipFill>
            <a:blip r:embed="rId2"/>
            <a:stretch>
              <a:fillRect/>
            </a:stretch>
          </a:blipFill>
        </p:spPr>
        <p:txBody>
          <a:bodyPr/>
          <a:lstStyle/>
          <a:p>
            <a:endParaRPr lang="zh-SG" altLang="en-US"/>
          </a:p>
        </p:txBody>
      </p:sp>
      <p:grpSp>
        <p:nvGrpSpPr>
          <p:cNvPr id="3" name="Group 3"/>
          <p:cNvGrpSpPr/>
          <p:nvPr/>
        </p:nvGrpSpPr>
        <p:grpSpPr>
          <a:xfrm>
            <a:off x="1028700" y="1028700"/>
            <a:ext cx="5473709" cy="2427050"/>
            <a:chOff x="0" y="0"/>
            <a:chExt cx="1441635" cy="639223"/>
          </a:xfrm>
        </p:grpSpPr>
        <p:sp>
          <p:nvSpPr>
            <p:cNvPr id="4" name="Freeform 4"/>
            <p:cNvSpPr/>
            <p:nvPr/>
          </p:nvSpPr>
          <p:spPr>
            <a:xfrm>
              <a:off x="0" y="0"/>
              <a:ext cx="1441635" cy="639223"/>
            </a:xfrm>
            <a:custGeom>
              <a:avLst/>
              <a:gdLst/>
              <a:ahLst/>
              <a:cxnLst/>
              <a:rect l="l" t="t" r="r" b="b"/>
              <a:pathLst>
                <a:path w="1441635" h="639223">
                  <a:moveTo>
                    <a:pt x="45260" y="0"/>
                  </a:moveTo>
                  <a:lnTo>
                    <a:pt x="1396375" y="0"/>
                  </a:lnTo>
                  <a:cubicBezTo>
                    <a:pt x="1421372" y="0"/>
                    <a:pt x="1441635" y="20264"/>
                    <a:pt x="1441635" y="45260"/>
                  </a:cubicBezTo>
                  <a:lnTo>
                    <a:pt x="1441635" y="593963"/>
                  </a:lnTo>
                  <a:cubicBezTo>
                    <a:pt x="1441635" y="618959"/>
                    <a:pt x="1421372" y="639223"/>
                    <a:pt x="1396375" y="639223"/>
                  </a:cubicBezTo>
                  <a:lnTo>
                    <a:pt x="45260" y="639223"/>
                  </a:lnTo>
                  <a:cubicBezTo>
                    <a:pt x="20264" y="639223"/>
                    <a:pt x="0" y="618959"/>
                    <a:pt x="0" y="593963"/>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5" name="TextBox 5"/>
            <p:cNvSpPr txBox="1"/>
            <p:nvPr/>
          </p:nvSpPr>
          <p:spPr>
            <a:xfrm>
              <a:off x="0" y="-57150"/>
              <a:ext cx="1441635" cy="696373"/>
            </a:xfrm>
            <a:prstGeom prst="rect">
              <a:avLst/>
            </a:prstGeom>
          </p:spPr>
          <p:txBody>
            <a:bodyPr lIns="50800" tIns="50800" rIns="50800" bIns="50800" rtlCol="0" anchor="ctr"/>
            <a:lstStyle/>
            <a:p>
              <a:pPr algn="ctr">
                <a:lnSpc>
                  <a:spcPts val="3639"/>
                </a:lnSpc>
              </a:pPr>
              <a:endParaRPr/>
            </a:p>
          </p:txBody>
        </p:sp>
      </p:grpSp>
      <p:grpSp>
        <p:nvGrpSpPr>
          <p:cNvPr id="6" name="Group 6"/>
          <p:cNvGrpSpPr/>
          <p:nvPr/>
        </p:nvGrpSpPr>
        <p:grpSpPr>
          <a:xfrm>
            <a:off x="1028700" y="6286752"/>
            <a:ext cx="5473709" cy="2431846"/>
            <a:chOff x="0" y="0"/>
            <a:chExt cx="1441635" cy="640486"/>
          </a:xfrm>
        </p:grpSpPr>
        <p:sp>
          <p:nvSpPr>
            <p:cNvPr id="7" name="Freeform 7"/>
            <p:cNvSpPr/>
            <p:nvPr/>
          </p:nvSpPr>
          <p:spPr>
            <a:xfrm>
              <a:off x="0" y="0"/>
              <a:ext cx="1441635" cy="640486"/>
            </a:xfrm>
            <a:custGeom>
              <a:avLst/>
              <a:gdLst/>
              <a:ahLst/>
              <a:cxnLst/>
              <a:rect l="l" t="t" r="r" b="b"/>
              <a:pathLst>
                <a:path w="1441635" h="640486">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8" name="TextBox 8"/>
            <p:cNvSpPr txBox="1"/>
            <p:nvPr/>
          </p:nvSpPr>
          <p:spPr>
            <a:xfrm>
              <a:off x="0" y="-57150"/>
              <a:ext cx="1441635" cy="697636"/>
            </a:xfrm>
            <a:prstGeom prst="rect">
              <a:avLst/>
            </a:prstGeom>
          </p:spPr>
          <p:txBody>
            <a:bodyPr lIns="50800" tIns="50800" rIns="50800" bIns="50800" rtlCol="0" anchor="ctr"/>
            <a:lstStyle/>
            <a:p>
              <a:pPr algn="ctr">
                <a:lnSpc>
                  <a:spcPts val="3639"/>
                </a:lnSpc>
              </a:pPr>
              <a:endParaRPr/>
            </a:p>
          </p:txBody>
        </p:sp>
      </p:grpSp>
      <p:grpSp>
        <p:nvGrpSpPr>
          <p:cNvPr id="9" name="Group 9"/>
          <p:cNvGrpSpPr/>
          <p:nvPr/>
        </p:nvGrpSpPr>
        <p:grpSpPr>
          <a:xfrm>
            <a:off x="11785591" y="1028700"/>
            <a:ext cx="5473709" cy="2431846"/>
            <a:chOff x="0" y="0"/>
            <a:chExt cx="1441635" cy="640486"/>
          </a:xfrm>
        </p:grpSpPr>
        <p:sp>
          <p:nvSpPr>
            <p:cNvPr id="10" name="Freeform 10"/>
            <p:cNvSpPr/>
            <p:nvPr/>
          </p:nvSpPr>
          <p:spPr>
            <a:xfrm>
              <a:off x="0" y="0"/>
              <a:ext cx="1441635" cy="640486"/>
            </a:xfrm>
            <a:custGeom>
              <a:avLst/>
              <a:gdLst/>
              <a:ahLst/>
              <a:cxnLst/>
              <a:rect l="l" t="t" r="r" b="b"/>
              <a:pathLst>
                <a:path w="1441635" h="640486">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1" name="TextBox 11"/>
            <p:cNvSpPr txBox="1"/>
            <p:nvPr/>
          </p:nvSpPr>
          <p:spPr>
            <a:xfrm>
              <a:off x="0" y="-57150"/>
              <a:ext cx="1441635" cy="697636"/>
            </a:xfrm>
            <a:prstGeom prst="rect">
              <a:avLst/>
            </a:prstGeom>
          </p:spPr>
          <p:txBody>
            <a:bodyPr lIns="50800" tIns="50800" rIns="50800" bIns="50800" rtlCol="0" anchor="ctr"/>
            <a:lstStyle/>
            <a:p>
              <a:pPr algn="ctr">
                <a:lnSpc>
                  <a:spcPts val="3639"/>
                </a:lnSpc>
              </a:pPr>
              <a:endParaRPr/>
            </a:p>
          </p:txBody>
        </p:sp>
      </p:grpSp>
      <p:grpSp>
        <p:nvGrpSpPr>
          <p:cNvPr id="12" name="Group 12"/>
          <p:cNvGrpSpPr/>
          <p:nvPr/>
        </p:nvGrpSpPr>
        <p:grpSpPr>
          <a:xfrm>
            <a:off x="11785591" y="6286752"/>
            <a:ext cx="5473709" cy="2431846"/>
            <a:chOff x="0" y="0"/>
            <a:chExt cx="1441635" cy="640486"/>
          </a:xfrm>
        </p:grpSpPr>
        <p:sp>
          <p:nvSpPr>
            <p:cNvPr id="13" name="Freeform 13"/>
            <p:cNvSpPr/>
            <p:nvPr/>
          </p:nvSpPr>
          <p:spPr>
            <a:xfrm>
              <a:off x="0" y="0"/>
              <a:ext cx="1441635" cy="640486"/>
            </a:xfrm>
            <a:custGeom>
              <a:avLst/>
              <a:gdLst/>
              <a:ahLst/>
              <a:cxnLst/>
              <a:rect l="l" t="t" r="r" b="b"/>
              <a:pathLst>
                <a:path w="1441635" h="640486">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4" name="TextBox 14"/>
            <p:cNvSpPr txBox="1"/>
            <p:nvPr/>
          </p:nvSpPr>
          <p:spPr>
            <a:xfrm>
              <a:off x="0" y="-57150"/>
              <a:ext cx="1441635" cy="697636"/>
            </a:xfrm>
            <a:prstGeom prst="rect">
              <a:avLst/>
            </a:prstGeom>
          </p:spPr>
          <p:txBody>
            <a:bodyPr lIns="50800" tIns="50800" rIns="50800" bIns="50800" rtlCol="0" anchor="ctr"/>
            <a:lstStyle/>
            <a:p>
              <a:pPr algn="ctr">
                <a:lnSpc>
                  <a:spcPts val="3639"/>
                </a:lnSpc>
              </a:pPr>
              <a:endParaRPr/>
            </a:p>
          </p:txBody>
        </p:sp>
      </p:grpSp>
      <p:sp>
        <p:nvSpPr>
          <p:cNvPr id="15" name="TextBox 15"/>
          <p:cNvSpPr txBox="1"/>
          <p:nvPr/>
        </p:nvSpPr>
        <p:spPr>
          <a:xfrm>
            <a:off x="1028700" y="178932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1</a:t>
            </a:r>
          </a:p>
        </p:txBody>
      </p:sp>
      <p:sp>
        <p:nvSpPr>
          <p:cNvPr id="16" name="TextBox 16"/>
          <p:cNvSpPr txBox="1"/>
          <p:nvPr/>
        </p:nvSpPr>
        <p:spPr>
          <a:xfrm>
            <a:off x="11785591" y="178932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2</a:t>
            </a:r>
          </a:p>
        </p:txBody>
      </p:sp>
      <p:grpSp>
        <p:nvGrpSpPr>
          <p:cNvPr id="17" name="Group 17"/>
          <p:cNvGrpSpPr/>
          <p:nvPr/>
        </p:nvGrpSpPr>
        <p:grpSpPr>
          <a:xfrm>
            <a:off x="6591555" y="3945293"/>
            <a:ext cx="5009307" cy="1622216"/>
            <a:chOff x="0" y="0"/>
            <a:chExt cx="6679077" cy="2162955"/>
          </a:xfrm>
        </p:grpSpPr>
        <p:sp>
          <p:nvSpPr>
            <p:cNvPr id="18" name="TextBox 18"/>
            <p:cNvSpPr txBox="1"/>
            <p:nvPr/>
          </p:nvSpPr>
          <p:spPr>
            <a:xfrm>
              <a:off x="0" y="47625"/>
              <a:ext cx="6679077" cy="1040491"/>
            </a:xfrm>
            <a:prstGeom prst="rect">
              <a:avLst/>
            </a:prstGeom>
          </p:spPr>
          <p:txBody>
            <a:bodyPr lIns="0" tIns="0" rIns="0" bIns="0" rtlCol="0" anchor="t">
              <a:spAutoFit/>
            </a:bodyPr>
            <a:lstStyle/>
            <a:p>
              <a:pPr algn="ctr">
                <a:lnSpc>
                  <a:spcPts val="5221"/>
                </a:lnSpc>
              </a:pPr>
              <a:r>
                <a:rPr lang="en-US" sz="5383" b="1">
                  <a:solidFill>
                    <a:srgbClr val="343434"/>
                  </a:solidFill>
                  <a:latin typeface="Telegraf Bold"/>
                  <a:ea typeface="Telegraf Bold"/>
                  <a:cs typeface="Telegraf Bold"/>
                  <a:sym typeface="Telegraf Bold"/>
                </a:rPr>
                <a:t>MODELS</a:t>
              </a:r>
            </a:p>
          </p:txBody>
        </p:sp>
        <p:sp>
          <p:nvSpPr>
            <p:cNvPr id="19" name="TextBox 19"/>
            <p:cNvSpPr txBox="1"/>
            <p:nvPr/>
          </p:nvSpPr>
          <p:spPr>
            <a:xfrm>
              <a:off x="0" y="1026753"/>
              <a:ext cx="6679077" cy="1136202"/>
            </a:xfrm>
            <a:prstGeom prst="rect">
              <a:avLst/>
            </a:prstGeom>
          </p:spPr>
          <p:txBody>
            <a:bodyPr lIns="0" tIns="0" rIns="0" bIns="0" rtlCol="0" anchor="t">
              <a:spAutoFit/>
            </a:bodyPr>
            <a:lstStyle/>
            <a:p>
              <a:pPr algn="ctr">
                <a:lnSpc>
                  <a:spcPts val="3389"/>
                </a:lnSpc>
                <a:spcBef>
                  <a:spcPct val="0"/>
                </a:spcBef>
              </a:pPr>
              <a:r>
                <a:rPr lang="en-US" sz="2420" spc="58">
                  <a:solidFill>
                    <a:srgbClr val="343434"/>
                  </a:solidFill>
                  <a:latin typeface="Telegraf"/>
                  <a:ea typeface="Telegraf"/>
                  <a:cs typeface="Telegraf"/>
                  <a:sym typeface="Telegraf"/>
                </a:rPr>
                <a:t>MMULTI-CLASS CLASSIFICATION</a:t>
              </a:r>
            </a:p>
          </p:txBody>
        </p:sp>
      </p:grpSp>
      <p:sp>
        <p:nvSpPr>
          <p:cNvPr id="20" name="TextBox 20"/>
          <p:cNvSpPr txBox="1"/>
          <p:nvPr/>
        </p:nvSpPr>
        <p:spPr>
          <a:xfrm>
            <a:off x="2526047" y="1645818"/>
            <a:ext cx="3587842" cy="1102361"/>
          </a:xfrm>
          <a:prstGeom prst="rect">
            <a:avLst/>
          </a:prstGeom>
        </p:spPr>
        <p:txBody>
          <a:bodyPr lIns="0" tIns="0" rIns="0" bIns="0" rtlCol="0" anchor="t">
            <a:spAutoFit/>
          </a:bodyPr>
          <a:lstStyle/>
          <a:p>
            <a:pPr algn="just">
              <a:lnSpc>
                <a:spcPts val="4339"/>
              </a:lnSpc>
              <a:spcBef>
                <a:spcPct val="0"/>
              </a:spcBef>
            </a:pPr>
            <a:r>
              <a:rPr lang="en-US" sz="3099" spc="154">
                <a:solidFill>
                  <a:srgbClr val="F2F7FA"/>
                </a:solidFill>
                <a:latin typeface="Telegraf"/>
                <a:ea typeface="Telegraf"/>
                <a:cs typeface="Telegraf"/>
                <a:sym typeface="Telegraf"/>
              </a:rPr>
              <a:t>Logistic Regression</a:t>
            </a:r>
          </a:p>
        </p:txBody>
      </p:sp>
      <p:sp>
        <p:nvSpPr>
          <p:cNvPr id="21" name="TextBox 21"/>
          <p:cNvSpPr txBox="1"/>
          <p:nvPr/>
        </p:nvSpPr>
        <p:spPr>
          <a:xfrm>
            <a:off x="1028700" y="704347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3</a:t>
            </a:r>
          </a:p>
        </p:txBody>
      </p:sp>
      <p:sp>
        <p:nvSpPr>
          <p:cNvPr id="22" name="TextBox 22"/>
          <p:cNvSpPr txBox="1"/>
          <p:nvPr/>
        </p:nvSpPr>
        <p:spPr>
          <a:xfrm>
            <a:off x="11785591" y="704347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4</a:t>
            </a:r>
          </a:p>
        </p:txBody>
      </p:sp>
      <p:sp>
        <p:nvSpPr>
          <p:cNvPr id="23" name="AutoShape 23"/>
          <p:cNvSpPr/>
          <p:nvPr/>
        </p:nvSpPr>
        <p:spPr>
          <a:xfrm>
            <a:off x="6502409" y="2242225"/>
            <a:ext cx="5283182" cy="2398"/>
          </a:xfrm>
          <a:prstGeom prst="line">
            <a:avLst/>
          </a:prstGeom>
          <a:ln w="19050" cap="flat">
            <a:solidFill>
              <a:srgbClr val="164B82"/>
            </a:solidFill>
            <a:prstDash val="sysDash"/>
            <a:headEnd type="oval" w="lg" len="lg"/>
            <a:tailEnd type="oval" w="lg" len="lg"/>
          </a:ln>
        </p:spPr>
        <p:txBody>
          <a:bodyPr/>
          <a:lstStyle/>
          <a:p>
            <a:endParaRPr lang="zh-SG" altLang="en-US"/>
          </a:p>
        </p:txBody>
      </p:sp>
      <p:sp>
        <p:nvSpPr>
          <p:cNvPr id="24" name="AutoShape 24"/>
          <p:cNvSpPr/>
          <p:nvPr/>
        </p:nvSpPr>
        <p:spPr>
          <a:xfrm>
            <a:off x="6502409" y="7496097"/>
            <a:ext cx="5098453" cy="6579"/>
          </a:xfrm>
          <a:prstGeom prst="line">
            <a:avLst/>
          </a:prstGeom>
          <a:ln w="19050" cap="flat">
            <a:solidFill>
              <a:srgbClr val="164B82"/>
            </a:solidFill>
            <a:prstDash val="sysDash"/>
            <a:headEnd type="oval" w="lg" len="lg"/>
            <a:tailEnd type="oval" w="lg" len="lg"/>
          </a:ln>
        </p:spPr>
        <p:txBody>
          <a:bodyPr/>
          <a:lstStyle/>
          <a:p>
            <a:endParaRPr lang="zh-SG" altLang="en-US"/>
          </a:p>
        </p:txBody>
      </p:sp>
      <p:sp>
        <p:nvSpPr>
          <p:cNvPr id="25" name="AutoShape 25"/>
          <p:cNvSpPr/>
          <p:nvPr/>
        </p:nvSpPr>
        <p:spPr>
          <a:xfrm>
            <a:off x="6502409" y="4871699"/>
            <a:ext cx="446710" cy="0"/>
          </a:xfrm>
          <a:prstGeom prst="line">
            <a:avLst/>
          </a:prstGeom>
          <a:ln w="19050" cap="flat">
            <a:solidFill>
              <a:srgbClr val="164B82"/>
            </a:solidFill>
            <a:prstDash val="sysDash"/>
            <a:headEnd type="oval" w="lg" len="lg"/>
            <a:tailEnd type="oval" w="lg" len="lg"/>
          </a:ln>
        </p:spPr>
        <p:txBody>
          <a:bodyPr/>
          <a:lstStyle/>
          <a:p>
            <a:endParaRPr lang="zh-SG" altLang="en-US"/>
          </a:p>
        </p:txBody>
      </p:sp>
      <p:sp>
        <p:nvSpPr>
          <p:cNvPr id="26" name="AutoShape 26"/>
          <p:cNvSpPr/>
          <p:nvPr/>
        </p:nvSpPr>
        <p:spPr>
          <a:xfrm flipV="1">
            <a:off x="11338881" y="4871699"/>
            <a:ext cx="446710" cy="0"/>
          </a:xfrm>
          <a:prstGeom prst="line">
            <a:avLst/>
          </a:prstGeom>
          <a:ln w="19050" cap="flat">
            <a:solidFill>
              <a:srgbClr val="164B82"/>
            </a:solidFill>
            <a:prstDash val="sysDash"/>
            <a:headEnd type="oval" w="lg" len="lg"/>
            <a:tailEnd type="oval" w="lg" len="lg"/>
          </a:ln>
        </p:spPr>
        <p:txBody>
          <a:bodyPr/>
          <a:lstStyle/>
          <a:p>
            <a:endParaRPr lang="zh-SG" altLang="en-US"/>
          </a:p>
        </p:txBody>
      </p:sp>
      <p:sp>
        <p:nvSpPr>
          <p:cNvPr id="27" name="TextBox 27"/>
          <p:cNvSpPr txBox="1"/>
          <p:nvPr/>
        </p:nvSpPr>
        <p:spPr>
          <a:xfrm>
            <a:off x="13282938" y="1617874"/>
            <a:ext cx="3587842" cy="1102361"/>
          </a:xfrm>
          <a:prstGeom prst="rect">
            <a:avLst/>
          </a:prstGeom>
        </p:spPr>
        <p:txBody>
          <a:bodyPr lIns="0" tIns="0" rIns="0" bIns="0" rtlCol="0" anchor="t">
            <a:spAutoFit/>
          </a:bodyPr>
          <a:lstStyle/>
          <a:p>
            <a:pPr algn="l">
              <a:lnSpc>
                <a:spcPts val="4339"/>
              </a:lnSpc>
              <a:spcBef>
                <a:spcPct val="0"/>
              </a:spcBef>
            </a:pPr>
            <a:r>
              <a:rPr lang="en-US" sz="3099" spc="154">
                <a:solidFill>
                  <a:srgbClr val="F2F7FA"/>
                </a:solidFill>
                <a:latin typeface="Telegraf"/>
                <a:ea typeface="Telegraf"/>
                <a:cs typeface="Telegraf"/>
                <a:sym typeface="Telegraf"/>
              </a:rPr>
              <a:t>Decision Tree Classifiers</a:t>
            </a:r>
          </a:p>
        </p:txBody>
      </p:sp>
      <p:sp>
        <p:nvSpPr>
          <p:cNvPr id="28" name="TextBox 28"/>
          <p:cNvSpPr txBox="1"/>
          <p:nvPr/>
        </p:nvSpPr>
        <p:spPr>
          <a:xfrm>
            <a:off x="2526047" y="6872024"/>
            <a:ext cx="3587842" cy="1102361"/>
          </a:xfrm>
          <a:prstGeom prst="rect">
            <a:avLst/>
          </a:prstGeom>
        </p:spPr>
        <p:txBody>
          <a:bodyPr lIns="0" tIns="0" rIns="0" bIns="0" rtlCol="0" anchor="t">
            <a:spAutoFit/>
          </a:bodyPr>
          <a:lstStyle/>
          <a:p>
            <a:pPr algn="l">
              <a:lnSpc>
                <a:spcPts val="4339"/>
              </a:lnSpc>
              <a:spcBef>
                <a:spcPct val="0"/>
              </a:spcBef>
            </a:pPr>
            <a:r>
              <a:rPr lang="en-US" sz="3099" spc="154">
                <a:solidFill>
                  <a:srgbClr val="F2F7FA"/>
                </a:solidFill>
                <a:latin typeface="Telegraf"/>
                <a:ea typeface="Telegraf"/>
                <a:cs typeface="Telegraf"/>
                <a:sym typeface="Telegraf"/>
              </a:rPr>
              <a:t>Random Forest Classifier</a:t>
            </a:r>
          </a:p>
        </p:txBody>
      </p:sp>
      <p:sp>
        <p:nvSpPr>
          <p:cNvPr id="29" name="TextBox 29"/>
          <p:cNvSpPr txBox="1"/>
          <p:nvPr/>
        </p:nvSpPr>
        <p:spPr>
          <a:xfrm>
            <a:off x="13282938" y="6927913"/>
            <a:ext cx="3587842" cy="1102361"/>
          </a:xfrm>
          <a:prstGeom prst="rect">
            <a:avLst/>
          </a:prstGeom>
        </p:spPr>
        <p:txBody>
          <a:bodyPr lIns="0" tIns="0" rIns="0" bIns="0" rtlCol="0" anchor="t">
            <a:spAutoFit/>
          </a:bodyPr>
          <a:lstStyle/>
          <a:p>
            <a:pPr algn="l">
              <a:lnSpc>
                <a:spcPts val="4339"/>
              </a:lnSpc>
            </a:pPr>
            <a:r>
              <a:rPr lang="en-US" sz="3099" spc="154">
                <a:solidFill>
                  <a:srgbClr val="F2F7FA"/>
                </a:solidFill>
                <a:latin typeface="Telegraf"/>
                <a:ea typeface="Telegraf"/>
                <a:cs typeface="Telegraf"/>
                <a:sym typeface="Telegraf"/>
              </a:rPr>
              <a:t>XGBoost </a:t>
            </a:r>
          </a:p>
          <a:p>
            <a:pPr algn="l">
              <a:lnSpc>
                <a:spcPts val="4339"/>
              </a:lnSpc>
              <a:spcBef>
                <a:spcPct val="0"/>
              </a:spcBef>
            </a:pPr>
            <a:r>
              <a:rPr lang="en-US" sz="3099" spc="154">
                <a:solidFill>
                  <a:srgbClr val="F2F7FA"/>
                </a:solidFill>
                <a:latin typeface="Telegraf"/>
                <a:ea typeface="Telegraf"/>
                <a:cs typeface="Telegraf"/>
                <a:sym typeface="Telegraf"/>
              </a:rPr>
              <a:t>Classifier</a:t>
            </a:r>
          </a:p>
        </p:txBody>
      </p:sp>
      <p:sp>
        <p:nvSpPr>
          <p:cNvPr id="30" name="Freeform 30"/>
          <p:cNvSpPr/>
          <p:nvPr/>
        </p:nvSpPr>
        <p:spPr>
          <a:xfrm rot="225008">
            <a:off x="1573248" y="8973281"/>
            <a:ext cx="12701350" cy="5382197"/>
          </a:xfrm>
          <a:custGeom>
            <a:avLst/>
            <a:gdLst/>
            <a:ahLst/>
            <a:cxnLst/>
            <a:rect l="l" t="t" r="r" b="b"/>
            <a:pathLst>
              <a:path w="12701350" h="5382197">
                <a:moveTo>
                  <a:pt x="0" y="0"/>
                </a:moveTo>
                <a:lnTo>
                  <a:pt x="12701349" y="0"/>
                </a:lnTo>
                <a:lnTo>
                  <a:pt x="12701349" y="5382197"/>
                </a:lnTo>
                <a:lnTo>
                  <a:pt x="0" y="5382197"/>
                </a:lnTo>
                <a:lnTo>
                  <a:pt x="0" y="0"/>
                </a:lnTo>
                <a:close/>
              </a:path>
            </a:pathLst>
          </a:custGeom>
          <a:blipFill>
            <a:blip r:embed="rId3"/>
            <a:stretch>
              <a:fillRect/>
            </a:stretch>
          </a:blipFill>
        </p:spPr>
        <p:txBody>
          <a:bodyPr/>
          <a:lstStyle/>
          <a:p>
            <a:endParaRPr lang="zh-SG"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1</a:t>
            </a:r>
          </a:p>
        </p:txBody>
      </p:sp>
      <p:sp>
        <p:nvSpPr>
          <p:cNvPr id="16" name="TextBox 16"/>
          <p:cNvSpPr txBox="1"/>
          <p:nvPr/>
        </p:nvSpPr>
        <p:spPr>
          <a:xfrm>
            <a:off x="14051349" y="978708"/>
            <a:ext cx="3587842" cy="1102361"/>
          </a:xfrm>
          <a:prstGeom prst="rect">
            <a:avLst/>
          </a:prstGeom>
        </p:spPr>
        <p:txBody>
          <a:bodyPr lIns="0" tIns="0" rIns="0" bIns="0" rtlCol="0" anchor="t">
            <a:spAutoFit/>
          </a:bodyPr>
          <a:lstStyle/>
          <a:p>
            <a:pPr algn="just">
              <a:lnSpc>
                <a:spcPts val="4339"/>
              </a:lnSpc>
              <a:spcBef>
                <a:spcPct val="0"/>
              </a:spcBef>
            </a:pPr>
            <a:r>
              <a:rPr lang="en-US" sz="3099" spc="154">
                <a:solidFill>
                  <a:srgbClr val="F2F7FA"/>
                </a:solidFill>
                <a:latin typeface="Telegraf"/>
                <a:ea typeface="Telegraf"/>
                <a:cs typeface="Telegraf"/>
                <a:sym typeface="Telegraf"/>
              </a:rPr>
              <a:t>Logistic Regression</a:t>
            </a:r>
          </a:p>
        </p:txBody>
      </p:sp>
      <p:sp>
        <p:nvSpPr>
          <p:cNvPr id="17" name="TextBox 17"/>
          <p:cNvSpPr txBox="1"/>
          <p:nvPr/>
        </p:nvSpPr>
        <p:spPr>
          <a:xfrm>
            <a:off x="984823" y="2990539"/>
            <a:ext cx="15884012" cy="1099821"/>
          </a:xfrm>
          <a:prstGeom prst="rect">
            <a:avLst/>
          </a:prstGeom>
        </p:spPr>
        <p:txBody>
          <a:bodyPr lIns="0" tIns="0" rIns="0" bIns="0" rtlCol="0" anchor="t">
            <a:spAutoFit/>
          </a:bodyPr>
          <a:lstStyle/>
          <a:p>
            <a:pPr algn="l">
              <a:lnSpc>
                <a:spcPts val="4479"/>
              </a:lnSpc>
            </a:pPr>
            <a:r>
              <a:rPr lang="en-US" sz="3199">
                <a:solidFill>
                  <a:srgbClr val="000000"/>
                </a:solidFill>
                <a:latin typeface="TT Hoves"/>
                <a:ea typeface="TT Hoves"/>
                <a:cs typeface="TT Hoves"/>
                <a:sym typeface="TT Hoves"/>
              </a:rPr>
              <a:t>Train Accuracy: </a:t>
            </a:r>
            <a:r>
              <a:rPr lang="en-US" sz="3199" b="1">
                <a:solidFill>
                  <a:srgbClr val="000000"/>
                </a:solidFill>
                <a:latin typeface="TT Hoves Bold"/>
                <a:ea typeface="TT Hoves Bold"/>
                <a:cs typeface="TT Hoves Bold"/>
                <a:sym typeface="TT Hoves Bold"/>
              </a:rPr>
              <a:t>54.01%</a:t>
            </a:r>
          </a:p>
          <a:p>
            <a:pPr algn="l">
              <a:lnSpc>
                <a:spcPts val="4479"/>
              </a:lnSpc>
              <a:spcBef>
                <a:spcPct val="0"/>
              </a:spcBef>
            </a:pPr>
            <a:r>
              <a:rPr lang="en-US" sz="3199">
                <a:solidFill>
                  <a:srgbClr val="000000"/>
                </a:solidFill>
                <a:latin typeface="TT Hoves"/>
                <a:ea typeface="TT Hoves"/>
                <a:cs typeface="TT Hoves"/>
                <a:sym typeface="TT Hoves"/>
              </a:rPr>
              <a:t>Test Accuracy: </a:t>
            </a:r>
            <a:r>
              <a:rPr lang="en-US" sz="3199" b="1">
                <a:solidFill>
                  <a:srgbClr val="FF3131"/>
                </a:solidFill>
                <a:latin typeface="TT Hoves Bold"/>
                <a:ea typeface="TT Hoves Bold"/>
                <a:cs typeface="TT Hoves Bold"/>
                <a:sym typeface="TT Hoves Bold"/>
              </a:rPr>
              <a:t>53.81%</a:t>
            </a:r>
          </a:p>
        </p:txBody>
      </p:sp>
      <p:graphicFrame>
        <p:nvGraphicFramePr>
          <p:cNvPr id="18" name="表格 17">
            <a:extLst>
              <a:ext uri="{FF2B5EF4-FFF2-40B4-BE49-F238E27FC236}">
                <a16:creationId xmlns:a16="http://schemas.microsoft.com/office/drawing/2014/main" id="{6DEB2857-4CF0-E5B5-BCCA-F85F32C98D03}"/>
              </a:ext>
            </a:extLst>
          </p:cNvPr>
          <p:cNvGraphicFramePr>
            <a:graphicFrameLocks noGrp="1"/>
          </p:cNvGraphicFramePr>
          <p:nvPr>
            <p:extLst>
              <p:ext uri="{D42A27DB-BD31-4B8C-83A1-F6EECF244321}">
                <p14:modId xmlns:p14="http://schemas.microsoft.com/office/powerpoint/2010/main" val="2929210435"/>
              </p:ext>
            </p:extLst>
          </p:nvPr>
        </p:nvGraphicFramePr>
        <p:xfrm>
          <a:off x="1044466" y="4180044"/>
          <a:ext cx="15884010" cy="5292210"/>
        </p:xfrm>
        <a:graphic>
          <a:graphicData uri="http://schemas.openxmlformats.org/drawingml/2006/table">
            <a:tbl>
              <a:tblPr/>
              <a:tblGrid>
                <a:gridCol w="3176802">
                  <a:extLst>
                    <a:ext uri="{9D8B030D-6E8A-4147-A177-3AD203B41FA5}">
                      <a16:colId xmlns:a16="http://schemas.microsoft.com/office/drawing/2014/main" val="295451616"/>
                    </a:ext>
                  </a:extLst>
                </a:gridCol>
                <a:gridCol w="3176802">
                  <a:extLst>
                    <a:ext uri="{9D8B030D-6E8A-4147-A177-3AD203B41FA5}">
                      <a16:colId xmlns:a16="http://schemas.microsoft.com/office/drawing/2014/main" val="2750395727"/>
                    </a:ext>
                  </a:extLst>
                </a:gridCol>
                <a:gridCol w="3176802">
                  <a:extLst>
                    <a:ext uri="{9D8B030D-6E8A-4147-A177-3AD203B41FA5}">
                      <a16:colId xmlns:a16="http://schemas.microsoft.com/office/drawing/2014/main" val="1884318902"/>
                    </a:ext>
                  </a:extLst>
                </a:gridCol>
                <a:gridCol w="3176802">
                  <a:extLst>
                    <a:ext uri="{9D8B030D-6E8A-4147-A177-3AD203B41FA5}">
                      <a16:colId xmlns:a16="http://schemas.microsoft.com/office/drawing/2014/main" val="241484778"/>
                    </a:ext>
                  </a:extLst>
                </a:gridCol>
                <a:gridCol w="3176802">
                  <a:extLst>
                    <a:ext uri="{9D8B030D-6E8A-4147-A177-3AD203B41FA5}">
                      <a16:colId xmlns:a16="http://schemas.microsoft.com/office/drawing/2014/main" val="1215366788"/>
                    </a:ext>
                  </a:extLst>
                </a:gridCol>
              </a:tblGrid>
              <a:tr h="1246186">
                <a:tc>
                  <a:txBody>
                    <a:bodyPr/>
                    <a:lstStyle/>
                    <a:p>
                      <a:pPr algn="ctr">
                        <a:buNone/>
                      </a:pPr>
                      <a:endParaRPr lang="zh-SG" altLang="en-US" sz="3200">
                        <a:effectLst/>
                      </a:endParaRP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Precision</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Recall</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F1-score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dirty="0">
                          <a:effectLst/>
                        </a:rPr>
                        <a:t>Support</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6060619"/>
                  </a:ext>
                </a:extLst>
              </a:tr>
              <a:tr h="1246186">
                <a:tc>
                  <a:txBody>
                    <a:bodyPr/>
                    <a:lstStyle/>
                    <a:p>
                      <a:pPr algn="ctr">
                        <a:buNone/>
                      </a:pPr>
                      <a:r>
                        <a:rPr lang="en-SG" sz="3200">
                          <a:effectLst/>
                        </a:rPr>
                        <a:t>Discharge Home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0.92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0.51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0.66</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14,367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21245614"/>
                  </a:ext>
                </a:extLst>
              </a:tr>
              <a:tr h="1246186">
                <a:tc>
                  <a:txBody>
                    <a:bodyPr/>
                    <a:lstStyle/>
                    <a:p>
                      <a:pPr algn="ctr">
                        <a:buNone/>
                      </a:pPr>
                      <a:r>
                        <a:rPr lang="en-SG" sz="3200">
                          <a:effectLst/>
                        </a:rPr>
                        <a:t>Transferred to Another Hospital</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0.07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solidFill>
                            <a:srgbClr val="FF3131"/>
                          </a:solidFill>
                          <a:effectLst/>
                        </a:rPr>
                        <a:t>0.48</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0.12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656</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06332111"/>
                  </a:ext>
                </a:extLst>
              </a:tr>
              <a:tr h="1246186">
                <a:tc>
                  <a:txBody>
                    <a:bodyPr/>
                    <a:lstStyle/>
                    <a:p>
                      <a:pPr algn="ctr">
                        <a:buNone/>
                      </a:pPr>
                      <a:r>
                        <a:rPr lang="en-SG" sz="3200">
                          <a:effectLst/>
                        </a:rPr>
                        <a:t>Transferred to Facility-Based Care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0.37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solidFill>
                            <a:srgbClr val="FF3131"/>
                          </a:solidFill>
                          <a:effectLst/>
                        </a:rPr>
                        <a:t>0.68</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0.48</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2,941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06646416"/>
                  </a:ext>
                </a:extLst>
              </a:tr>
            </a:tbl>
          </a:graphicData>
        </a:graphic>
      </p:graphicFrame>
      <p:sp>
        <p:nvSpPr>
          <p:cNvPr id="19" name="Rectangle 1">
            <a:extLst>
              <a:ext uri="{FF2B5EF4-FFF2-40B4-BE49-F238E27FC236}">
                <a16:creationId xmlns:a16="http://schemas.microsoft.com/office/drawing/2014/main" id="{4763E44E-02AF-FC31-5D4A-2DE15B2A2BE3}"/>
              </a:ext>
            </a:extLst>
          </p:cNvPr>
          <p:cNvSpPr>
            <a:spLocks noChangeArrowheads="1"/>
          </p:cNvSpPr>
          <p:nvPr/>
        </p:nvSpPr>
        <p:spPr bwMode="auto">
          <a:xfrm>
            <a:off x="1043691" y="4180043"/>
            <a:ext cx="356205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CONFUSION MATRIX</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1</a:t>
            </a:r>
          </a:p>
        </p:txBody>
      </p:sp>
      <p:sp>
        <p:nvSpPr>
          <p:cNvPr id="16" name="TextBox 16"/>
          <p:cNvSpPr txBox="1"/>
          <p:nvPr/>
        </p:nvSpPr>
        <p:spPr>
          <a:xfrm>
            <a:off x="14051349" y="978708"/>
            <a:ext cx="3587842" cy="1102361"/>
          </a:xfrm>
          <a:prstGeom prst="rect">
            <a:avLst/>
          </a:prstGeom>
        </p:spPr>
        <p:txBody>
          <a:bodyPr lIns="0" tIns="0" rIns="0" bIns="0" rtlCol="0" anchor="t">
            <a:spAutoFit/>
          </a:bodyPr>
          <a:lstStyle/>
          <a:p>
            <a:pPr algn="just">
              <a:lnSpc>
                <a:spcPts val="4339"/>
              </a:lnSpc>
              <a:spcBef>
                <a:spcPct val="0"/>
              </a:spcBef>
            </a:pPr>
            <a:r>
              <a:rPr lang="en-US" sz="3099" spc="154">
                <a:solidFill>
                  <a:srgbClr val="F2F7FA"/>
                </a:solidFill>
                <a:latin typeface="Telegraf"/>
                <a:ea typeface="Telegraf"/>
                <a:cs typeface="Telegraf"/>
                <a:sym typeface="Telegraf"/>
              </a:rPr>
              <a:t>Logistic Regression</a:t>
            </a:r>
          </a:p>
        </p:txBody>
      </p:sp>
      <p:graphicFrame>
        <p:nvGraphicFramePr>
          <p:cNvPr id="17" name="表格 16">
            <a:extLst>
              <a:ext uri="{FF2B5EF4-FFF2-40B4-BE49-F238E27FC236}">
                <a16:creationId xmlns:a16="http://schemas.microsoft.com/office/drawing/2014/main" id="{33E84F8A-731C-CB59-FEAD-CC1F7A6EF1E8}"/>
              </a:ext>
            </a:extLst>
          </p:cNvPr>
          <p:cNvGraphicFramePr>
            <a:graphicFrameLocks noGrp="1"/>
          </p:cNvGraphicFramePr>
          <p:nvPr>
            <p:extLst>
              <p:ext uri="{D42A27DB-BD31-4B8C-83A1-F6EECF244321}">
                <p14:modId xmlns:p14="http://schemas.microsoft.com/office/powerpoint/2010/main" val="3868864870"/>
              </p:ext>
            </p:extLst>
          </p:nvPr>
        </p:nvGraphicFramePr>
        <p:xfrm>
          <a:off x="1028700" y="3121638"/>
          <a:ext cx="15840136" cy="6591206"/>
        </p:xfrm>
        <a:graphic>
          <a:graphicData uri="http://schemas.openxmlformats.org/drawingml/2006/table">
            <a:tbl>
              <a:tblPr/>
              <a:tblGrid>
                <a:gridCol w="3960034">
                  <a:extLst>
                    <a:ext uri="{9D8B030D-6E8A-4147-A177-3AD203B41FA5}">
                      <a16:colId xmlns:a16="http://schemas.microsoft.com/office/drawing/2014/main" val="378656706"/>
                    </a:ext>
                  </a:extLst>
                </a:gridCol>
                <a:gridCol w="3960034">
                  <a:extLst>
                    <a:ext uri="{9D8B030D-6E8A-4147-A177-3AD203B41FA5}">
                      <a16:colId xmlns:a16="http://schemas.microsoft.com/office/drawing/2014/main" val="4108939329"/>
                    </a:ext>
                  </a:extLst>
                </a:gridCol>
                <a:gridCol w="3960034">
                  <a:extLst>
                    <a:ext uri="{9D8B030D-6E8A-4147-A177-3AD203B41FA5}">
                      <a16:colId xmlns:a16="http://schemas.microsoft.com/office/drawing/2014/main" val="3522668826"/>
                    </a:ext>
                  </a:extLst>
                </a:gridCol>
                <a:gridCol w="3960034">
                  <a:extLst>
                    <a:ext uri="{9D8B030D-6E8A-4147-A177-3AD203B41FA5}">
                      <a16:colId xmlns:a16="http://schemas.microsoft.com/office/drawing/2014/main" val="3207097828"/>
                    </a:ext>
                  </a:extLst>
                </a:gridCol>
              </a:tblGrid>
              <a:tr h="1612670">
                <a:tc>
                  <a:txBody>
                    <a:bodyPr/>
                    <a:lstStyle/>
                    <a:p>
                      <a:pPr algn="ctr">
                        <a:buNone/>
                      </a:pPr>
                      <a:r>
                        <a:rPr lang="en-SG" sz="2800">
                          <a:effectLst/>
                        </a:rPr>
                        <a:t>Actual\Predict</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2800">
                          <a:effectLst/>
                        </a:rPr>
                        <a:t>Discharge Home</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2800">
                          <a:effectLst/>
                        </a:rPr>
                        <a:t>Transferred to Another Hospital</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2800" dirty="0">
                          <a:effectLst/>
                        </a:rPr>
                        <a:t>Transferred to Facility-Based Care</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39180546"/>
                  </a:ext>
                </a:extLst>
              </a:tr>
              <a:tr h="1612670">
                <a:tc>
                  <a:txBody>
                    <a:bodyPr/>
                    <a:lstStyle/>
                    <a:p>
                      <a:pPr algn="ctr">
                        <a:buNone/>
                      </a:pPr>
                      <a:r>
                        <a:rPr lang="en-SG" sz="2800">
                          <a:effectLst/>
                        </a:rPr>
                        <a:t>Discharge Home</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2800">
                          <a:effectLst/>
                        </a:rPr>
                        <a:t>7,344</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2800">
                          <a:solidFill>
                            <a:srgbClr val="FF3131"/>
                          </a:solidFill>
                          <a:effectLst/>
                        </a:rPr>
                        <a:t>3,781</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2800" dirty="0">
                          <a:solidFill>
                            <a:srgbClr val="FF3131"/>
                          </a:solidFill>
                          <a:effectLst/>
                        </a:rPr>
                        <a:t>3,242</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27755313"/>
                  </a:ext>
                </a:extLst>
              </a:tr>
              <a:tr h="1682933">
                <a:tc>
                  <a:txBody>
                    <a:bodyPr/>
                    <a:lstStyle/>
                    <a:p>
                      <a:pPr algn="ctr">
                        <a:buNone/>
                      </a:pPr>
                      <a:r>
                        <a:rPr lang="en-SG" sz="2800">
                          <a:effectLst/>
                        </a:rPr>
                        <a:t>Transferred to Another Hospital</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2800">
                          <a:effectLst/>
                        </a:rPr>
                        <a:t>196</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2800">
                          <a:effectLst/>
                        </a:rPr>
                        <a:t>315</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2800" dirty="0">
                          <a:effectLst/>
                        </a:rPr>
                        <a:t>145</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97890494"/>
                  </a:ext>
                </a:extLst>
              </a:tr>
              <a:tr h="1682933">
                <a:tc>
                  <a:txBody>
                    <a:bodyPr/>
                    <a:lstStyle/>
                    <a:p>
                      <a:pPr algn="ctr">
                        <a:buNone/>
                      </a:pPr>
                      <a:r>
                        <a:rPr lang="en-SG" sz="2800">
                          <a:effectLst/>
                        </a:rPr>
                        <a:t>Transferred to Facility-Based Care</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2800">
                          <a:effectLst/>
                        </a:rPr>
                        <a:t>433</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2800">
                          <a:effectLst/>
                        </a:rPr>
                        <a:t>500</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2800" dirty="0">
                          <a:effectLst/>
                        </a:rPr>
                        <a:t>2008</a:t>
                      </a:r>
                    </a:p>
                  </a:txBody>
                  <a:tcPr marL="69337" marR="69337" marT="34668" marB="3466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03328004"/>
                  </a:ext>
                </a:extLst>
              </a:tr>
            </a:tbl>
          </a:graphicData>
        </a:graphic>
      </p:graphicFrame>
      <p:sp>
        <p:nvSpPr>
          <p:cNvPr id="18" name="Rectangle 1">
            <a:extLst>
              <a:ext uri="{FF2B5EF4-FFF2-40B4-BE49-F238E27FC236}">
                <a16:creationId xmlns:a16="http://schemas.microsoft.com/office/drawing/2014/main" id="{9C22922C-EB08-A1FE-0FA7-A95123D8FA85}"/>
              </a:ext>
            </a:extLst>
          </p:cNvPr>
          <p:cNvSpPr>
            <a:spLocks noChangeArrowheads="1"/>
          </p:cNvSpPr>
          <p:nvPr/>
        </p:nvSpPr>
        <p:spPr bwMode="auto">
          <a:xfrm>
            <a:off x="1029421" y="3121637"/>
            <a:ext cx="46421430" cy="47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2</a:t>
            </a:r>
          </a:p>
        </p:txBody>
      </p:sp>
      <p:sp>
        <p:nvSpPr>
          <p:cNvPr id="16" name="TextBox 16"/>
          <p:cNvSpPr txBox="1"/>
          <p:nvPr/>
        </p:nvSpPr>
        <p:spPr>
          <a:xfrm>
            <a:off x="984823" y="2990539"/>
            <a:ext cx="15884012" cy="1099821"/>
          </a:xfrm>
          <a:prstGeom prst="rect">
            <a:avLst/>
          </a:prstGeom>
        </p:spPr>
        <p:txBody>
          <a:bodyPr lIns="0" tIns="0" rIns="0" bIns="0" rtlCol="0" anchor="t">
            <a:spAutoFit/>
          </a:bodyPr>
          <a:lstStyle/>
          <a:p>
            <a:pPr algn="l">
              <a:lnSpc>
                <a:spcPts val="4479"/>
              </a:lnSpc>
            </a:pPr>
            <a:r>
              <a:rPr lang="en-US" sz="3199">
                <a:solidFill>
                  <a:srgbClr val="000000"/>
                </a:solidFill>
                <a:latin typeface="TT Hoves"/>
                <a:ea typeface="TT Hoves"/>
                <a:cs typeface="TT Hoves"/>
                <a:sym typeface="TT Hoves"/>
              </a:rPr>
              <a:t>Train Accuracy: </a:t>
            </a:r>
            <a:r>
              <a:rPr lang="en-US" sz="3199" b="1">
                <a:solidFill>
                  <a:srgbClr val="000000"/>
                </a:solidFill>
                <a:latin typeface="TT Hoves Bold"/>
                <a:ea typeface="TT Hoves Bold"/>
                <a:cs typeface="TT Hoves Bold"/>
                <a:sym typeface="TT Hoves Bold"/>
              </a:rPr>
              <a:t>49.76%</a:t>
            </a:r>
          </a:p>
          <a:p>
            <a:pPr algn="l">
              <a:lnSpc>
                <a:spcPts val="4479"/>
              </a:lnSpc>
              <a:spcBef>
                <a:spcPct val="0"/>
              </a:spcBef>
            </a:pPr>
            <a:r>
              <a:rPr lang="en-US" sz="3199">
                <a:solidFill>
                  <a:srgbClr val="000000"/>
                </a:solidFill>
                <a:latin typeface="TT Hoves"/>
                <a:ea typeface="TT Hoves"/>
                <a:cs typeface="TT Hoves"/>
                <a:sym typeface="TT Hoves"/>
              </a:rPr>
              <a:t>Test Accuracy: </a:t>
            </a:r>
            <a:r>
              <a:rPr lang="en-US" sz="3199" b="1">
                <a:solidFill>
                  <a:srgbClr val="000000"/>
                </a:solidFill>
                <a:latin typeface="TT Hoves Bold"/>
                <a:ea typeface="TT Hoves Bold"/>
                <a:cs typeface="TT Hoves Bold"/>
                <a:sym typeface="TT Hoves Bold"/>
              </a:rPr>
              <a:t>47.7%.</a:t>
            </a:r>
          </a:p>
        </p:txBody>
      </p:sp>
      <p:sp>
        <p:nvSpPr>
          <p:cNvPr id="17" name="TextBox 17"/>
          <p:cNvSpPr txBox="1"/>
          <p:nvPr/>
        </p:nvSpPr>
        <p:spPr>
          <a:xfrm>
            <a:off x="14051349" y="923761"/>
            <a:ext cx="3587842" cy="1102361"/>
          </a:xfrm>
          <a:prstGeom prst="rect">
            <a:avLst/>
          </a:prstGeom>
        </p:spPr>
        <p:txBody>
          <a:bodyPr lIns="0" tIns="0" rIns="0" bIns="0" rtlCol="0" anchor="t">
            <a:spAutoFit/>
          </a:bodyPr>
          <a:lstStyle/>
          <a:p>
            <a:pPr algn="l">
              <a:lnSpc>
                <a:spcPts val="4339"/>
              </a:lnSpc>
              <a:spcBef>
                <a:spcPct val="0"/>
              </a:spcBef>
            </a:pPr>
            <a:r>
              <a:rPr lang="en-US" sz="3099" spc="154">
                <a:solidFill>
                  <a:srgbClr val="F2F7FA"/>
                </a:solidFill>
                <a:latin typeface="Telegraf"/>
                <a:ea typeface="Telegraf"/>
                <a:cs typeface="Telegraf"/>
                <a:sym typeface="Telegraf"/>
              </a:rPr>
              <a:t>Decision Tree Classifiers</a:t>
            </a:r>
          </a:p>
        </p:txBody>
      </p:sp>
      <p:graphicFrame>
        <p:nvGraphicFramePr>
          <p:cNvPr id="18" name="表格 17">
            <a:extLst>
              <a:ext uri="{FF2B5EF4-FFF2-40B4-BE49-F238E27FC236}">
                <a16:creationId xmlns:a16="http://schemas.microsoft.com/office/drawing/2014/main" id="{39959DD5-C16E-4D70-BB4C-818E4E4B5922}"/>
              </a:ext>
            </a:extLst>
          </p:cNvPr>
          <p:cNvGraphicFramePr>
            <a:graphicFrameLocks noGrp="1"/>
          </p:cNvGraphicFramePr>
          <p:nvPr>
            <p:extLst>
              <p:ext uri="{D42A27DB-BD31-4B8C-83A1-F6EECF244321}">
                <p14:modId xmlns:p14="http://schemas.microsoft.com/office/powerpoint/2010/main" val="1164323259"/>
              </p:ext>
            </p:extLst>
          </p:nvPr>
        </p:nvGraphicFramePr>
        <p:xfrm>
          <a:off x="961959" y="4090360"/>
          <a:ext cx="15906875" cy="5575374"/>
        </p:xfrm>
        <a:graphic>
          <a:graphicData uri="http://schemas.openxmlformats.org/drawingml/2006/table">
            <a:tbl>
              <a:tblPr/>
              <a:tblGrid>
                <a:gridCol w="3181375">
                  <a:extLst>
                    <a:ext uri="{9D8B030D-6E8A-4147-A177-3AD203B41FA5}">
                      <a16:colId xmlns:a16="http://schemas.microsoft.com/office/drawing/2014/main" val="937604831"/>
                    </a:ext>
                  </a:extLst>
                </a:gridCol>
                <a:gridCol w="3181375">
                  <a:extLst>
                    <a:ext uri="{9D8B030D-6E8A-4147-A177-3AD203B41FA5}">
                      <a16:colId xmlns:a16="http://schemas.microsoft.com/office/drawing/2014/main" val="3451515050"/>
                    </a:ext>
                  </a:extLst>
                </a:gridCol>
                <a:gridCol w="3181375">
                  <a:extLst>
                    <a:ext uri="{9D8B030D-6E8A-4147-A177-3AD203B41FA5}">
                      <a16:colId xmlns:a16="http://schemas.microsoft.com/office/drawing/2014/main" val="320494092"/>
                    </a:ext>
                  </a:extLst>
                </a:gridCol>
                <a:gridCol w="3181375">
                  <a:extLst>
                    <a:ext uri="{9D8B030D-6E8A-4147-A177-3AD203B41FA5}">
                      <a16:colId xmlns:a16="http://schemas.microsoft.com/office/drawing/2014/main" val="2178916282"/>
                    </a:ext>
                  </a:extLst>
                </a:gridCol>
                <a:gridCol w="3181375">
                  <a:extLst>
                    <a:ext uri="{9D8B030D-6E8A-4147-A177-3AD203B41FA5}">
                      <a16:colId xmlns:a16="http://schemas.microsoft.com/office/drawing/2014/main" val="1130861885"/>
                    </a:ext>
                  </a:extLst>
                </a:gridCol>
              </a:tblGrid>
              <a:tr h="1340574">
                <a:tc>
                  <a:txBody>
                    <a:bodyPr/>
                    <a:lstStyle/>
                    <a:p>
                      <a:pPr algn="ctr">
                        <a:buNone/>
                      </a:pPr>
                      <a:endParaRPr lang="zh-SG" altLang="en-US" sz="3200" dirty="0">
                        <a:effectLst/>
                      </a:endParaRP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dirty="0">
                          <a:effectLst/>
                        </a:rPr>
                        <a:t>Precision</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Recall</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F1-score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Support</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55184780"/>
                  </a:ext>
                </a:extLst>
              </a:tr>
              <a:tr h="1340574">
                <a:tc>
                  <a:txBody>
                    <a:bodyPr/>
                    <a:lstStyle/>
                    <a:p>
                      <a:pPr algn="ctr">
                        <a:buNone/>
                      </a:pPr>
                      <a:r>
                        <a:rPr lang="en-SG" sz="3200">
                          <a:effectLst/>
                        </a:rPr>
                        <a:t>Discharge Home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0.92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0.44</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0.59</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14,367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26323536"/>
                  </a:ext>
                </a:extLst>
              </a:tr>
              <a:tr h="1340574">
                <a:tc>
                  <a:txBody>
                    <a:bodyPr/>
                    <a:lstStyle/>
                    <a:p>
                      <a:pPr algn="ctr">
                        <a:buNone/>
                      </a:pPr>
                      <a:r>
                        <a:rPr lang="en-SG" sz="3200">
                          <a:effectLst/>
                        </a:rPr>
                        <a:t>Transferred to Another Hospital</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0.06</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solidFill>
                            <a:srgbClr val="FF3131"/>
                          </a:solidFill>
                          <a:effectLst/>
                        </a:rPr>
                        <a:t>0.45</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0.11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656</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64453779"/>
                  </a:ext>
                </a:extLst>
              </a:tr>
              <a:tr h="1340574">
                <a:tc>
                  <a:txBody>
                    <a:bodyPr/>
                    <a:lstStyle/>
                    <a:p>
                      <a:pPr algn="ctr">
                        <a:buNone/>
                      </a:pPr>
                      <a:r>
                        <a:rPr lang="en-SG" sz="3200">
                          <a:effectLst/>
                        </a:rPr>
                        <a:t>Transferred to Facility-Based Care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0.32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solidFill>
                            <a:srgbClr val="FF3131"/>
                          </a:solidFill>
                          <a:effectLst/>
                        </a:rPr>
                        <a:t>0.67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0.43</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2,941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8605303"/>
                  </a:ext>
                </a:extLst>
              </a:tr>
            </a:tbl>
          </a:graphicData>
        </a:graphic>
      </p:graphicFrame>
      <p:sp>
        <p:nvSpPr>
          <p:cNvPr id="19" name="Rectangle 1">
            <a:extLst>
              <a:ext uri="{FF2B5EF4-FFF2-40B4-BE49-F238E27FC236}">
                <a16:creationId xmlns:a16="http://schemas.microsoft.com/office/drawing/2014/main" id="{895B2CAD-AD33-23C0-A4D4-E7402AB6B9D3}"/>
              </a:ext>
            </a:extLst>
          </p:cNvPr>
          <p:cNvSpPr>
            <a:spLocks noChangeArrowheads="1"/>
          </p:cNvSpPr>
          <p:nvPr/>
        </p:nvSpPr>
        <p:spPr bwMode="auto">
          <a:xfrm>
            <a:off x="961184" y="4090359"/>
            <a:ext cx="35671869" cy="4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2</a:t>
            </a:r>
          </a:p>
        </p:txBody>
      </p:sp>
      <p:sp>
        <p:nvSpPr>
          <p:cNvPr id="16" name="TextBox 16"/>
          <p:cNvSpPr txBox="1"/>
          <p:nvPr/>
        </p:nvSpPr>
        <p:spPr>
          <a:xfrm>
            <a:off x="14051349" y="923761"/>
            <a:ext cx="3587842" cy="1102361"/>
          </a:xfrm>
          <a:prstGeom prst="rect">
            <a:avLst/>
          </a:prstGeom>
        </p:spPr>
        <p:txBody>
          <a:bodyPr lIns="0" tIns="0" rIns="0" bIns="0" rtlCol="0" anchor="t">
            <a:spAutoFit/>
          </a:bodyPr>
          <a:lstStyle/>
          <a:p>
            <a:pPr algn="l">
              <a:lnSpc>
                <a:spcPts val="4339"/>
              </a:lnSpc>
              <a:spcBef>
                <a:spcPct val="0"/>
              </a:spcBef>
            </a:pPr>
            <a:r>
              <a:rPr lang="en-US" sz="3099" spc="154">
                <a:solidFill>
                  <a:srgbClr val="F2F7FA"/>
                </a:solidFill>
                <a:latin typeface="Telegraf"/>
                <a:ea typeface="Telegraf"/>
                <a:cs typeface="Telegraf"/>
                <a:sym typeface="Telegraf"/>
              </a:rPr>
              <a:t>Decision Tree Classifiers</a:t>
            </a:r>
          </a:p>
        </p:txBody>
      </p:sp>
      <p:graphicFrame>
        <p:nvGraphicFramePr>
          <p:cNvPr id="17" name="表格 16">
            <a:extLst>
              <a:ext uri="{FF2B5EF4-FFF2-40B4-BE49-F238E27FC236}">
                <a16:creationId xmlns:a16="http://schemas.microsoft.com/office/drawing/2014/main" id="{4A47F48F-D727-9BA4-27A5-A5B9107CC2D9}"/>
              </a:ext>
            </a:extLst>
          </p:cNvPr>
          <p:cNvGraphicFramePr>
            <a:graphicFrameLocks noGrp="1"/>
          </p:cNvGraphicFramePr>
          <p:nvPr>
            <p:extLst>
              <p:ext uri="{D42A27DB-BD31-4B8C-83A1-F6EECF244321}">
                <p14:modId xmlns:p14="http://schemas.microsoft.com/office/powerpoint/2010/main" val="2365271868"/>
              </p:ext>
            </p:extLst>
          </p:nvPr>
        </p:nvGraphicFramePr>
        <p:xfrm>
          <a:off x="1000903" y="2831587"/>
          <a:ext cx="16296496" cy="6731512"/>
        </p:xfrm>
        <a:graphic>
          <a:graphicData uri="http://schemas.openxmlformats.org/drawingml/2006/table">
            <a:tbl>
              <a:tblPr/>
              <a:tblGrid>
                <a:gridCol w="4074124">
                  <a:extLst>
                    <a:ext uri="{9D8B030D-6E8A-4147-A177-3AD203B41FA5}">
                      <a16:colId xmlns:a16="http://schemas.microsoft.com/office/drawing/2014/main" val="1943231390"/>
                    </a:ext>
                  </a:extLst>
                </a:gridCol>
                <a:gridCol w="4074124">
                  <a:extLst>
                    <a:ext uri="{9D8B030D-6E8A-4147-A177-3AD203B41FA5}">
                      <a16:colId xmlns:a16="http://schemas.microsoft.com/office/drawing/2014/main" val="456410528"/>
                    </a:ext>
                  </a:extLst>
                </a:gridCol>
                <a:gridCol w="4074124">
                  <a:extLst>
                    <a:ext uri="{9D8B030D-6E8A-4147-A177-3AD203B41FA5}">
                      <a16:colId xmlns:a16="http://schemas.microsoft.com/office/drawing/2014/main" val="3445321787"/>
                    </a:ext>
                  </a:extLst>
                </a:gridCol>
                <a:gridCol w="4074124">
                  <a:extLst>
                    <a:ext uri="{9D8B030D-6E8A-4147-A177-3AD203B41FA5}">
                      <a16:colId xmlns:a16="http://schemas.microsoft.com/office/drawing/2014/main" val="285772450"/>
                    </a:ext>
                  </a:extLst>
                </a:gridCol>
              </a:tblGrid>
              <a:tr h="1682878">
                <a:tc>
                  <a:txBody>
                    <a:bodyPr/>
                    <a:lstStyle/>
                    <a:p>
                      <a:pPr algn="ctr">
                        <a:buNone/>
                      </a:pPr>
                      <a:r>
                        <a:rPr lang="en-SG" sz="3200" dirty="0">
                          <a:effectLst/>
                        </a:rPr>
                        <a:t>Actual\Predict</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dirty="0">
                          <a:effectLst/>
                        </a:rPr>
                        <a:t>Discharge Home</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Transferred to Another Hospital</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Transferred to Facility-Based Care</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23271732"/>
                  </a:ext>
                </a:extLst>
              </a:tr>
              <a:tr h="1682878">
                <a:tc>
                  <a:txBody>
                    <a:bodyPr/>
                    <a:lstStyle/>
                    <a:p>
                      <a:pPr algn="ctr">
                        <a:buNone/>
                      </a:pPr>
                      <a:r>
                        <a:rPr lang="en-SG" sz="3200">
                          <a:effectLst/>
                        </a:rPr>
                        <a:t>Discharge Home</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6,311</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solidFill>
                            <a:srgbClr val="FF3131"/>
                          </a:solidFill>
                          <a:effectLst/>
                        </a:rPr>
                        <a:t>3959</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solidFill>
                            <a:srgbClr val="FF3131"/>
                          </a:solidFill>
                          <a:effectLst/>
                        </a:rPr>
                        <a:t>4,097</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43800636"/>
                  </a:ext>
                </a:extLst>
              </a:tr>
              <a:tr h="1682878">
                <a:tc>
                  <a:txBody>
                    <a:bodyPr/>
                    <a:lstStyle/>
                    <a:p>
                      <a:pPr algn="ctr">
                        <a:buNone/>
                      </a:pPr>
                      <a:r>
                        <a:rPr lang="en-SG" sz="3200">
                          <a:effectLst/>
                        </a:rPr>
                        <a:t>Transferred to Another Hospital</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178</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296</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182</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06025216"/>
                  </a:ext>
                </a:extLst>
              </a:tr>
              <a:tr h="1682878">
                <a:tc>
                  <a:txBody>
                    <a:bodyPr/>
                    <a:lstStyle/>
                    <a:p>
                      <a:pPr algn="ctr">
                        <a:buNone/>
                      </a:pPr>
                      <a:r>
                        <a:rPr lang="en-SG" sz="3200">
                          <a:effectLst/>
                        </a:rPr>
                        <a:t>Transferred to Facility-Based Care</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373</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595</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1975</a:t>
                      </a:r>
                    </a:p>
                  </a:txBody>
                  <a:tcPr marL="66947" marR="66947" marT="33473" marB="33473"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5862145"/>
                  </a:ext>
                </a:extLst>
              </a:tr>
            </a:tbl>
          </a:graphicData>
        </a:graphic>
      </p:graphicFrame>
      <p:sp>
        <p:nvSpPr>
          <p:cNvPr id="18" name="Rectangle 1">
            <a:extLst>
              <a:ext uri="{FF2B5EF4-FFF2-40B4-BE49-F238E27FC236}">
                <a16:creationId xmlns:a16="http://schemas.microsoft.com/office/drawing/2014/main" id="{D97BEB0F-9384-FC11-A316-88429D0A32F1}"/>
              </a:ext>
            </a:extLst>
          </p:cNvPr>
          <p:cNvSpPr>
            <a:spLocks noChangeArrowheads="1"/>
          </p:cNvSpPr>
          <p:nvPr/>
        </p:nvSpPr>
        <p:spPr bwMode="auto">
          <a:xfrm>
            <a:off x="1000432" y="2831586"/>
            <a:ext cx="49463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3</a:t>
            </a:r>
          </a:p>
        </p:txBody>
      </p:sp>
      <p:sp>
        <p:nvSpPr>
          <p:cNvPr id="16" name="TextBox 16"/>
          <p:cNvSpPr txBox="1"/>
          <p:nvPr/>
        </p:nvSpPr>
        <p:spPr>
          <a:xfrm>
            <a:off x="14051349" y="923761"/>
            <a:ext cx="3587842" cy="1102361"/>
          </a:xfrm>
          <a:prstGeom prst="rect">
            <a:avLst/>
          </a:prstGeom>
        </p:spPr>
        <p:txBody>
          <a:bodyPr lIns="0" tIns="0" rIns="0" bIns="0" rtlCol="0" anchor="t">
            <a:spAutoFit/>
          </a:bodyPr>
          <a:lstStyle/>
          <a:p>
            <a:pPr algn="l">
              <a:lnSpc>
                <a:spcPts val="4339"/>
              </a:lnSpc>
              <a:spcBef>
                <a:spcPct val="0"/>
              </a:spcBef>
            </a:pPr>
            <a:r>
              <a:rPr lang="en-US" sz="3099" spc="154">
                <a:solidFill>
                  <a:srgbClr val="F2F7FA"/>
                </a:solidFill>
                <a:latin typeface="Telegraf"/>
                <a:ea typeface="Telegraf"/>
                <a:cs typeface="Telegraf"/>
                <a:sym typeface="Telegraf"/>
              </a:rPr>
              <a:t>Random Forest Classifier</a:t>
            </a:r>
          </a:p>
        </p:txBody>
      </p:sp>
      <p:sp>
        <p:nvSpPr>
          <p:cNvPr id="17" name="TextBox 17"/>
          <p:cNvSpPr txBox="1"/>
          <p:nvPr/>
        </p:nvSpPr>
        <p:spPr>
          <a:xfrm>
            <a:off x="984823" y="2990539"/>
            <a:ext cx="15884012" cy="1099821"/>
          </a:xfrm>
          <a:prstGeom prst="rect">
            <a:avLst/>
          </a:prstGeom>
        </p:spPr>
        <p:txBody>
          <a:bodyPr lIns="0" tIns="0" rIns="0" bIns="0" rtlCol="0" anchor="t">
            <a:spAutoFit/>
          </a:bodyPr>
          <a:lstStyle/>
          <a:p>
            <a:pPr algn="l">
              <a:lnSpc>
                <a:spcPts val="4479"/>
              </a:lnSpc>
            </a:pPr>
            <a:r>
              <a:rPr lang="en-US" sz="3199">
                <a:solidFill>
                  <a:srgbClr val="000000"/>
                </a:solidFill>
                <a:latin typeface="TT Hoves"/>
                <a:ea typeface="TT Hoves"/>
                <a:cs typeface="TT Hoves"/>
                <a:sym typeface="TT Hoves"/>
              </a:rPr>
              <a:t>Train Accuracy: </a:t>
            </a:r>
            <a:r>
              <a:rPr lang="en-US" sz="3199" b="1">
                <a:solidFill>
                  <a:srgbClr val="FFBD59"/>
                </a:solidFill>
                <a:latin typeface="TT Hoves Bold"/>
                <a:ea typeface="TT Hoves Bold"/>
                <a:cs typeface="TT Hoves Bold"/>
                <a:sym typeface="TT Hoves Bold"/>
              </a:rPr>
              <a:t>79.74%</a:t>
            </a:r>
          </a:p>
          <a:p>
            <a:pPr algn="l">
              <a:lnSpc>
                <a:spcPts val="4479"/>
              </a:lnSpc>
              <a:spcBef>
                <a:spcPct val="0"/>
              </a:spcBef>
            </a:pPr>
            <a:r>
              <a:rPr lang="en-US" sz="3199">
                <a:solidFill>
                  <a:srgbClr val="000000"/>
                </a:solidFill>
                <a:latin typeface="TT Hoves"/>
                <a:ea typeface="TT Hoves"/>
                <a:cs typeface="TT Hoves"/>
                <a:sym typeface="TT Hoves"/>
              </a:rPr>
              <a:t>Test Accuracy: </a:t>
            </a:r>
            <a:r>
              <a:rPr lang="en-US" sz="3199" b="1">
                <a:solidFill>
                  <a:srgbClr val="FFBD59"/>
                </a:solidFill>
                <a:latin typeface="TT Hoves Bold"/>
                <a:ea typeface="TT Hoves Bold"/>
                <a:cs typeface="TT Hoves Bold"/>
                <a:sym typeface="TT Hoves Bold"/>
              </a:rPr>
              <a:t>71.41%</a:t>
            </a:r>
          </a:p>
        </p:txBody>
      </p:sp>
      <p:graphicFrame>
        <p:nvGraphicFramePr>
          <p:cNvPr id="18" name="表格 17">
            <a:extLst>
              <a:ext uri="{FF2B5EF4-FFF2-40B4-BE49-F238E27FC236}">
                <a16:creationId xmlns:a16="http://schemas.microsoft.com/office/drawing/2014/main" id="{78702170-71A9-99BD-290C-7E99229E2A0F}"/>
              </a:ext>
            </a:extLst>
          </p:cNvPr>
          <p:cNvGraphicFramePr>
            <a:graphicFrameLocks noGrp="1"/>
          </p:cNvGraphicFramePr>
          <p:nvPr>
            <p:extLst>
              <p:ext uri="{D42A27DB-BD31-4B8C-83A1-F6EECF244321}">
                <p14:modId xmlns:p14="http://schemas.microsoft.com/office/powerpoint/2010/main" val="3642463909"/>
              </p:ext>
            </p:extLst>
          </p:nvPr>
        </p:nvGraphicFramePr>
        <p:xfrm>
          <a:off x="961959" y="4282776"/>
          <a:ext cx="15884010" cy="5316147"/>
        </p:xfrm>
        <a:graphic>
          <a:graphicData uri="http://schemas.openxmlformats.org/drawingml/2006/table">
            <a:tbl>
              <a:tblPr/>
              <a:tblGrid>
                <a:gridCol w="3176802">
                  <a:extLst>
                    <a:ext uri="{9D8B030D-6E8A-4147-A177-3AD203B41FA5}">
                      <a16:colId xmlns:a16="http://schemas.microsoft.com/office/drawing/2014/main" val="1476457929"/>
                    </a:ext>
                  </a:extLst>
                </a:gridCol>
                <a:gridCol w="3176802">
                  <a:extLst>
                    <a:ext uri="{9D8B030D-6E8A-4147-A177-3AD203B41FA5}">
                      <a16:colId xmlns:a16="http://schemas.microsoft.com/office/drawing/2014/main" val="638135910"/>
                    </a:ext>
                  </a:extLst>
                </a:gridCol>
                <a:gridCol w="3176802">
                  <a:extLst>
                    <a:ext uri="{9D8B030D-6E8A-4147-A177-3AD203B41FA5}">
                      <a16:colId xmlns:a16="http://schemas.microsoft.com/office/drawing/2014/main" val="637951542"/>
                    </a:ext>
                  </a:extLst>
                </a:gridCol>
                <a:gridCol w="3176802">
                  <a:extLst>
                    <a:ext uri="{9D8B030D-6E8A-4147-A177-3AD203B41FA5}">
                      <a16:colId xmlns:a16="http://schemas.microsoft.com/office/drawing/2014/main" val="3088699759"/>
                    </a:ext>
                  </a:extLst>
                </a:gridCol>
                <a:gridCol w="3176802">
                  <a:extLst>
                    <a:ext uri="{9D8B030D-6E8A-4147-A177-3AD203B41FA5}">
                      <a16:colId xmlns:a16="http://schemas.microsoft.com/office/drawing/2014/main" val="3673524478"/>
                    </a:ext>
                  </a:extLst>
                </a:gridCol>
              </a:tblGrid>
              <a:tr h="1254165">
                <a:tc>
                  <a:txBody>
                    <a:bodyPr/>
                    <a:lstStyle/>
                    <a:p>
                      <a:pPr algn="ctr">
                        <a:buNone/>
                      </a:pPr>
                      <a:endParaRPr lang="zh-SG" altLang="en-US" sz="3200" dirty="0">
                        <a:effectLst/>
                      </a:endParaRPr>
                    </a:p>
                  </a:txBody>
                  <a:tcPr marL="90611" marR="90611" marT="45306" marB="45306" anchor="ctr">
                    <a:lnL w="9525" cap="flat" cmpd="sng" algn="ctr">
                      <a:solidFill>
                        <a:srgbClr val="D9D9D9"/>
                      </a:solidFill>
                      <a:prstDash val="solid"/>
                      <a:round/>
                      <a:headEnd type="none" w="med" len="med"/>
                      <a:tailEnd type="none" w="med" len="med"/>
                    </a:lnL>
                    <a:lnR w="12668" cap="flat" cmpd="sng" algn="ctr">
                      <a:solidFill>
                        <a:srgbClr val="000000"/>
                      </a:solidFill>
                      <a:prstDash val="solid"/>
                      <a:round/>
                      <a:headEnd type="none" w="med" len="med"/>
                      <a:tailEnd type="none" w="med" len="med"/>
                    </a:lnR>
                    <a:lnT w="9525" cap="flat" cmpd="sng" algn="ctr">
                      <a:solidFill>
                        <a:srgbClr val="D9D9D9"/>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dirty="0">
                          <a:effectLst/>
                        </a:rPr>
                        <a:t>Precision</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Recall</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F1-score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Support</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51037687"/>
                  </a:ext>
                </a:extLst>
              </a:tr>
              <a:tr h="1254165">
                <a:tc>
                  <a:txBody>
                    <a:bodyPr/>
                    <a:lstStyle/>
                    <a:p>
                      <a:pPr algn="ctr">
                        <a:buNone/>
                      </a:pPr>
                      <a:r>
                        <a:rPr lang="en-SG" sz="3200">
                          <a:effectLst/>
                        </a:rPr>
                        <a:t>Discharge Home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0.89</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solidFill>
                            <a:srgbClr val="00BF63"/>
                          </a:solidFill>
                          <a:effectLst/>
                        </a:rPr>
                        <a:t>0.75</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solidFill>
                            <a:srgbClr val="00BF63"/>
                          </a:solidFill>
                          <a:effectLst/>
                        </a:rPr>
                        <a:t>0.82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14,367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38642036"/>
                  </a:ext>
                </a:extLst>
              </a:tr>
              <a:tr h="1254165">
                <a:tc>
                  <a:txBody>
                    <a:bodyPr/>
                    <a:lstStyle/>
                    <a:p>
                      <a:pPr algn="ctr">
                        <a:buNone/>
                      </a:pPr>
                      <a:r>
                        <a:rPr lang="en-SG" sz="3200">
                          <a:effectLst/>
                        </a:rPr>
                        <a:t>Transferred to Another Hospital</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0.13</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solidFill>
                            <a:srgbClr val="FF3131"/>
                          </a:solidFill>
                          <a:effectLst/>
                        </a:rPr>
                        <a:t>0.22</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solidFill>
                            <a:srgbClr val="FF3131"/>
                          </a:solidFill>
                          <a:effectLst/>
                        </a:rPr>
                        <a:t>0.17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656</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99664954"/>
                  </a:ext>
                </a:extLst>
              </a:tr>
              <a:tr h="1254165">
                <a:tc>
                  <a:txBody>
                    <a:bodyPr/>
                    <a:lstStyle/>
                    <a:p>
                      <a:pPr algn="ctr">
                        <a:buNone/>
                      </a:pPr>
                      <a:r>
                        <a:rPr lang="en-SG" sz="3200">
                          <a:effectLst/>
                        </a:rPr>
                        <a:t>Transferred to Facility-Based Care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0.39</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solidFill>
                            <a:srgbClr val="00BF63"/>
                          </a:solidFill>
                          <a:effectLst/>
                        </a:rPr>
                        <a:t>0.66</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solidFill>
                            <a:srgbClr val="00BF63"/>
                          </a:solidFill>
                          <a:effectLst/>
                        </a:rPr>
                        <a:t>0.49</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2,941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16683013"/>
                  </a:ext>
                </a:extLst>
              </a:tr>
            </a:tbl>
          </a:graphicData>
        </a:graphic>
      </p:graphicFrame>
      <p:sp>
        <p:nvSpPr>
          <p:cNvPr id="19" name="Rectangle 1">
            <a:extLst>
              <a:ext uri="{FF2B5EF4-FFF2-40B4-BE49-F238E27FC236}">
                <a16:creationId xmlns:a16="http://schemas.microsoft.com/office/drawing/2014/main" id="{0CCBF7BA-E03B-B05E-F599-B09F2016607F}"/>
              </a:ext>
            </a:extLst>
          </p:cNvPr>
          <p:cNvSpPr>
            <a:spLocks noChangeArrowheads="1"/>
          </p:cNvSpPr>
          <p:nvPr/>
        </p:nvSpPr>
        <p:spPr bwMode="auto">
          <a:xfrm>
            <a:off x="961184" y="4282775"/>
            <a:ext cx="356205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3</a:t>
            </a:r>
          </a:p>
        </p:txBody>
      </p:sp>
      <p:sp>
        <p:nvSpPr>
          <p:cNvPr id="16" name="TextBox 16"/>
          <p:cNvSpPr txBox="1"/>
          <p:nvPr/>
        </p:nvSpPr>
        <p:spPr>
          <a:xfrm>
            <a:off x="14051349" y="923761"/>
            <a:ext cx="3587842" cy="1102361"/>
          </a:xfrm>
          <a:prstGeom prst="rect">
            <a:avLst/>
          </a:prstGeom>
        </p:spPr>
        <p:txBody>
          <a:bodyPr lIns="0" tIns="0" rIns="0" bIns="0" rtlCol="0" anchor="t">
            <a:spAutoFit/>
          </a:bodyPr>
          <a:lstStyle/>
          <a:p>
            <a:pPr algn="l">
              <a:lnSpc>
                <a:spcPts val="4339"/>
              </a:lnSpc>
              <a:spcBef>
                <a:spcPct val="0"/>
              </a:spcBef>
            </a:pPr>
            <a:r>
              <a:rPr lang="en-US" sz="3099" spc="154">
                <a:solidFill>
                  <a:srgbClr val="F2F7FA"/>
                </a:solidFill>
                <a:latin typeface="Telegraf"/>
                <a:ea typeface="Telegraf"/>
                <a:cs typeface="Telegraf"/>
                <a:sym typeface="Telegraf"/>
              </a:rPr>
              <a:t>Random Forest Classifier</a:t>
            </a:r>
          </a:p>
        </p:txBody>
      </p:sp>
      <p:graphicFrame>
        <p:nvGraphicFramePr>
          <p:cNvPr id="17" name="表格 16">
            <a:extLst>
              <a:ext uri="{FF2B5EF4-FFF2-40B4-BE49-F238E27FC236}">
                <a16:creationId xmlns:a16="http://schemas.microsoft.com/office/drawing/2014/main" id="{4CBE7FFF-62D7-CFCB-31D3-0150CA16E5C5}"/>
              </a:ext>
            </a:extLst>
          </p:cNvPr>
          <p:cNvGraphicFramePr>
            <a:graphicFrameLocks noGrp="1"/>
          </p:cNvGraphicFramePr>
          <p:nvPr>
            <p:extLst>
              <p:ext uri="{D42A27DB-BD31-4B8C-83A1-F6EECF244321}">
                <p14:modId xmlns:p14="http://schemas.microsoft.com/office/powerpoint/2010/main" val="822052561"/>
              </p:ext>
            </p:extLst>
          </p:nvPr>
        </p:nvGraphicFramePr>
        <p:xfrm>
          <a:off x="1028700" y="2831587"/>
          <a:ext cx="16192500" cy="6881260"/>
        </p:xfrm>
        <a:graphic>
          <a:graphicData uri="http://schemas.openxmlformats.org/drawingml/2006/table">
            <a:tbl>
              <a:tblPr/>
              <a:tblGrid>
                <a:gridCol w="4048125">
                  <a:extLst>
                    <a:ext uri="{9D8B030D-6E8A-4147-A177-3AD203B41FA5}">
                      <a16:colId xmlns:a16="http://schemas.microsoft.com/office/drawing/2014/main" val="3604711974"/>
                    </a:ext>
                  </a:extLst>
                </a:gridCol>
                <a:gridCol w="4048125">
                  <a:extLst>
                    <a:ext uri="{9D8B030D-6E8A-4147-A177-3AD203B41FA5}">
                      <a16:colId xmlns:a16="http://schemas.microsoft.com/office/drawing/2014/main" val="1477472163"/>
                    </a:ext>
                  </a:extLst>
                </a:gridCol>
                <a:gridCol w="4048125">
                  <a:extLst>
                    <a:ext uri="{9D8B030D-6E8A-4147-A177-3AD203B41FA5}">
                      <a16:colId xmlns:a16="http://schemas.microsoft.com/office/drawing/2014/main" val="1171221714"/>
                    </a:ext>
                  </a:extLst>
                </a:gridCol>
                <a:gridCol w="4048125">
                  <a:extLst>
                    <a:ext uri="{9D8B030D-6E8A-4147-A177-3AD203B41FA5}">
                      <a16:colId xmlns:a16="http://schemas.microsoft.com/office/drawing/2014/main" val="2514621746"/>
                    </a:ext>
                  </a:extLst>
                </a:gridCol>
              </a:tblGrid>
              <a:tr h="1720315">
                <a:tc>
                  <a:txBody>
                    <a:bodyPr/>
                    <a:lstStyle/>
                    <a:p>
                      <a:pPr algn="ctr">
                        <a:buNone/>
                      </a:pPr>
                      <a:r>
                        <a:rPr lang="en-SG" sz="3200" dirty="0">
                          <a:effectLst/>
                        </a:rPr>
                        <a:t>Actual\Predict</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dirty="0">
                          <a:effectLst/>
                        </a:rPr>
                        <a:t>Discharge Home</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Transferred to Another Hospital</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Transferred to Facility-Based Care</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64106639"/>
                  </a:ext>
                </a:extLst>
              </a:tr>
              <a:tr h="1720315">
                <a:tc>
                  <a:txBody>
                    <a:bodyPr/>
                    <a:lstStyle/>
                    <a:p>
                      <a:pPr algn="ctr">
                        <a:buNone/>
                      </a:pPr>
                      <a:r>
                        <a:rPr lang="en-SG" sz="3200">
                          <a:effectLst/>
                        </a:rPr>
                        <a:t>Discharge Home</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10,756</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826</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2,785</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65235403"/>
                  </a:ext>
                </a:extLst>
              </a:tr>
              <a:tr h="1720315">
                <a:tc>
                  <a:txBody>
                    <a:bodyPr/>
                    <a:lstStyle/>
                    <a:p>
                      <a:pPr algn="ctr">
                        <a:buNone/>
                      </a:pPr>
                      <a:r>
                        <a:rPr lang="en-SG" sz="3200">
                          <a:effectLst/>
                        </a:rPr>
                        <a:t>Transferred to Another Hospital</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365</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143</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148</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77248061"/>
                  </a:ext>
                </a:extLst>
              </a:tr>
              <a:tr h="1720315">
                <a:tc>
                  <a:txBody>
                    <a:bodyPr/>
                    <a:lstStyle/>
                    <a:p>
                      <a:pPr algn="ctr">
                        <a:buNone/>
                      </a:pPr>
                      <a:r>
                        <a:rPr lang="en-SG" sz="3200">
                          <a:effectLst/>
                        </a:rPr>
                        <a:t>Transferred to Facility-Based Care</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907</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105</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solidFill>
                            <a:srgbClr val="00BF63"/>
                          </a:solidFill>
                          <a:effectLst/>
                        </a:rPr>
                        <a:t>1,929</a:t>
                      </a:r>
                    </a:p>
                  </a:txBody>
                  <a:tcPr marL="64657" marR="64657" marT="32328" marB="32328"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81687769"/>
                  </a:ext>
                </a:extLst>
              </a:tr>
            </a:tbl>
          </a:graphicData>
        </a:graphic>
      </p:graphicFrame>
      <p:sp>
        <p:nvSpPr>
          <p:cNvPr id="18" name="Rectangle 1">
            <a:extLst>
              <a:ext uri="{FF2B5EF4-FFF2-40B4-BE49-F238E27FC236}">
                <a16:creationId xmlns:a16="http://schemas.microsoft.com/office/drawing/2014/main" id="{DE8F4EB2-5065-9A53-E9CB-D9418518D10F}"/>
              </a:ext>
            </a:extLst>
          </p:cNvPr>
          <p:cNvSpPr>
            <a:spLocks noChangeArrowheads="1"/>
          </p:cNvSpPr>
          <p:nvPr/>
        </p:nvSpPr>
        <p:spPr bwMode="auto">
          <a:xfrm>
            <a:off x="1028361" y="2831586"/>
            <a:ext cx="5088908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4</a:t>
            </a:r>
          </a:p>
        </p:txBody>
      </p:sp>
      <p:sp>
        <p:nvSpPr>
          <p:cNvPr id="16" name="TextBox 16"/>
          <p:cNvSpPr txBox="1"/>
          <p:nvPr/>
        </p:nvSpPr>
        <p:spPr>
          <a:xfrm>
            <a:off x="14051349" y="923761"/>
            <a:ext cx="3587842" cy="1102361"/>
          </a:xfrm>
          <a:prstGeom prst="rect">
            <a:avLst/>
          </a:prstGeom>
        </p:spPr>
        <p:txBody>
          <a:bodyPr lIns="0" tIns="0" rIns="0" bIns="0" rtlCol="0" anchor="t">
            <a:spAutoFit/>
          </a:bodyPr>
          <a:lstStyle/>
          <a:p>
            <a:pPr algn="l">
              <a:lnSpc>
                <a:spcPts val="4339"/>
              </a:lnSpc>
            </a:pPr>
            <a:r>
              <a:rPr lang="en-US" sz="3099" spc="154">
                <a:solidFill>
                  <a:srgbClr val="F2F7FA"/>
                </a:solidFill>
                <a:latin typeface="Telegraf"/>
                <a:ea typeface="Telegraf"/>
                <a:cs typeface="Telegraf"/>
                <a:sym typeface="Telegraf"/>
              </a:rPr>
              <a:t>XGBoost </a:t>
            </a:r>
          </a:p>
          <a:p>
            <a:pPr algn="l">
              <a:lnSpc>
                <a:spcPts val="4339"/>
              </a:lnSpc>
              <a:spcBef>
                <a:spcPct val="0"/>
              </a:spcBef>
            </a:pPr>
            <a:r>
              <a:rPr lang="en-US" sz="3099" spc="154">
                <a:solidFill>
                  <a:srgbClr val="F2F7FA"/>
                </a:solidFill>
                <a:latin typeface="Telegraf"/>
                <a:ea typeface="Telegraf"/>
                <a:cs typeface="Telegraf"/>
                <a:sym typeface="Telegraf"/>
              </a:rPr>
              <a:t>Classifier</a:t>
            </a:r>
          </a:p>
        </p:txBody>
      </p:sp>
      <p:sp>
        <p:nvSpPr>
          <p:cNvPr id="17" name="TextBox 17"/>
          <p:cNvSpPr txBox="1"/>
          <p:nvPr/>
        </p:nvSpPr>
        <p:spPr>
          <a:xfrm>
            <a:off x="984823" y="2990539"/>
            <a:ext cx="15884012" cy="1099821"/>
          </a:xfrm>
          <a:prstGeom prst="rect">
            <a:avLst/>
          </a:prstGeom>
        </p:spPr>
        <p:txBody>
          <a:bodyPr lIns="0" tIns="0" rIns="0" bIns="0" rtlCol="0" anchor="t">
            <a:spAutoFit/>
          </a:bodyPr>
          <a:lstStyle/>
          <a:p>
            <a:pPr algn="l">
              <a:lnSpc>
                <a:spcPts val="4479"/>
              </a:lnSpc>
            </a:pPr>
            <a:r>
              <a:rPr lang="en-US" sz="3199">
                <a:solidFill>
                  <a:srgbClr val="000000"/>
                </a:solidFill>
                <a:latin typeface="TT Hoves"/>
                <a:ea typeface="TT Hoves"/>
                <a:cs typeface="TT Hoves"/>
                <a:sym typeface="TT Hoves"/>
              </a:rPr>
              <a:t>Train Accuracy: </a:t>
            </a:r>
            <a:r>
              <a:rPr lang="en-US" sz="3199" b="1">
                <a:solidFill>
                  <a:srgbClr val="000000"/>
                </a:solidFill>
                <a:latin typeface="TT Hoves Bold"/>
                <a:ea typeface="TT Hoves Bold"/>
                <a:cs typeface="TT Hoves Bold"/>
                <a:sym typeface="TT Hoves Bold"/>
              </a:rPr>
              <a:t>84.52%</a:t>
            </a:r>
          </a:p>
          <a:p>
            <a:pPr algn="l">
              <a:lnSpc>
                <a:spcPts val="4479"/>
              </a:lnSpc>
              <a:spcBef>
                <a:spcPct val="0"/>
              </a:spcBef>
            </a:pPr>
            <a:r>
              <a:rPr lang="en-US" sz="3199">
                <a:solidFill>
                  <a:srgbClr val="000000"/>
                </a:solidFill>
                <a:latin typeface="TT Hoves"/>
                <a:ea typeface="TT Hoves"/>
                <a:cs typeface="TT Hoves"/>
                <a:sym typeface="TT Hoves"/>
              </a:rPr>
              <a:t>Test Accuracy: </a:t>
            </a:r>
            <a:r>
              <a:rPr lang="en-US" sz="3199" b="1">
                <a:solidFill>
                  <a:srgbClr val="000000"/>
                </a:solidFill>
                <a:latin typeface="TT Hoves Bold"/>
                <a:ea typeface="TT Hoves Bold"/>
                <a:cs typeface="TT Hoves Bold"/>
                <a:sym typeface="TT Hoves Bold"/>
              </a:rPr>
              <a:t>82.14%.</a:t>
            </a:r>
          </a:p>
        </p:txBody>
      </p:sp>
      <p:graphicFrame>
        <p:nvGraphicFramePr>
          <p:cNvPr id="18" name="表格 17">
            <a:extLst>
              <a:ext uri="{FF2B5EF4-FFF2-40B4-BE49-F238E27FC236}">
                <a16:creationId xmlns:a16="http://schemas.microsoft.com/office/drawing/2014/main" id="{030AF625-42D0-7522-8A8D-BE2C2297A7B1}"/>
              </a:ext>
            </a:extLst>
          </p:cNvPr>
          <p:cNvGraphicFramePr>
            <a:graphicFrameLocks noGrp="1"/>
          </p:cNvGraphicFramePr>
          <p:nvPr>
            <p:extLst>
              <p:ext uri="{D42A27DB-BD31-4B8C-83A1-F6EECF244321}">
                <p14:modId xmlns:p14="http://schemas.microsoft.com/office/powerpoint/2010/main" val="3325976553"/>
              </p:ext>
            </p:extLst>
          </p:nvPr>
        </p:nvGraphicFramePr>
        <p:xfrm>
          <a:off x="1028700" y="4282774"/>
          <a:ext cx="15884010" cy="5364000"/>
        </p:xfrm>
        <a:graphic>
          <a:graphicData uri="http://schemas.openxmlformats.org/drawingml/2006/table">
            <a:tbl>
              <a:tblPr/>
              <a:tblGrid>
                <a:gridCol w="3176802">
                  <a:extLst>
                    <a:ext uri="{9D8B030D-6E8A-4147-A177-3AD203B41FA5}">
                      <a16:colId xmlns:a16="http://schemas.microsoft.com/office/drawing/2014/main" val="1606599348"/>
                    </a:ext>
                  </a:extLst>
                </a:gridCol>
                <a:gridCol w="3176802">
                  <a:extLst>
                    <a:ext uri="{9D8B030D-6E8A-4147-A177-3AD203B41FA5}">
                      <a16:colId xmlns:a16="http://schemas.microsoft.com/office/drawing/2014/main" val="1279504447"/>
                    </a:ext>
                  </a:extLst>
                </a:gridCol>
                <a:gridCol w="3176802">
                  <a:extLst>
                    <a:ext uri="{9D8B030D-6E8A-4147-A177-3AD203B41FA5}">
                      <a16:colId xmlns:a16="http://schemas.microsoft.com/office/drawing/2014/main" val="3261918314"/>
                    </a:ext>
                  </a:extLst>
                </a:gridCol>
                <a:gridCol w="3176802">
                  <a:extLst>
                    <a:ext uri="{9D8B030D-6E8A-4147-A177-3AD203B41FA5}">
                      <a16:colId xmlns:a16="http://schemas.microsoft.com/office/drawing/2014/main" val="2977221493"/>
                    </a:ext>
                  </a:extLst>
                </a:gridCol>
                <a:gridCol w="3176802">
                  <a:extLst>
                    <a:ext uri="{9D8B030D-6E8A-4147-A177-3AD203B41FA5}">
                      <a16:colId xmlns:a16="http://schemas.microsoft.com/office/drawing/2014/main" val="3397316743"/>
                    </a:ext>
                  </a:extLst>
                </a:gridCol>
              </a:tblGrid>
              <a:tr h="1270116">
                <a:tc>
                  <a:txBody>
                    <a:bodyPr/>
                    <a:lstStyle/>
                    <a:p>
                      <a:pPr algn="ctr">
                        <a:buNone/>
                      </a:pPr>
                      <a:endParaRPr lang="zh-SG" altLang="en-US" sz="3200" dirty="0">
                        <a:effectLst/>
                      </a:endParaRPr>
                    </a:p>
                  </a:txBody>
                  <a:tcPr marL="90611" marR="90611" marT="45306" marB="45306" anchor="ctr">
                    <a:lnL w="9525" cap="flat" cmpd="sng" algn="ctr">
                      <a:solidFill>
                        <a:srgbClr val="D9D9D9"/>
                      </a:solidFill>
                      <a:prstDash val="solid"/>
                      <a:round/>
                      <a:headEnd type="none" w="med" len="med"/>
                      <a:tailEnd type="none" w="med" len="med"/>
                    </a:lnL>
                    <a:lnR w="12668" cap="flat" cmpd="sng" algn="ctr">
                      <a:solidFill>
                        <a:srgbClr val="000000"/>
                      </a:solidFill>
                      <a:prstDash val="solid"/>
                      <a:round/>
                      <a:headEnd type="none" w="med" len="med"/>
                      <a:tailEnd type="none" w="med" len="med"/>
                    </a:lnR>
                    <a:lnT w="9525" cap="flat" cmpd="sng" algn="ctr">
                      <a:solidFill>
                        <a:srgbClr val="D9D9D9"/>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dirty="0">
                          <a:effectLst/>
                        </a:rPr>
                        <a:t>Precision</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Recall</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F1-score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Support</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22848567"/>
                  </a:ext>
                </a:extLst>
              </a:tr>
              <a:tr h="1270116">
                <a:tc>
                  <a:txBody>
                    <a:bodyPr/>
                    <a:lstStyle/>
                    <a:p>
                      <a:pPr algn="ctr">
                        <a:buNone/>
                      </a:pPr>
                      <a:r>
                        <a:rPr lang="en-SG" sz="3200">
                          <a:effectLst/>
                        </a:rPr>
                        <a:t>Discharge Home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0.84</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0.97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0.9</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14,367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04146677"/>
                  </a:ext>
                </a:extLst>
              </a:tr>
              <a:tr h="1270116">
                <a:tc>
                  <a:txBody>
                    <a:bodyPr/>
                    <a:lstStyle/>
                    <a:p>
                      <a:pPr algn="ctr">
                        <a:buNone/>
                      </a:pPr>
                      <a:r>
                        <a:rPr lang="en-SG" sz="3200">
                          <a:effectLst/>
                        </a:rPr>
                        <a:t>Transferred to Another Hospital</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0.27</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solidFill>
                            <a:srgbClr val="FF3131"/>
                          </a:solidFill>
                          <a:effectLst/>
                        </a:rPr>
                        <a:t>0</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solidFill>
                            <a:srgbClr val="FF3131"/>
                          </a:solidFill>
                          <a:effectLst/>
                        </a:rPr>
                        <a:t>0.01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656</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32352116"/>
                  </a:ext>
                </a:extLst>
              </a:tr>
              <a:tr h="1270116">
                <a:tc>
                  <a:txBody>
                    <a:bodyPr/>
                    <a:lstStyle/>
                    <a:p>
                      <a:pPr algn="ctr">
                        <a:buNone/>
                      </a:pPr>
                      <a:r>
                        <a:rPr lang="en-SG" sz="3200">
                          <a:effectLst/>
                        </a:rPr>
                        <a:t>Transferred to Facility-Based Care</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0.63</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0.29</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0.4</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2,941</a:t>
                      </a:r>
                    </a:p>
                  </a:txBody>
                  <a:tcPr marL="90611" marR="90611" marT="45306" marB="4530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57380315"/>
                  </a:ext>
                </a:extLst>
              </a:tr>
            </a:tbl>
          </a:graphicData>
        </a:graphic>
      </p:graphicFrame>
      <p:sp>
        <p:nvSpPr>
          <p:cNvPr id="19" name="Rectangle 1">
            <a:extLst>
              <a:ext uri="{FF2B5EF4-FFF2-40B4-BE49-F238E27FC236}">
                <a16:creationId xmlns:a16="http://schemas.microsoft.com/office/drawing/2014/main" id="{14C3CE36-01A5-FDF0-CCA8-56CB2C68E701}"/>
              </a:ext>
            </a:extLst>
          </p:cNvPr>
          <p:cNvSpPr>
            <a:spLocks noChangeArrowheads="1"/>
          </p:cNvSpPr>
          <p:nvPr/>
        </p:nvSpPr>
        <p:spPr bwMode="auto">
          <a:xfrm>
            <a:off x="1027925" y="4282775"/>
            <a:ext cx="356205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grpSp>
        <p:nvGrpSpPr>
          <p:cNvPr id="7" name="Group 7"/>
          <p:cNvGrpSpPr/>
          <p:nvPr/>
        </p:nvGrpSpPr>
        <p:grpSpPr>
          <a:xfrm>
            <a:off x="12554003" y="574155"/>
            <a:ext cx="5473709" cy="1896824"/>
            <a:chOff x="0" y="0"/>
            <a:chExt cx="1441635" cy="499575"/>
          </a:xfrm>
        </p:grpSpPr>
        <p:sp>
          <p:nvSpPr>
            <p:cNvPr id="8" name="Freeform 8"/>
            <p:cNvSpPr/>
            <p:nvPr/>
          </p:nvSpPr>
          <p:spPr>
            <a:xfrm>
              <a:off x="0" y="0"/>
              <a:ext cx="1441635" cy="499575"/>
            </a:xfrm>
            <a:custGeom>
              <a:avLst/>
              <a:gdLst/>
              <a:ahLst/>
              <a:cxnLst/>
              <a:rect l="l" t="t" r="r" b="b"/>
              <a:pathLst>
                <a:path w="1441635" h="499575">
                  <a:moveTo>
                    <a:pt x="45260" y="0"/>
                  </a:moveTo>
                  <a:lnTo>
                    <a:pt x="1396375" y="0"/>
                  </a:lnTo>
                  <a:cubicBezTo>
                    <a:pt x="1421372" y="0"/>
                    <a:pt x="1441635" y="20264"/>
                    <a:pt x="1441635" y="45260"/>
                  </a:cubicBezTo>
                  <a:lnTo>
                    <a:pt x="1441635" y="454315"/>
                  </a:lnTo>
                  <a:cubicBezTo>
                    <a:pt x="1441635" y="479311"/>
                    <a:pt x="1421372" y="499575"/>
                    <a:pt x="1396375" y="499575"/>
                  </a:cubicBezTo>
                  <a:lnTo>
                    <a:pt x="45260" y="499575"/>
                  </a:lnTo>
                  <a:cubicBezTo>
                    <a:pt x="20264" y="499575"/>
                    <a:pt x="0" y="479311"/>
                    <a:pt x="0" y="454315"/>
                  </a:cubicBezTo>
                  <a:lnTo>
                    <a:pt x="0" y="45260"/>
                  </a:lnTo>
                  <a:cubicBezTo>
                    <a:pt x="0" y="20264"/>
                    <a:pt x="20264" y="0"/>
                    <a:pt x="45260"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9" name="TextBox 9"/>
            <p:cNvSpPr txBox="1"/>
            <p:nvPr/>
          </p:nvSpPr>
          <p:spPr>
            <a:xfrm>
              <a:off x="0" y="-57150"/>
              <a:ext cx="1441635" cy="556725"/>
            </a:xfrm>
            <a:prstGeom prst="rect">
              <a:avLst/>
            </a:prstGeom>
          </p:spPr>
          <p:txBody>
            <a:bodyPr lIns="50800" tIns="50800" rIns="50800" bIns="50800" rtlCol="0" anchor="ctr"/>
            <a:lstStyle/>
            <a:p>
              <a:pPr algn="ctr">
                <a:lnSpc>
                  <a:spcPts val="3639"/>
                </a:lnSpc>
              </a:pPr>
              <a:endParaRPr/>
            </a:p>
          </p:txBody>
        </p:sp>
      </p:grpSp>
      <p:sp>
        <p:nvSpPr>
          <p:cNvPr id="11" name="TextBox 11"/>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12" name="TextBox 12"/>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13" name="TextBox 13"/>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MODEL RESULTS</a:t>
            </a:r>
          </a:p>
        </p:txBody>
      </p:sp>
      <p:sp>
        <p:nvSpPr>
          <p:cNvPr id="14" name="TextBox 14"/>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15" name="TextBox 15"/>
          <p:cNvSpPr txBox="1"/>
          <p:nvPr/>
        </p:nvSpPr>
        <p:spPr>
          <a:xfrm>
            <a:off x="12554003" y="1122214"/>
            <a:ext cx="1497347"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4</a:t>
            </a:r>
          </a:p>
        </p:txBody>
      </p:sp>
      <p:sp>
        <p:nvSpPr>
          <p:cNvPr id="16" name="TextBox 16"/>
          <p:cNvSpPr txBox="1"/>
          <p:nvPr/>
        </p:nvSpPr>
        <p:spPr>
          <a:xfrm>
            <a:off x="14051349" y="923761"/>
            <a:ext cx="3587842" cy="1102361"/>
          </a:xfrm>
          <a:prstGeom prst="rect">
            <a:avLst/>
          </a:prstGeom>
        </p:spPr>
        <p:txBody>
          <a:bodyPr lIns="0" tIns="0" rIns="0" bIns="0" rtlCol="0" anchor="t">
            <a:spAutoFit/>
          </a:bodyPr>
          <a:lstStyle/>
          <a:p>
            <a:pPr algn="l">
              <a:lnSpc>
                <a:spcPts val="4339"/>
              </a:lnSpc>
            </a:pPr>
            <a:r>
              <a:rPr lang="en-US" sz="3099" spc="154">
                <a:solidFill>
                  <a:srgbClr val="F2F7FA"/>
                </a:solidFill>
                <a:latin typeface="Telegraf"/>
                <a:ea typeface="Telegraf"/>
                <a:cs typeface="Telegraf"/>
                <a:sym typeface="Telegraf"/>
              </a:rPr>
              <a:t>XGBoost </a:t>
            </a:r>
          </a:p>
          <a:p>
            <a:pPr algn="l">
              <a:lnSpc>
                <a:spcPts val="4339"/>
              </a:lnSpc>
              <a:spcBef>
                <a:spcPct val="0"/>
              </a:spcBef>
            </a:pPr>
            <a:r>
              <a:rPr lang="en-US" sz="3099" spc="154">
                <a:solidFill>
                  <a:srgbClr val="F2F7FA"/>
                </a:solidFill>
                <a:latin typeface="Telegraf"/>
                <a:ea typeface="Telegraf"/>
                <a:cs typeface="Telegraf"/>
                <a:sym typeface="Telegraf"/>
              </a:rPr>
              <a:t>Classifier</a:t>
            </a:r>
          </a:p>
        </p:txBody>
      </p:sp>
      <p:graphicFrame>
        <p:nvGraphicFramePr>
          <p:cNvPr id="17" name="表格 16">
            <a:extLst>
              <a:ext uri="{FF2B5EF4-FFF2-40B4-BE49-F238E27FC236}">
                <a16:creationId xmlns:a16="http://schemas.microsoft.com/office/drawing/2014/main" id="{D733DEEE-D98C-CFBD-B6BF-CD8FE555019B}"/>
              </a:ext>
            </a:extLst>
          </p:cNvPr>
          <p:cNvGraphicFramePr>
            <a:graphicFrameLocks noGrp="1"/>
          </p:cNvGraphicFramePr>
          <p:nvPr>
            <p:extLst>
              <p:ext uri="{D42A27DB-BD31-4B8C-83A1-F6EECF244321}">
                <p14:modId xmlns:p14="http://schemas.microsoft.com/office/powerpoint/2010/main" val="2568533870"/>
              </p:ext>
            </p:extLst>
          </p:nvPr>
        </p:nvGraphicFramePr>
        <p:xfrm>
          <a:off x="1028700" y="2831587"/>
          <a:ext cx="16268700" cy="6621068"/>
        </p:xfrm>
        <a:graphic>
          <a:graphicData uri="http://schemas.openxmlformats.org/drawingml/2006/table">
            <a:tbl>
              <a:tblPr/>
              <a:tblGrid>
                <a:gridCol w="4067175">
                  <a:extLst>
                    <a:ext uri="{9D8B030D-6E8A-4147-A177-3AD203B41FA5}">
                      <a16:colId xmlns:a16="http://schemas.microsoft.com/office/drawing/2014/main" val="3853762187"/>
                    </a:ext>
                  </a:extLst>
                </a:gridCol>
                <a:gridCol w="4067175">
                  <a:extLst>
                    <a:ext uri="{9D8B030D-6E8A-4147-A177-3AD203B41FA5}">
                      <a16:colId xmlns:a16="http://schemas.microsoft.com/office/drawing/2014/main" val="3293430959"/>
                    </a:ext>
                  </a:extLst>
                </a:gridCol>
                <a:gridCol w="4067175">
                  <a:extLst>
                    <a:ext uri="{9D8B030D-6E8A-4147-A177-3AD203B41FA5}">
                      <a16:colId xmlns:a16="http://schemas.microsoft.com/office/drawing/2014/main" val="2648631642"/>
                    </a:ext>
                  </a:extLst>
                </a:gridCol>
                <a:gridCol w="4067175">
                  <a:extLst>
                    <a:ext uri="{9D8B030D-6E8A-4147-A177-3AD203B41FA5}">
                      <a16:colId xmlns:a16="http://schemas.microsoft.com/office/drawing/2014/main" val="387247340"/>
                    </a:ext>
                  </a:extLst>
                </a:gridCol>
              </a:tblGrid>
              <a:tr h="1655267">
                <a:tc>
                  <a:txBody>
                    <a:bodyPr/>
                    <a:lstStyle/>
                    <a:p>
                      <a:pPr algn="ctr">
                        <a:buNone/>
                      </a:pPr>
                      <a:r>
                        <a:rPr lang="en-SG" sz="3200" dirty="0">
                          <a:effectLst/>
                        </a:rPr>
                        <a:t>Actual\Predict</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Discharge Home</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Transferred to Another Hospital</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SG" sz="3200">
                          <a:effectLst/>
                        </a:rPr>
                        <a:t>Transferred to Facility-Based Care</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16639626"/>
                  </a:ext>
                </a:extLst>
              </a:tr>
              <a:tr h="1655267">
                <a:tc>
                  <a:txBody>
                    <a:bodyPr/>
                    <a:lstStyle/>
                    <a:p>
                      <a:pPr algn="ctr">
                        <a:buNone/>
                      </a:pPr>
                      <a:r>
                        <a:rPr lang="en-SG" sz="3200">
                          <a:effectLst/>
                        </a:rPr>
                        <a:t>Discharge Home</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solidFill>
                            <a:srgbClr val="00BF63"/>
                          </a:solidFill>
                          <a:effectLst/>
                        </a:rPr>
                        <a:t>13,902</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5</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460</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7407478"/>
                  </a:ext>
                </a:extLst>
              </a:tr>
              <a:tr h="1655267">
                <a:tc>
                  <a:txBody>
                    <a:bodyPr/>
                    <a:lstStyle/>
                    <a:p>
                      <a:pPr algn="ctr">
                        <a:buNone/>
                      </a:pPr>
                      <a:r>
                        <a:rPr lang="en-SG" sz="3200">
                          <a:effectLst/>
                        </a:rPr>
                        <a:t>Transferred to Another Hospital</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solidFill>
                            <a:srgbClr val="FF3131"/>
                          </a:solidFill>
                          <a:effectLst/>
                        </a:rPr>
                        <a:t>615</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2</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effectLst/>
                        </a:rPr>
                        <a:t>39</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50615880"/>
                  </a:ext>
                </a:extLst>
              </a:tr>
              <a:tr h="1655267">
                <a:tc>
                  <a:txBody>
                    <a:bodyPr/>
                    <a:lstStyle/>
                    <a:p>
                      <a:pPr algn="ctr">
                        <a:buNone/>
                      </a:pPr>
                      <a:r>
                        <a:rPr lang="en-SG" sz="3200">
                          <a:effectLst/>
                        </a:rPr>
                        <a:t>Transferred to Facility-Based Care</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a:solidFill>
                            <a:srgbClr val="FF3131"/>
                          </a:solidFill>
                          <a:effectLst/>
                        </a:rPr>
                        <a:t>2,805</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5</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altLang="zh-SG" sz="3200" dirty="0">
                          <a:effectLst/>
                        </a:rPr>
                        <a:t>851</a:t>
                      </a:r>
                    </a:p>
                  </a:txBody>
                  <a:tcPr marL="65313" marR="65313" marT="32656" marB="32656" anchor="ctr">
                    <a:lnL w="12668" cap="flat" cmpd="sng" algn="ctr">
                      <a:solidFill>
                        <a:srgbClr val="000000"/>
                      </a:solidFill>
                      <a:prstDash val="solid"/>
                      <a:round/>
                      <a:headEnd type="none" w="med" len="med"/>
                      <a:tailEnd type="none" w="med" len="med"/>
                    </a:lnL>
                    <a:lnR w="12668" cap="flat" cmpd="sng" algn="ctr">
                      <a:solidFill>
                        <a:srgbClr val="000000"/>
                      </a:solidFill>
                      <a:prstDash val="solid"/>
                      <a:round/>
                      <a:headEnd type="none" w="med" len="med"/>
                      <a:tailEnd type="none" w="med" len="med"/>
                    </a:lnR>
                    <a:lnT w="12668" cap="flat" cmpd="sng" algn="ctr">
                      <a:solidFill>
                        <a:srgbClr val="000000"/>
                      </a:solidFill>
                      <a:prstDash val="solid"/>
                      <a:round/>
                      <a:headEnd type="none" w="med" len="med"/>
                      <a:tailEnd type="none" w="med" len="med"/>
                    </a:lnT>
                    <a:lnB w="1266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697792"/>
                  </a:ext>
                </a:extLst>
              </a:tr>
            </a:tbl>
          </a:graphicData>
        </a:graphic>
      </p:graphicFrame>
      <p:sp>
        <p:nvSpPr>
          <p:cNvPr id="18" name="Rectangle 1">
            <a:extLst>
              <a:ext uri="{FF2B5EF4-FFF2-40B4-BE49-F238E27FC236}">
                <a16:creationId xmlns:a16="http://schemas.microsoft.com/office/drawing/2014/main" id="{E40C6C9E-8647-9037-4653-82A9B0309807}"/>
              </a:ext>
            </a:extLst>
          </p:cNvPr>
          <p:cNvSpPr>
            <a:spLocks noChangeArrowheads="1"/>
          </p:cNvSpPr>
          <p:nvPr/>
        </p:nvSpPr>
        <p:spPr bwMode="auto">
          <a:xfrm>
            <a:off x="1029316" y="2831586"/>
            <a:ext cx="5061485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8410460">
            <a:off x="1935723" y="-5126712"/>
            <a:ext cx="11976399" cy="7170869"/>
          </a:xfrm>
          <a:custGeom>
            <a:avLst/>
            <a:gdLst/>
            <a:ahLst/>
            <a:cxnLst/>
            <a:rect l="l" t="t" r="r" b="b"/>
            <a:pathLst>
              <a:path w="11976399" h="7170869">
                <a:moveTo>
                  <a:pt x="0" y="0"/>
                </a:moveTo>
                <a:lnTo>
                  <a:pt x="11976399" y="0"/>
                </a:lnTo>
                <a:lnTo>
                  <a:pt x="11976399" y="7170868"/>
                </a:lnTo>
                <a:lnTo>
                  <a:pt x="0" y="7170868"/>
                </a:lnTo>
                <a:lnTo>
                  <a:pt x="0" y="0"/>
                </a:lnTo>
                <a:close/>
              </a:path>
            </a:pathLst>
          </a:custGeom>
          <a:blipFill>
            <a:blip r:embed="rId2"/>
            <a:stretch>
              <a:fillRect/>
            </a:stretch>
          </a:blipFill>
        </p:spPr>
        <p:txBody>
          <a:bodyPr/>
          <a:lstStyle/>
          <a:p>
            <a:endParaRPr lang="zh-SG" altLang="en-US"/>
          </a:p>
        </p:txBody>
      </p:sp>
      <p:grpSp>
        <p:nvGrpSpPr>
          <p:cNvPr id="3" name="Group 3"/>
          <p:cNvGrpSpPr/>
          <p:nvPr/>
        </p:nvGrpSpPr>
        <p:grpSpPr>
          <a:xfrm>
            <a:off x="2536267" y="350374"/>
            <a:ext cx="3870486" cy="1840244"/>
            <a:chOff x="0" y="0"/>
            <a:chExt cx="1019387" cy="484673"/>
          </a:xfrm>
        </p:grpSpPr>
        <p:sp>
          <p:nvSpPr>
            <p:cNvPr id="4" name="Freeform 4"/>
            <p:cNvSpPr/>
            <p:nvPr/>
          </p:nvSpPr>
          <p:spPr>
            <a:xfrm>
              <a:off x="0" y="0"/>
              <a:ext cx="1019387" cy="484673"/>
            </a:xfrm>
            <a:custGeom>
              <a:avLst/>
              <a:gdLst/>
              <a:ahLst/>
              <a:cxnLst/>
              <a:rect l="l" t="t" r="r" b="b"/>
              <a:pathLst>
                <a:path w="1019387" h="484673">
                  <a:moveTo>
                    <a:pt x="64008" y="0"/>
                  </a:moveTo>
                  <a:lnTo>
                    <a:pt x="955379" y="0"/>
                  </a:lnTo>
                  <a:cubicBezTo>
                    <a:pt x="990730" y="0"/>
                    <a:pt x="1019387" y="28657"/>
                    <a:pt x="1019387" y="64008"/>
                  </a:cubicBezTo>
                  <a:lnTo>
                    <a:pt x="1019387" y="420666"/>
                  </a:lnTo>
                  <a:cubicBezTo>
                    <a:pt x="1019387" y="437641"/>
                    <a:pt x="1012644" y="453922"/>
                    <a:pt x="1000640" y="465926"/>
                  </a:cubicBezTo>
                  <a:cubicBezTo>
                    <a:pt x="988636" y="477930"/>
                    <a:pt x="972355" y="484673"/>
                    <a:pt x="955379" y="484673"/>
                  </a:cubicBezTo>
                  <a:lnTo>
                    <a:pt x="64008" y="484673"/>
                  </a:lnTo>
                  <a:cubicBezTo>
                    <a:pt x="28657" y="484673"/>
                    <a:pt x="0" y="456016"/>
                    <a:pt x="0" y="420666"/>
                  </a:cubicBezTo>
                  <a:lnTo>
                    <a:pt x="0" y="64008"/>
                  </a:lnTo>
                  <a:cubicBezTo>
                    <a:pt x="0" y="47032"/>
                    <a:pt x="6744" y="30751"/>
                    <a:pt x="18747" y="18747"/>
                  </a:cubicBezTo>
                  <a:cubicBezTo>
                    <a:pt x="30751" y="6744"/>
                    <a:pt x="47032" y="0"/>
                    <a:pt x="64008"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5" name="TextBox 5"/>
            <p:cNvSpPr txBox="1"/>
            <p:nvPr/>
          </p:nvSpPr>
          <p:spPr>
            <a:xfrm>
              <a:off x="0" y="-57150"/>
              <a:ext cx="1019387" cy="541823"/>
            </a:xfrm>
            <a:prstGeom prst="rect">
              <a:avLst/>
            </a:prstGeom>
          </p:spPr>
          <p:txBody>
            <a:bodyPr lIns="50800" tIns="50800" rIns="50800" bIns="50800" rtlCol="0" anchor="ctr"/>
            <a:lstStyle/>
            <a:p>
              <a:pPr algn="ctr">
                <a:lnSpc>
                  <a:spcPts val="3639"/>
                </a:lnSpc>
              </a:pPr>
              <a:endParaRPr/>
            </a:p>
          </p:txBody>
        </p:sp>
      </p:grpSp>
      <p:sp>
        <p:nvSpPr>
          <p:cNvPr id="6" name="TextBox 6"/>
          <p:cNvSpPr txBox="1"/>
          <p:nvPr/>
        </p:nvSpPr>
        <p:spPr>
          <a:xfrm>
            <a:off x="2536267" y="815196"/>
            <a:ext cx="1058781"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1</a:t>
            </a:r>
          </a:p>
        </p:txBody>
      </p:sp>
      <p:sp>
        <p:nvSpPr>
          <p:cNvPr id="7" name="TextBox 7"/>
          <p:cNvSpPr txBox="1"/>
          <p:nvPr/>
        </p:nvSpPr>
        <p:spPr>
          <a:xfrm>
            <a:off x="3595048" y="742811"/>
            <a:ext cx="2536980" cy="969645"/>
          </a:xfrm>
          <a:prstGeom prst="rect">
            <a:avLst/>
          </a:prstGeom>
        </p:spPr>
        <p:txBody>
          <a:bodyPr lIns="0" tIns="0" rIns="0" bIns="0" rtlCol="0" anchor="t">
            <a:spAutoFit/>
          </a:bodyPr>
          <a:lstStyle/>
          <a:p>
            <a:pPr algn="just">
              <a:lnSpc>
                <a:spcPts val="3779"/>
              </a:lnSpc>
              <a:spcBef>
                <a:spcPct val="0"/>
              </a:spcBef>
            </a:pPr>
            <a:r>
              <a:rPr lang="en-US" sz="2699" spc="134">
                <a:solidFill>
                  <a:srgbClr val="F2F7FA"/>
                </a:solidFill>
                <a:latin typeface="Telegraf"/>
                <a:ea typeface="Telegraf"/>
                <a:cs typeface="Telegraf"/>
                <a:sym typeface="Telegraf"/>
              </a:rPr>
              <a:t>Logistic Regression</a:t>
            </a:r>
          </a:p>
        </p:txBody>
      </p:sp>
      <p:sp>
        <p:nvSpPr>
          <p:cNvPr id="8" name="Freeform 8"/>
          <p:cNvSpPr/>
          <p:nvPr/>
        </p:nvSpPr>
        <p:spPr>
          <a:xfrm rot="225008">
            <a:off x="1573248" y="8973281"/>
            <a:ext cx="12701350" cy="5382197"/>
          </a:xfrm>
          <a:custGeom>
            <a:avLst/>
            <a:gdLst/>
            <a:ahLst/>
            <a:cxnLst/>
            <a:rect l="l" t="t" r="r" b="b"/>
            <a:pathLst>
              <a:path w="12701350" h="5382197">
                <a:moveTo>
                  <a:pt x="0" y="0"/>
                </a:moveTo>
                <a:lnTo>
                  <a:pt x="12701349" y="0"/>
                </a:lnTo>
                <a:lnTo>
                  <a:pt x="12701349" y="5382197"/>
                </a:lnTo>
                <a:lnTo>
                  <a:pt x="0" y="5382197"/>
                </a:lnTo>
                <a:lnTo>
                  <a:pt x="0" y="0"/>
                </a:lnTo>
                <a:close/>
              </a:path>
            </a:pathLst>
          </a:custGeom>
          <a:blipFill>
            <a:blip r:embed="rId3"/>
            <a:stretch>
              <a:fillRect/>
            </a:stretch>
          </a:blipFill>
        </p:spPr>
        <p:txBody>
          <a:bodyPr/>
          <a:lstStyle/>
          <a:p>
            <a:endParaRPr lang="zh-SG" altLang="en-US"/>
          </a:p>
        </p:txBody>
      </p:sp>
      <p:grpSp>
        <p:nvGrpSpPr>
          <p:cNvPr id="9" name="Group 9"/>
          <p:cNvGrpSpPr/>
          <p:nvPr/>
        </p:nvGrpSpPr>
        <p:grpSpPr>
          <a:xfrm>
            <a:off x="2536267" y="2370403"/>
            <a:ext cx="3870486" cy="2313267"/>
            <a:chOff x="0" y="0"/>
            <a:chExt cx="1019387" cy="609256"/>
          </a:xfrm>
        </p:grpSpPr>
        <p:sp>
          <p:nvSpPr>
            <p:cNvPr id="10" name="Freeform 10"/>
            <p:cNvSpPr/>
            <p:nvPr/>
          </p:nvSpPr>
          <p:spPr>
            <a:xfrm>
              <a:off x="0" y="0"/>
              <a:ext cx="1019387" cy="609256"/>
            </a:xfrm>
            <a:custGeom>
              <a:avLst/>
              <a:gdLst/>
              <a:ahLst/>
              <a:cxnLst/>
              <a:rect l="l" t="t" r="r" b="b"/>
              <a:pathLst>
                <a:path w="1019387" h="609256">
                  <a:moveTo>
                    <a:pt x="64008" y="0"/>
                  </a:moveTo>
                  <a:lnTo>
                    <a:pt x="955379" y="0"/>
                  </a:lnTo>
                  <a:cubicBezTo>
                    <a:pt x="990730" y="0"/>
                    <a:pt x="1019387" y="28657"/>
                    <a:pt x="1019387" y="64008"/>
                  </a:cubicBezTo>
                  <a:lnTo>
                    <a:pt x="1019387" y="545248"/>
                  </a:lnTo>
                  <a:cubicBezTo>
                    <a:pt x="1019387" y="562224"/>
                    <a:pt x="1012644" y="578504"/>
                    <a:pt x="1000640" y="590508"/>
                  </a:cubicBezTo>
                  <a:cubicBezTo>
                    <a:pt x="988636" y="602512"/>
                    <a:pt x="972355" y="609256"/>
                    <a:pt x="955379" y="609256"/>
                  </a:cubicBezTo>
                  <a:lnTo>
                    <a:pt x="64008" y="609256"/>
                  </a:lnTo>
                  <a:cubicBezTo>
                    <a:pt x="47032" y="609256"/>
                    <a:pt x="30751" y="602512"/>
                    <a:pt x="18747" y="590508"/>
                  </a:cubicBezTo>
                  <a:cubicBezTo>
                    <a:pt x="6744" y="578504"/>
                    <a:pt x="0" y="562224"/>
                    <a:pt x="0" y="545248"/>
                  </a:cubicBezTo>
                  <a:lnTo>
                    <a:pt x="0" y="64008"/>
                  </a:lnTo>
                  <a:cubicBezTo>
                    <a:pt x="0" y="47032"/>
                    <a:pt x="6744" y="30751"/>
                    <a:pt x="18747" y="18747"/>
                  </a:cubicBezTo>
                  <a:cubicBezTo>
                    <a:pt x="30751" y="6744"/>
                    <a:pt x="47032" y="0"/>
                    <a:pt x="64008"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1" name="TextBox 11"/>
            <p:cNvSpPr txBox="1"/>
            <p:nvPr/>
          </p:nvSpPr>
          <p:spPr>
            <a:xfrm>
              <a:off x="0" y="-57150"/>
              <a:ext cx="1019387" cy="666406"/>
            </a:xfrm>
            <a:prstGeom prst="rect">
              <a:avLst/>
            </a:prstGeom>
          </p:spPr>
          <p:txBody>
            <a:bodyPr lIns="50800" tIns="50800" rIns="50800" bIns="50800" rtlCol="0" anchor="ctr"/>
            <a:lstStyle/>
            <a:p>
              <a:pPr algn="ctr">
                <a:lnSpc>
                  <a:spcPts val="3639"/>
                </a:lnSpc>
              </a:pPr>
              <a:endParaRPr/>
            </a:p>
          </p:txBody>
        </p:sp>
      </p:grpSp>
      <p:sp>
        <p:nvSpPr>
          <p:cNvPr id="12" name="TextBox 12"/>
          <p:cNvSpPr txBox="1"/>
          <p:nvPr/>
        </p:nvSpPr>
        <p:spPr>
          <a:xfrm>
            <a:off x="2536267" y="3071738"/>
            <a:ext cx="1058781"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2</a:t>
            </a:r>
          </a:p>
        </p:txBody>
      </p:sp>
      <p:sp>
        <p:nvSpPr>
          <p:cNvPr id="13" name="TextBox 13"/>
          <p:cNvSpPr txBox="1"/>
          <p:nvPr/>
        </p:nvSpPr>
        <p:spPr>
          <a:xfrm>
            <a:off x="3595048" y="2999352"/>
            <a:ext cx="2536980" cy="969645"/>
          </a:xfrm>
          <a:prstGeom prst="rect">
            <a:avLst/>
          </a:prstGeom>
        </p:spPr>
        <p:txBody>
          <a:bodyPr lIns="0" tIns="0" rIns="0" bIns="0" rtlCol="0" anchor="t">
            <a:spAutoFit/>
          </a:bodyPr>
          <a:lstStyle/>
          <a:p>
            <a:pPr algn="just">
              <a:lnSpc>
                <a:spcPts val="3779"/>
              </a:lnSpc>
              <a:spcBef>
                <a:spcPct val="0"/>
              </a:spcBef>
            </a:pPr>
            <a:r>
              <a:rPr lang="en-US" sz="2700" spc="135">
                <a:solidFill>
                  <a:srgbClr val="F2F7FA"/>
                </a:solidFill>
                <a:latin typeface="Telegraf"/>
                <a:ea typeface="Telegraf"/>
                <a:cs typeface="Telegraf"/>
                <a:sym typeface="Telegraf"/>
              </a:rPr>
              <a:t>Decision Tree Classifier</a:t>
            </a:r>
          </a:p>
        </p:txBody>
      </p:sp>
      <p:grpSp>
        <p:nvGrpSpPr>
          <p:cNvPr id="14" name="Group 14"/>
          <p:cNvGrpSpPr/>
          <p:nvPr/>
        </p:nvGrpSpPr>
        <p:grpSpPr>
          <a:xfrm>
            <a:off x="2536267" y="4864646"/>
            <a:ext cx="3870486" cy="2255594"/>
            <a:chOff x="0" y="0"/>
            <a:chExt cx="1019387" cy="594066"/>
          </a:xfrm>
        </p:grpSpPr>
        <p:sp>
          <p:nvSpPr>
            <p:cNvPr id="15" name="Freeform 15"/>
            <p:cNvSpPr/>
            <p:nvPr/>
          </p:nvSpPr>
          <p:spPr>
            <a:xfrm>
              <a:off x="0" y="0"/>
              <a:ext cx="1019387" cy="594066"/>
            </a:xfrm>
            <a:custGeom>
              <a:avLst/>
              <a:gdLst/>
              <a:ahLst/>
              <a:cxnLst/>
              <a:rect l="l" t="t" r="r" b="b"/>
              <a:pathLst>
                <a:path w="1019387" h="594066">
                  <a:moveTo>
                    <a:pt x="64008" y="0"/>
                  </a:moveTo>
                  <a:lnTo>
                    <a:pt x="955379" y="0"/>
                  </a:lnTo>
                  <a:cubicBezTo>
                    <a:pt x="990730" y="0"/>
                    <a:pt x="1019387" y="28657"/>
                    <a:pt x="1019387" y="64008"/>
                  </a:cubicBezTo>
                  <a:lnTo>
                    <a:pt x="1019387" y="530058"/>
                  </a:lnTo>
                  <a:cubicBezTo>
                    <a:pt x="1019387" y="547034"/>
                    <a:pt x="1012644" y="563315"/>
                    <a:pt x="1000640" y="575318"/>
                  </a:cubicBezTo>
                  <a:cubicBezTo>
                    <a:pt x="988636" y="587322"/>
                    <a:pt x="972355" y="594066"/>
                    <a:pt x="955379" y="594066"/>
                  </a:cubicBezTo>
                  <a:lnTo>
                    <a:pt x="64008" y="594066"/>
                  </a:lnTo>
                  <a:cubicBezTo>
                    <a:pt x="28657" y="594066"/>
                    <a:pt x="0" y="565409"/>
                    <a:pt x="0" y="530058"/>
                  </a:cubicBezTo>
                  <a:lnTo>
                    <a:pt x="0" y="64008"/>
                  </a:lnTo>
                  <a:cubicBezTo>
                    <a:pt x="0" y="47032"/>
                    <a:pt x="6744" y="30751"/>
                    <a:pt x="18747" y="18747"/>
                  </a:cubicBezTo>
                  <a:cubicBezTo>
                    <a:pt x="30751" y="6744"/>
                    <a:pt x="47032" y="0"/>
                    <a:pt x="64008"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6" name="TextBox 16"/>
            <p:cNvSpPr txBox="1"/>
            <p:nvPr/>
          </p:nvSpPr>
          <p:spPr>
            <a:xfrm>
              <a:off x="0" y="-57150"/>
              <a:ext cx="1019387" cy="651216"/>
            </a:xfrm>
            <a:prstGeom prst="rect">
              <a:avLst/>
            </a:prstGeom>
          </p:spPr>
          <p:txBody>
            <a:bodyPr lIns="50800" tIns="50800" rIns="50800" bIns="50800" rtlCol="0" anchor="ctr"/>
            <a:lstStyle/>
            <a:p>
              <a:pPr algn="ctr">
                <a:lnSpc>
                  <a:spcPts val="3639"/>
                </a:lnSpc>
              </a:pPr>
              <a:endParaRPr/>
            </a:p>
          </p:txBody>
        </p:sp>
      </p:grpSp>
      <p:sp>
        <p:nvSpPr>
          <p:cNvPr id="17" name="TextBox 17"/>
          <p:cNvSpPr txBox="1"/>
          <p:nvPr/>
        </p:nvSpPr>
        <p:spPr>
          <a:xfrm>
            <a:off x="2536267" y="5508306"/>
            <a:ext cx="1058781"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3</a:t>
            </a:r>
          </a:p>
        </p:txBody>
      </p:sp>
      <p:sp>
        <p:nvSpPr>
          <p:cNvPr id="18" name="TextBox 18"/>
          <p:cNvSpPr txBox="1"/>
          <p:nvPr/>
        </p:nvSpPr>
        <p:spPr>
          <a:xfrm>
            <a:off x="3595048" y="5197796"/>
            <a:ext cx="2536980" cy="1445895"/>
          </a:xfrm>
          <a:prstGeom prst="rect">
            <a:avLst/>
          </a:prstGeom>
        </p:spPr>
        <p:txBody>
          <a:bodyPr lIns="0" tIns="0" rIns="0" bIns="0" rtlCol="0" anchor="t">
            <a:spAutoFit/>
          </a:bodyPr>
          <a:lstStyle/>
          <a:p>
            <a:pPr algn="just">
              <a:lnSpc>
                <a:spcPts val="3779"/>
              </a:lnSpc>
              <a:spcBef>
                <a:spcPct val="0"/>
              </a:spcBef>
            </a:pPr>
            <a:r>
              <a:rPr lang="en-US" sz="2700" spc="135">
                <a:solidFill>
                  <a:srgbClr val="F2F7FA"/>
                </a:solidFill>
                <a:latin typeface="Telegraf"/>
                <a:ea typeface="Telegraf"/>
                <a:cs typeface="Telegraf"/>
                <a:sym typeface="Telegraf"/>
              </a:rPr>
              <a:t>Random Forest Classifer</a:t>
            </a:r>
          </a:p>
        </p:txBody>
      </p:sp>
      <p:grpSp>
        <p:nvGrpSpPr>
          <p:cNvPr id="19" name="Group 19"/>
          <p:cNvGrpSpPr/>
          <p:nvPr/>
        </p:nvGrpSpPr>
        <p:grpSpPr>
          <a:xfrm>
            <a:off x="2534750" y="7301214"/>
            <a:ext cx="3870486" cy="2635412"/>
            <a:chOff x="0" y="0"/>
            <a:chExt cx="1019387" cy="694100"/>
          </a:xfrm>
        </p:grpSpPr>
        <p:sp>
          <p:nvSpPr>
            <p:cNvPr id="20" name="Freeform 20"/>
            <p:cNvSpPr/>
            <p:nvPr/>
          </p:nvSpPr>
          <p:spPr>
            <a:xfrm>
              <a:off x="0" y="0"/>
              <a:ext cx="1019387" cy="694100"/>
            </a:xfrm>
            <a:custGeom>
              <a:avLst/>
              <a:gdLst/>
              <a:ahLst/>
              <a:cxnLst/>
              <a:rect l="l" t="t" r="r" b="b"/>
              <a:pathLst>
                <a:path w="1019387" h="694100">
                  <a:moveTo>
                    <a:pt x="64008" y="0"/>
                  </a:moveTo>
                  <a:lnTo>
                    <a:pt x="955379" y="0"/>
                  </a:lnTo>
                  <a:cubicBezTo>
                    <a:pt x="990730" y="0"/>
                    <a:pt x="1019387" y="28657"/>
                    <a:pt x="1019387" y="64008"/>
                  </a:cubicBezTo>
                  <a:lnTo>
                    <a:pt x="1019387" y="630092"/>
                  </a:lnTo>
                  <a:cubicBezTo>
                    <a:pt x="1019387" y="647068"/>
                    <a:pt x="1012644" y="663349"/>
                    <a:pt x="1000640" y="675353"/>
                  </a:cubicBezTo>
                  <a:cubicBezTo>
                    <a:pt x="988636" y="687357"/>
                    <a:pt x="972355" y="694100"/>
                    <a:pt x="955379" y="694100"/>
                  </a:cubicBezTo>
                  <a:lnTo>
                    <a:pt x="64008" y="694100"/>
                  </a:lnTo>
                  <a:cubicBezTo>
                    <a:pt x="28657" y="694100"/>
                    <a:pt x="0" y="665443"/>
                    <a:pt x="0" y="630092"/>
                  </a:cubicBezTo>
                  <a:lnTo>
                    <a:pt x="0" y="64008"/>
                  </a:lnTo>
                  <a:cubicBezTo>
                    <a:pt x="0" y="47032"/>
                    <a:pt x="6744" y="30751"/>
                    <a:pt x="18747" y="18747"/>
                  </a:cubicBezTo>
                  <a:cubicBezTo>
                    <a:pt x="30751" y="6744"/>
                    <a:pt x="47032" y="0"/>
                    <a:pt x="64008"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21" name="TextBox 21"/>
            <p:cNvSpPr txBox="1"/>
            <p:nvPr/>
          </p:nvSpPr>
          <p:spPr>
            <a:xfrm>
              <a:off x="0" y="-57150"/>
              <a:ext cx="1019387" cy="751250"/>
            </a:xfrm>
            <a:prstGeom prst="rect">
              <a:avLst/>
            </a:prstGeom>
          </p:spPr>
          <p:txBody>
            <a:bodyPr lIns="50800" tIns="50800" rIns="50800" bIns="50800" rtlCol="0" anchor="ctr"/>
            <a:lstStyle/>
            <a:p>
              <a:pPr algn="ctr">
                <a:lnSpc>
                  <a:spcPts val="3639"/>
                </a:lnSpc>
              </a:pPr>
              <a:endParaRPr/>
            </a:p>
          </p:txBody>
        </p:sp>
      </p:grpSp>
      <p:sp>
        <p:nvSpPr>
          <p:cNvPr id="22" name="TextBox 22"/>
          <p:cNvSpPr txBox="1"/>
          <p:nvPr/>
        </p:nvSpPr>
        <p:spPr>
          <a:xfrm>
            <a:off x="2534750" y="8134784"/>
            <a:ext cx="1058781" cy="986799"/>
          </a:xfrm>
          <a:prstGeom prst="rect">
            <a:avLst/>
          </a:prstGeom>
        </p:spPr>
        <p:txBody>
          <a:bodyPr lIns="0" tIns="0" rIns="0" bIns="0" rtlCol="0" anchor="t">
            <a:spAutoFit/>
          </a:bodyPr>
          <a:lstStyle/>
          <a:p>
            <a:pPr algn="ctr">
              <a:lnSpc>
                <a:spcPts val="6772"/>
              </a:lnSpc>
            </a:pPr>
            <a:r>
              <a:rPr lang="en-US" sz="6982" b="1">
                <a:solidFill>
                  <a:srgbClr val="F2F7FA"/>
                </a:solidFill>
                <a:latin typeface="Telegraf Bold"/>
                <a:ea typeface="Telegraf Bold"/>
                <a:cs typeface="Telegraf Bold"/>
                <a:sym typeface="Telegraf Bold"/>
              </a:rPr>
              <a:t>4</a:t>
            </a:r>
          </a:p>
        </p:txBody>
      </p:sp>
      <p:sp>
        <p:nvSpPr>
          <p:cNvPr id="23" name="TextBox 23"/>
          <p:cNvSpPr txBox="1"/>
          <p:nvPr/>
        </p:nvSpPr>
        <p:spPr>
          <a:xfrm>
            <a:off x="3593531" y="8062398"/>
            <a:ext cx="2536980" cy="969645"/>
          </a:xfrm>
          <a:prstGeom prst="rect">
            <a:avLst/>
          </a:prstGeom>
        </p:spPr>
        <p:txBody>
          <a:bodyPr lIns="0" tIns="0" rIns="0" bIns="0" rtlCol="0" anchor="t">
            <a:spAutoFit/>
          </a:bodyPr>
          <a:lstStyle/>
          <a:p>
            <a:pPr algn="just">
              <a:lnSpc>
                <a:spcPts val="3779"/>
              </a:lnSpc>
              <a:spcBef>
                <a:spcPct val="0"/>
              </a:spcBef>
            </a:pPr>
            <a:r>
              <a:rPr lang="en-US" sz="2700" spc="135">
                <a:solidFill>
                  <a:srgbClr val="F2F7FA"/>
                </a:solidFill>
                <a:latin typeface="Telegraf"/>
                <a:ea typeface="Telegraf"/>
                <a:cs typeface="Telegraf"/>
                <a:sym typeface="Telegraf"/>
              </a:rPr>
              <a:t>Logistic Regression</a:t>
            </a:r>
          </a:p>
        </p:txBody>
      </p:sp>
      <p:grpSp>
        <p:nvGrpSpPr>
          <p:cNvPr id="24" name="Group 24"/>
          <p:cNvGrpSpPr/>
          <p:nvPr/>
        </p:nvGrpSpPr>
        <p:grpSpPr>
          <a:xfrm rot="-5400000">
            <a:off x="-298632" y="2059839"/>
            <a:ext cx="4333297" cy="914367"/>
            <a:chOff x="0" y="0"/>
            <a:chExt cx="1141280" cy="240821"/>
          </a:xfrm>
        </p:grpSpPr>
        <p:sp>
          <p:nvSpPr>
            <p:cNvPr id="25" name="Freeform 25"/>
            <p:cNvSpPr/>
            <p:nvPr/>
          </p:nvSpPr>
          <p:spPr>
            <a:xfrm>
              <a:off x="0" y="0"/>
              <a:ext cx="1141280" cy="240821"/>
            </a:xfrm>
            <a:custGeom>
              <a:avLst/>
              <a:gdLst/>
              <a:ahLst/>
              <a:cxnLst/>
              <a:rect l="l" t="t" r="r" b="b"/>
              <a:pathLst>
                <a:path w="1141280" h="240821">
                  <a:moveTo>
                    <a:pt x="57172" y="0"/>
                  </a:moveTo>
                  <a:lnTo>
                    <a:pt x="1084108" y="0"/>
                  </a:lnTo>
                  <a:cubicBezTo>
                    <a:pt x="1115683" y="0"/>
                    <a:pt x="1141280" y="25597"/>
                    <a:pt x="1141280" y="57172"/>
                  </a:cubicBezTo>
                  <a:lnTo>
                    <a:pt x="1141280" y="183649"/>
                  </a:lnTo>
                  <a:cubicBezTo>
                    <a:pt x="1141280" y="215224"/>
                    <a:pt x="1115683" y="240821"/>
                    <a:pt x="1084108" y="240821"/>
                  </a:cubicBezTo>
                  <a:lnTo>
                    <a:pt x="57172" y="240821"/>
                  </a:lnTo>
                  <a:cubicBezTo>
                    <a:pt x="25597" y="240821"/>
                    <a:pt x="0" y="215224"/>
                    <a:pt x="0" y="183649"/>
                  </a:cubicBezTo>
                  <a:lnTo>
                    <a:pt x="0" y="57172"/>
                  </a:lnTo>
                  <a:cubicBezTo>
                    <a:pt x="0" y="25597"/>
                    <a:pt x="25597" y="0"/>
                    <a:pt x="57172"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26" name="TextBox 26"/>
            <p:cNvSpPr txBox="1"/>
            <p:nvPr/>
          </p:nvSpPr>
          <p:spPr>
            <a:xfrm>
              <a:off x="0" y="-57150"/>
              <a:ext cx="1141280" cy="297971"/>
            </a:xfrm>
            <a:prstGeom prst="rect">
              <a:avLst/>
            </a:prstGeom>
          </p:spPr>
          <p:txBody>
            <a:bodyPr lIns="50800" tIns="50800" rIns="50800" bIns="50800" rtlCol="0" anchor="ctr"/>
            <a:lstStyle/>
            <a:p>
              <a:pPr algn="ctr">
                <a:lnSpc>
                  <a:spcPts val="3639"/>
                </a:lnSpc>
              </a:pPr>
              <a:r>
                <a:rPr lang="en-US" sz="2599">
                  <a:solidFill>
                    <a:srgbClr val="F2F7FA"/>
                  </a:solidFill>
                  <a:latin typeface="TT Hoves"/>
                  <a:ea typeface="TT Hoves"/>
                  <a:cs typeface="TT Hoves"/>
                  <a:sym typeface="TT Hoves"/>
                </a:rPr>
                <a:t>Baseline Models</a:t>
              </a:r>
            </a:p>
          </p:txBody>
        </p:sp>
      </p:grpSp>
      <p:grpSp>
        <p:nvGrpSpPr>
          <p:cNvPr id="27" name="Group 27"/>
          <p:cNvGrpSpPr/>
          <p:nvPr/>
        </p:nvGrpSpPr>
        <p:grpSpPr>
          <a:xfrm rot="-5400000">
            <a:off x="-696811" y="6914616"/>
            <a:ext cx="5129654" cy="914367"/>
            <a:chOff x="0" y="0"/>
            <a:chExt cx="1351020" cy="240821"/>
          </a:xfrm>
        </p:grpSpPr>
        <p:sp>
          <p:nvSpPr>
            <p:cNvPr id="28" name="Freeform 28"/>
            <p:cNvSpPr/>
            <p:nvPr/>
          </p:nvSpPr>
          <p:spPr>
            <a:xfrm>
              <a:off x="0" y="0"/>
              <a:ext cx="1351020" cy="240821"/>
            </a:xfrm>
            <a:custGeom>
              <a:avLst/>
              <a:gdLst/>
              <a:ahLst/>
              <a:cxnLst/>
              <a:rect l="l" t="t" r="r" b="b"/>
              <a:pathLst>
                <a:path w="1351020" h="240821">
                  <a:moveTo>
                    <a:pt x="48296" y="0"/>
                  </a:moveTo>
                  <a:lnTo>
                    <a:pt x="1302724" y="0"/>
                  </a:lnTo>
                  <a:cubicBezTo>
                    <a:pt x="1329397" y="0"/>
                    <a:pt x="1351020" y="21623"/>
                    <a:pt x="1351020" y="48296"/>
                  </a:cubicBezTo>
                  <a:lnTo>
                    <a:pt x="1351020" y="192525"/>
                  </a:lnTo>
                  <a:cubicBezTo>
                    <a:pt x="1351020" y="219198"/>
                    <a:pt x="1329397" y="240821"/>
                    <a:pt x="1302724" y="240821"/>
                  </a:cubicBezTo>
                  <a:lnTo>
                    <a:pt x="48296" y="240821"/>
                  </a:lnTo>
                  <a:cubicBezTo>
                    <a:pt x="21623" y="240821"/>
                    <a:pt x="0" y="219198"/>
                    <a:pt x="0" y="192525"/>
                  </a:cubicBezTo>
                  <a:lnTo>
                    <a:pt x="0" y="48296"/>
                  </a:lnTo>
                  <a:cubicBezTo>
                    <a:pt x="0" y="21623"/>
                    <a:pt x="21623" y="0"/>
                    <a:pt x="48296"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29" name="TextBox 29"/>
            <p:cNvSpPr txBox="1"/>
            <p:nvPr/>
          </p:nvSpPr>
          <p:spPr>
            <a:xfrm>
              <a:off x="0" y="-57150"/>
              <a:ext cx="1351020" cy="297971"/>
            </a:xfrm>
            <a:prstGeom prst="rect">
              <a:avLst/>
            </a:prstGeom>
          </p:spPr>
          <p:txBody>
            <a:bodyPr lIns="50800" tIns="50800" rIns="50800" bIns="50800" rtlCol="0" anchor="ctr"/>
            <a:lstStyle/>
            <a:p>
              <a:pPr algn="ctr">
                <a:lnSpc>
                  <a:spcPts val="3639"/>
                </a:lnSpc>
              </a:pPr>
              <a:r>
                <a:rPr lang="en-US" sz="2599">
                  <a:solidFill>
                    <a:srgbClr val="F2F7FA"/>
                  </a:solidFill>
                  <a:latin typeface="TT Hoves"/>
                  <a:ea typeface="TT Hoves"/>
                  <a:cs typeface="TT Hoves"/>
                  <a:sym typeface="TT Hoves"/>
                </a:rPr>
                <a:t>Ensemble Models</a:t>
              </a:r>
            </a:p>
          </p:txBody>
        </p:sp>
      </p:grpSp>
      <p:grpSp>
        <p:nvGrpSpPr>
          <p:cNvPr id="30" name="Group 30"/>
          <p:cNvGrpSpPr/>
          <p:nvPr/>
        </p:nvGrpSpPr>
        <p:grpSpPr>
          <a:xfrm>
            <a:off x="6618106" y="350374"/>
            <a:ext cx="11183128" cy="1840244"/>
            <a:chOff x="0" y="0"/>
            <a:chExt cx="2945351" cy="484673"/>
          </a:xfrm>
        </p:grpSpPr>
        <p:sp>
          <p:nvSpPr>
            <p:cNvPr id="31" name="Freeform 31"/>
            <p:cNvSpPr/>
            <p:nvPr/>
          </p:nvSpPr>
          <p:spPr>
            <a:xfrm>
              <a:off x="0" y="0"/>
              <a:ext cx="2945351" cy="484673"/>
            </a:xfrm>
            <a:custGeom>
              <a:avLst/>
              <a:gdLst/>
              <a:ahLst/>
              <a:cxnLst/>
              <a:rect l="l" t="t" r="r" b="b"/>
              <a:pathLst>
                <a:path w="2945351" h="484673">
                  <a:moveTo>
                    <a:pt x="22153" y="0"/>
                  </a:moveTo>
                  <a:lnTo>
                    <a:pt x="2923198" y="0"/>
                  </a:lnTo>
                  <a:cubicBezTo>
                    <a:pt x="2929073" y="0"/>
                    <a:pt x="2934708" y="2334"/>
                    <a:pt x="2938862" y="6489"/>
                  </a:cubicBezTo>
                  <a:cubicBezTo>
                    <a:pt x="2943017" y="10643"/>
                    <a:pt x="2945351" y="16278"/>
                    <a:pt x="2945351" y="22153"/>
                  </a:cubicBezTo>
                  <a:lnTo>
                    <a:pt x="2945351" y="462520"/>
                  </a:lnTo>
                  <a:cubicBezTo>
                    <a:pt x="2945351" y="468396"/>
                    <a:pt x="2943017" y="474030"/>
                    <a:pt x="2938862" y="478185"/>
                  </a:cubicBezTo>
                  <a:cubicBezTo>
                    <a:pt x="2934708" y="482339"/>
                    <a:pt x="2929073" y="484673"/>
                    <a:pt x="2923198" y="484673"/>
                  </a:cubicBezTo>
                  <a:lnTo>
                    <a:pt x="22153" y="484673"/>
                  </a:lnTo>
                  <a:cubicBezTo>
                    <a:pt x="16278" y="484673"/>
                    <a:pt x="10643" y="482339"/>
                    <a:pt x="6489" y="478185"/>
                  </a:cubicBezTo>
                  <a:cubicBezTo>
                    <a:pt x="2334" y="474030"/>
                    <a:pt x="0" y="468396"/>
                    <a:pt x="0" y="462520"/>
                  </a:cubicBezTo>
                  <a:lnTo>
                    <a:pt x="0" y="22153"/>
                  </a:lnTo>
                  <a:cubicBezTo>
                    <a:pt x="0" y="16278"/>
                    <a:pt x="2334" y="10643"/>
                    <a:pt x="6489" y="6489"/>
                  </a:cubicBezTo>
                  <a:cubicBezTo>
                    <a:pt x="10643" y="2334"/>
                    <a:pt x="16278" y="0"/>
                    <a:pt x="22153"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32" name="TextBox 32"/>
            <p:cNvSpPr txBox="1"/>
            <p:nvPr/>
          </p:nvSpPr>
          <p:spPr>
            <a:xfrm>
              <a:off x="0" y="-57150"/>
              <a:ext cx="2945351" cy="541823"/>
            </a:xfrm>
            <a:prstGeom prst="rect">
              <a:avLst/>
            </a:prstGeom>
          </p:spPr>
          <p:txBody>
            <a:bodyPr lIns="254000" tIns="254000" rIns="254000" bIns="254000" rtlCol="0" anchor="ctr"/>
            <a:lstStyle/>
            <a:p>
              <a:pPr marL="561336" lvl="1" indent="-280668" algn="just">
                <a:lnSpc>
                  <a:spcPts val="3639"/>
                </a:lnSpc>
                <a:buFont typeface="Arial"/>
                <a:buChar char="•"/>
              </a:pPr>
              <a:r>
                <a:rPr lang="en-US" sz="2599">
                  <a:solidFill>
                    <a:srgbClr val="F2F7FA"/>
                  </a:solidFill>
                  <a:latin typeface="TT Hoves"/>
                  <a:ea typeface="TT Hoves"/>
                  <a:cs typeface="TT Hoves"/>
                  <a:sym typeface="TT Hoves"/>
                </a:rPr>
                <a:t>Poor test accuracy (53.81%)</a:t>
              </a:r>
            </a:p>
            <a:p>
              <a:pPr marL="561336" lvl="1" indent="-280668" algn="just">
                <a:lnSpc>
                  <a:spcPts val="3639"/>
                </a:lnSpc>
                <a:buFont typeface="Arial"/>
                <a:buChar char="•"/>
              </a:pPr>
              <a:r>
                <a:rPr lang="en-US" sz="2599">
                  <a:solidFill>
                    <a:srgbClr val="F2F7FA"/>
                  </a:solidFill>
                  <a:latin typeface="TT Hoves"/>
                  <a:ea typeface="TT Hoves"/>
                  <a:cs typeface="TT Hoves"/>
                  <a:sym typeface="TT Hoves"/>
                </a:rPr>
                <a:t>Relatively high recall for both minority class (Transfer to Hosp: 0.48; Transfer to Fac: 0.68)</a:t>
              </a:r>
            </a:p>
          </p:txBody>
        </p:sp>
      </p:grpSp>
      <p:grpSp>
        <p:nvGrpSpPr>
          <p:cNvPr id="33" name="Group 33"/>
          <p:cNvGrpSpPr/>
          <p:nvPr/>
        </p:nvGrpSpPr>
        <p:grpSpPr>
          <a:xfrm>
            <a:off x="6618106" y="2370403"/>
            <a:ext cx="11183128" cy="2313267"/>
            <a:chOff x="0" y="0"/>
            <a:chExt cx="2945351" cy="609256"/>
          </a:xfrm>
        </p:grpSpPr>
        <p:sp>
          <p:nvSpPr>
            <p:cNvPr id="34" name="Freeform 34"/>
            <p:cNvSpPr/>
            <p:nvPr/>
          </p:nvSpPr>
          <p:spPr>
            <a:xfrm>
              <a:off x="0" y="0"/>
              <a:ext cx="2945351" cy="609256"/>
            </a:xfrm>
            <a:custGeom>
              <a:avLst/>
              <a:gdLst/>
              <a:ahLst/>
              <a:cxnLst/>
              <a:rect l="l" t="t" r="r" b="b"/>
              <a:pathLst>
                <a:path w="2945351" h="609256">
                  <a:moveTo>
                    <a:pt x="22153" y="0"/>
                  </a:moveTo>
                  <a:lnTo>
                    <a:pt x="2923198" y="0"/>
                  </a:lnTo>
                  <a:cubicBezTo>
                    <a:pt x="2929073" y="0"/>
                    <a:pt x="2934708" y="2334"/>
                    <a:pt x="2938862" y="6489"/>
                  </a:cubicBezTo>
                  <a:cubicBezTo>
                    <a:pt x="2943017" y="10643"/>
                    <a:pt x="2945351" y="16278"/>
                    <a:pt x="2945351" y="22153"/>
                  </a:cubicBezTo>
                  <a:lnTo>
                    <a:pt x="2945351" y="587102"/>
                  </a:lnTo>
                  <a:cubicBezTo>
                    <a:pt x="2945351" y="599337"/>
                    <a:pt x="2935432" y="609256"/>
                    <a:pt x="2923198" y="609256"/>
                  </a:cubicBezTo>
                  <a:lnTo>
                    <a:pt x="22153" y="609256"/>
                  </a:lnTo>
                  <a:cubicBezTo>
                    <a:pt x="16278" y="609256"/>
                    <a:pt x="10643" y="606922"/>
                    <a:pt x="6489" y="602767"/>
                  </a:cubicBezTo>
                  <a:cubicBezTo>
                    <a:pt x="2334" y="598613"/>
                    <a:pt x="0" y="592978"/>
                    <a:pt x="0" y="587102"/>
                  </a:cubicBezTo>
                  <a:lnTo>
                    <a:pt x="0" y="22153"/>
                  </a:lnTo>
                  <a:cubicBezTo>
                    <a:pt x="0" y="16278"/>
                    <a:pt x="2334" y="10643"/>
                    <a:pt x="6489" y="6489"/>
                  </a:cubicBezTo>
                  <a:cubicBezTo>
                    <a:pt x="10643" y="2334"/>
                    <a:pt x="16278" y="0"/>
                    <a:pt x="22153"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35" name="TextBox 35"/>
            <p:cNvSpPr txBox="1"/>
            <p:nvPr/>
          </p:nvSpPr>
          <p:spPr>
            <a:xfrm>
              <a:off x="0" y="-57150"/>
              <a:ext cx="2945351" cy="666406"/>
            </a:xfrm>
            <a:prstGeom prst="rect">
              <a:avLst/>
            </a:prstGeom>
          </p:spPr>
          <p:txBody>
            <a:bodyPr lIns="254000" tIns="254000" rIns="254000" bIns="254000" rtlCol="0" anchor="ctr"/>
            <a:lstStyle/>
            <a:p>
              <a:pPr marL="561336" lvl="1" indent="-280668" algn="just">
                <a:lnSpc>
                  <a:spcPts val="3639"/>
                </a:lnSpc>
                <a:buFont typeface="Arial"/>
                <a:buChar char="•"/>
              </a:pPr>
              <a:r>
                <a:rPr lang="en-US" sz="2599">
                  <a:solidFill>
                    <a:srgbClr val="F2F7FA"/>
                  </a:solidFill>
                  <a:latin typeface="TT Hoves"/>
                  <a:ea typeface="TT Hoves"/>
                  <a:cs typeface="TT Hoves"/>
                  <a:sym typeface="TT Hoves"/>
                </a:rPr>
                <a:t>Worst test performance (47.7%)</a:t>
              </a:r>
            </a:p>
            <a:p>
              <a:pPr marL="561336" lvl="1" indent="-280668" algn="just">
                <a:lnSpc>
                  <a:spcPts val="3639"/>
                </a:lnSpc>
                <a:buFont typeface="Arial"/>
                <a:buChar char="•"/>
              </a:pPr>
              <a:r>
                <a:rPr lang="en-US" sz="2599">
                  <a:solidFill>
                    <a:srgbClr val="F2F7FA"/>
                  </a:solidFill>
                  <a:latin typeface="TT Hoves"/>
                  <a:ea typeface="TT Hoves"/>
                  <a:cs typeface="TT Hoves"/>
                  <a:sym typeface="TT Hoves"/>
                </a:rPr>
                <a:t>Reletively high recall but poor pricision for minority class </a:t>
              </a:r>
            </a:p>
            <a:p>
              <a:pPr marL="561336" lvl="1" indent="-280668" algn="just">
                <a:lnSpc>
                  <a:spcPts val="3639"/>
                </a:lnSpc>
                <a:buFont typeface="Arial"/>
                <a:buChar char="•"/>
              </a:pPr>
              <a:r>
                <a:rPr lang="en-US" sz="2599">
                  <a:solidFill>
                    <a:srgbClr val="F2F7FA"/>
                  </a:solidFill>
                  <a:latin typeface="TT Hoves"/>
                  <a:ea typeface="TT Hoves"/>
                  <a:cs typeface="TT Hoves"/>
                  <a:sym typeface="TT Hoves"/>
                </a:rPr>
                <a:t>Majority of discharge home patients (8056) were incorrectly flagged as needing a hospital transfer</a:t>
              </a:r>
            </a:p>
          </p:txBody>
        </p:sp>
      </p:grpSp>
      <p:grpSp>
        <p:nvGrpSpPr>
          <p:cNvPr id="36" name="Group 36"/>
          <p:cNvGrpSpPr/>
          <p:nvPr/>
        </p:nvGrpSpPr>
        <p:grpSpPr>
          <a:xfrm>
            <a:off x="6618106" y="4806972"/>
            <a:ext cx="11183128" cy="2313267"/>
            <a:chOff x="0" y="0"/>
            <a:chExt cx="2945351" cy="609256"/>
          </a:xfrm>
        </p:grpSpPr>
        <p:sp>
          <p:nvSpPr>
            <p:cNvPr id="37" name="Freeform 37"/>
            <p:cNvSpPr/>
            <p:nvPr/>
          </p:nvSpPr>
          <p:spPr>
            <a:xfrm>
              <a:off x="0" y="0"/>
              <a:ext cx="2945351" cy="609256"/>
            </a:xfrm>
            <a:custGeom>
              <a:avLst/>
              <a:gdLst/>
              <a:ahLst/>
              <a:cxnLst/>
              <a:rect l="l" t="t" r="r" b="b"/>
              <a:pathLst>
                <a:path w="2945351" h="609256">
                  <a:moveTo>
                    <a:pt x="22153" y="0"/>
                  </a:moveTo>
                  <a:lnTo>
                    <a:pt x="2923198" y="0"/>
                  </a:lnTo>
                  <a:cubicBezTo>
                    <a:pt x="2929073" y="0"/>
                    <a:pt x="2934708" y="2334"/>
                    <a:pt x="2938862" y="6489"/>
                  </a:cubicBezTo>
                  <a:cubicBezTo>
                    <a:pt x="2943017" y="10643"/>
                    <a:pt x="2945351" y="16278"/>
                    <a:pt x="2945351" y="22153"/>
                  </a:cubicBezTo>
                  <a:lnTo>
                    <a:pt x="2945351" y="587102"/>
                  </a:lnTo>
                  <a:cubicBezTo>
                    <a:pt x="2945351" y="599337"/>
                    <a:pt x="2935432" y="609256"/>
                    <a:pt x="2923198" y="609256"/>
                  </a:cubicBezTo>
                  <a:lnTo>
                    <a:pt x="22153" y="609256"/>
                  </a:lnTo>
                  <a:cubicBezTo>
                    <a:pt x="16278" y="609256"/>
                    <a:pt x="10643" y="606922"/>
                    <a:pt x="6489" y="602767"/>
                  </a:cubicBezTo>
                  <a:cubicBezTo>
                    <a:pt x="2334" y="598613"/>
                    <a:pt x="0" y="592978"/>
                    <a:pt x="0" y="587102"/>
                  </a:cubicBezTo>
                  <a:lnTo>
                    <a:pt x="0" y="22153"/>
                  </a:lnTo>
                  <a:cubicBezTo>
                    <a:pt x="0" y="16278"/>
                    <a:pt x="2334" y="10643"/>
                    <a:pt x="6489" y="6489"/>
                  </a:cubicBezTo>
                  <a:cubicBezTo>
                    <a:pt x="10643" y="2334"/>
                    <a:pt x="16278" y="0"/>
                    <a:pt x="22153"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38" name="TextBox 38"/>
            <p:cNvSpPr txBox="1"/>
            <p:nvPr/>
          </p:nvSpPr>
          <p:spPr>
            <a:xfrm>
              <a:off x="0" y="-57150"/>
              <a:ext cx="2945351" cy="666406"/>
            </a:xfrm>
            <a:prstGeom prst="rect">
              <a:avLst/>
            </a:prstGeom>
          </p:spPr>
          <p:txBody>
            <a:bodyPr lIns="254000" tIns="254000" rIns="254000" bIns="254000" rtlCol="0" anchor="ctr"/>
            <a:lstStyle/>
            <a:p>
              <a:pPr marL="561336" lvl="1" indent="-280668" algn="just">
                <a:lnSpc>
                  <a:spcPts val="3639"/>
                </a:lnSpc>
                <a:buFont typeface="Arial"/>
                <a:buChar char="•"/>
              </a:pPr>
              <a:r>
                <a:rPr lang="en-US" sz="2599">
                  <a:solidFill>
                    <a:srgbClr val="F2F7FA"/>
                  </a:solidFill>
                  <a:latin typeface="TT Hoves"/>
                  <a:ea typeface="TT Hoves"/>
                  <a:cs typeface="TT Hoves"/>
                  <a:sym typeface="TT Hoves"/>
                </a:rPr>
                <a:t>Good test performance of 71.41%</a:t>
              </a:r>
            </a:p>
            <a:p>
              <a:pPr marL="561336" lvl="1" indent="-280668" algn="just">
                <a:lnSpc>
                  <a:spcPts val="3639"/>
                </a:lnSpc>
                <a:buFont typeface="Arial"/>
                <a:buChar char="•"/>
              </a:pPr>
              <a:r>
                <a:rPr lang="en-US" sz="2599" b="1">
                  <a:solidFill>
                    <a:srgbClr val="F2F7FA"/>
                  </a:solidFill>
                  <a:latin typeface="TT Hoves Bold"/>
                  <a:ea typeface="TT Hoves Bold"/>
                  <a:cs typeface="TT Hoves Bold"/>
                  <a:sym typeface="TT Hoves Bold"/>
                </a:rPr>
                <a:t>Strong performance on “Transfer to Facility-Based Care”</a:t>
              </a:r>
              <a:r>
                <a:rPr lang="en-US" sz="2599">
                  <a:solidFill>
                    <a:srgbClr val="F2F7FA"/>
                  </a:solidFill>
                  <a:latin typeface="TT Hoves"/>
                  <a:ea typeface="TT Hoves"/>
                  <a:cs typeface="TT Hoves"/>
                  <a:sym typeface="TT Hoves"/>
                </a:rPr>
                <a:t>, best Recall (0.66) and F1-scoure (0.49)</a:t>
              </a:r>
            </a:p>
            <a:p>
              <a:pPr marL="561336" lvl="1" indent="-280668" algn="just">
                <a:lnSpc>
                  <a:spcPts val="3639"/>
                </a:lnSpc>
                <a:buFont typeface="Arial"/>
                <a:buChar char="•"/>
              </a:pPr>
              <a:r>
                <a:rPr lang="en-US" sz="2599">
                  <a:solidFill>
                    <a:srgbClr val="F2F7FA"/>
                  </a:solidFill>
                  <a:latin typeface="TT Hoves"/>
                  <a:ea typeface="TT Hoves"/>
                  <a:cs typeface="TT Hoves"/>
                  <a:sym typeface="TT Hoves"/>
                </a:rPr>
                <a:t>Signs of possible overfitting (71.41% vs 79.74%)</a:t>
              </a:r>
            </a:p>
          </p:txBody>
        </p:sp>
      </p:grpSp>
      <p:grpSp>
        <p:nvGrpSpPr>
          <p:cNvPr id="39" name="Group 39"/>
          <p:cNvGrpSpPr/>
          <p:nvPr/>
        </p:nvGrpSpPr>
        <p:grpSpPr>
          <a:xfrm>
            <a:off x="6618106" y="7243541"/>
            <a:ext cx="11183128" cy="2693086"/>
            <a:chOff x="0" y="0"/>
            <a:chExt cx="2945351" cy="709290"/>
          </a:xfrm>
        </p:grpSpPr>
        <p:sp>
          <p:nvSpPr>
            <p:cNvPr id="40" name="Freeform 40"/>
            <p:cNvSpPr/>
            <p:nvPr/>
          </p:nvSpPr>
          <p:spPr>
            <a:xfrm>
              <a:off x="0" y="0"/>
              <a:ext cx="2945351" cy="709290"/>
            </a:xfrm>
            <a:custGeom>
              <a:avLst/>
              <a:gdLst/>
              <a:ahLst/>
              <a:cxnLst/>
              <a:rect l="l" t="t" r="r" b="b"/>
              <a:pathLst>
                <a:path w="2945351" h="709290">
                  <a:moveTo>
                    <a:pt x="22153" y="0"/>
                  </a:moveTo>
                  <a:lnTo>
                    <a:pt x="2923198" y="0"/>
                  </a:lnTo>
                  <a:cubicBezTo>
                    <a:pt x="2929073" y="0"/>
                    <a:pt x="2934708" y="2334"/>
                    <a:pt x="2938862" y="6489"/>
                  </a:cubicBezTo>
                  <a:cubicBezTo>
                    <a:pt x="2943017" y="10643"/>
                    <a:pt x="2945351" y="16278"/>
                    <a:pt x="2945351" y="22153"/>
                  </a:cubicBezTo>
                  <a:lnTo>
                    <a:pt x="2945351" y="687137"/>
                  </a:lnTo>
                  <a:cubicBezTo>
                    <a:pt x="2945351" y="693012"/>
                    <a:pt x="2943017" y="698647"/>
                    <a:pt x="2938862" y="702802"/>
                  </a:cubicBezTo>
                  <a:cubicBezTo>
                    <a:pt x="2934708" y="706956"/>
                    <a:pt x="2929073" y="709290"/>
                    <a:pt x="2923198" y="709290"/>
                  </a:cubicBezTo>
                  <a:lnTo>
                    <a:pt x="22153" y="709290"/>
                  </a:lnTo>
                  <a:cubicBezTo>
                    <a:pt x="16278" y="709290"/>
                    <a:pt x="10643" y="706956"/>
                    <a:pt x="6489" y="702802"/>
                  </a:cubicBezTo>
                  <a:cubicBezTo>
                    <a:pt x="2334" y="698647"/>
                    <a:pt x="0" y="693012"/>
                    <a:pt x="0" y="687137"/>
                  </a:cubicBezTo>
                  <a:lnTo>
                    <a:pt x="0" y="22153"/>
                  </a:lnTo>
                  <a:cubicBezTo>
                    <a:pt x="0" y="16278"/>
                    <a:pt x="2334" y="10643"/>
                    <a:pt x="6489" y="6489"/>
                  </a:cubicBezTo>
                  <a:cubicBezTo>
                    <a:pt x="10643" y="2334"/>
                    <a:pt x="16278" y="0"/>
                    <a:pt x="22153"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41" name="TextBox 41"/>
            <p:cNvSpPr txBox="1"/>
            <p:nvPr/>
          </p:nvSpPr>
          <p:spPr>
            <a:xfrm>
              <a:off x="0" y="-57150"/>
              <a:ext cx="2945351" cy="766440"/>
            </a:xfrm>
            <a:prstGeom prst="rect">
              <a:avLst/>
            </a:prstGeom>
          </p:spPr>
          <p:txBody>
            <a:bodyPr lIns="254000" tIns="254000" rIns="254000" bIns="254000" rtlCol="0" anchor="ctr"/>
            <a:lstStyle/>
            <a:p>
              <a:pPr marL="561336" lvl="1" indent="-280668" algn="just">
                <a:lnSpc>
                  <a:spcPts val="3639"/>
                </a:lnSpc>
                <a:buFont typeface="Arial"/>
                <a:buChar char="•"/>
              </a:pPr>
              <a:r>
                <a:rPr lang="en-US" sz="2599">
                  <a:solidFill>
                    <a:srgbClr val="F2F7FA"/>
                  </a:solidFill>
                  <a:latin typeface="TT Hoves"/>
                  <a:ea typeface="TT Hoves"/>
                  <a:cs typeface="TT Hoves"/>
                  <a:sym typeface="TT Hoves"/>
                </a:rPr>
                <a:t>Best test performance 82.14%</a:t>
              </a:r>
            </a:p>
            <a:p>
              <a:pPr marL="561336" lvl="1" indent="-280668" algn="just">
                <a:lnSpc>
                  <a:spcPts val="3639"/>
                </a:lnSpc>
                <a:buFont typeface="Arial"/>
                <a:buChar char="•"/>
              </a:pPr>
              <a:r>
                <a:rPr lang="en-US" sz="2599" b="1">
                  <a:solidFill>
                    <a:srgbClr val="F2F7FA"/>
                  </a:solidFill>
                  <a:latin typeface="TT Hoves Bold"/>
                  <a:ea typeface="TT Hoves Bold"/>
                  <a:cs typeface="TT Hoves Bold"/>
                  <a:sym typeface="TT Hoves Bold"/>
                </a:rPr>
                <a:t>Catastrophic failure</a:t>
              </a:r>
              <a:r>
                <a:rPr lang="en-US" sz="2599">
                  <a:solidFill>
                    <a:srgbClr val="F2F7FA"/>
                  </a:solidFill>
                  <a:latin typeface="TT Hoves"/>
                  <a:ea typeface="TT Hoves"/>
                  <a:cs typeface="TT Hoves"/>
                  <a:sym typeface="TT Hoves"/>
                </a:rPr>
                <a:t> on highest risk groups, model misses all accute transfer cases (recall: 0.00, f1-score: 0.01)</a:t>
              </a:r>
            </a:p>
            <a:p>
              <a:pPr marL="561336" lvl="1" indent="-280668" algn="just">
                <a:lnSpc>
                  <a:spcPts val="3639"/>
                </a:lnSpc>
                <a:buFont typeface="Arial"/>
                <a:buChar char="•"/>
              </a:pPr>
              <a:r>
                <a:rPr lang="en-US" sz="2599">
                  <a:solidFill>
                    <a:srgbClr val="F2F7FA"/>
                  </a:solidFill>
                  <a:latin typeface="TT Hoves"/>
                  <a:ea typeface="TT Hoves"/>
                  <a:cs typeface="TT Hoves"/>
                  <a:sym typeface="TT Hoves"/>
                </a:rPr>
                <a:t>Confusion Matrix shows that vast majority of “Transferred to Hospital” class misclassified as “Discharged Home”</a:t>
              </a:r>
            </a:p>
          </p:txBody>
        </p:sp>
      </p:grpSp>
      <p:sp>
        <p:nvSpPr>
          <p:cNvPr id="42" name="TextBox 42"/>
          <p:cNvSpPr txBox="1"/>
          <p:nvPr/>
        </p:nvSpPr>
        <p:spPr>
          <a:xfrm rot="-5400000">
            <a:off x="-4087914" y="4820012"/>
            <a:ext cx="9573824" cy="659404"/>
          </a:xfrm>
          <a:prstGeom prst="rect">
            <a:avLst/>
          </a:prstGeom>
        </p:spPr>
        <p:txBody>
          <a:bodyPr lIns="0" tIns="0" rIns="0" bIns="0" rtlCol="0" anchor="t">
            <a:spAutoFit/>
          </a:bodyPr>
          <a:lstStyle/>
          <a:p>
            <a:pPr algn="l">
              <a:lnSpc>
                <a:spcPts val="4500"/>
              </a:lnSpc>
            </a:pPr>
            <a:r>
              <a:rPr lang="en-US" sz="4639" b="1">
                <a:solidFill>
                  <a:srgbClr val="343434"/>
                </a:solidFill>
                <a:latin typeface="Telegraf Bold"/>
                <a:ea typeface="Telegraf Bold"/>
                <a:cs typeface="Telegraf Bold"/>
                <a:sym typeface="Telegraf Bold"/>
              </a:rPr>
              <a:t>MODEL EVALUATION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grpSp>
        <p:nvGrpSpPr>
          <p:cNvPr id="4" name="Group 4"/>
          <p:cNvGrpSpPr/>
          <p:nvPr/>
        </p:nvGrpSpPr>
        <p:grpSpPr>
          <a:xfrm rot="5400000">
            <a:off x="14969335" y="1122741"/>
            <a:ext cx="643045" cy="7706253"/>
            <a:chOff x="0" y="0"/>
            <a:chExt cx="169362" cy="2029631"/>
          </a:xfrm>
        </p:grpSpPr>
        <p:sp>
          <p:nvSpPr>
            <p:cNvPr id="5" name="Freeform 5"/>
            <p:cNvSpPr/>
            <p:nvPr/>
          </p:nvSpPr>
          <p:spPr>
            <a:xfrm>
              <a:off x="0" y="0"/>
              <a:ext cx="169362" cy="2029631"/>
            </a:xfrm>
            <a:custGeom>
              <a:avLst/>
              <a:gdLst/>
              <a:ahLst/>
              <a:cxnLst/>
              <a:rect l="l" t="t" r="r" b="b"/>
              <a:pathLst>
                <a:path w="169362" h="2029631">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solidFill>
              <a:srgbClr val="000000">
                <a:alpha val="0"/>
              </a:srgbClr>
            </a:solidFill>
            <a:ln w="19050" cap="rnd">
              <a:solidFill>
                <a:srgbClr val="F2F7FA"/>
              </a:solidFill>
              <a:prstDash val="solid"/>
              <a:round/>
            </a:ln>
          </p:spPr>
          <p:txBody>
            <a:bodyPr/>
            <a:lstStyle/>
            <a:p>
              <a:endParaRPr lang="zh-SG" altLang="en-US"/>
            </a:p>
          </p:txBody>
        </p:sp>
        <p:sp>
          <p:nvSpPr>
            <p:cNvPr id="6" name="TextBox 6"/>
            <p:cNvSpPr txBox="1"/>
            <p:nvPr/>
          </p:nvSpPr>
          <p:spPr>
            <a:xfrm>
              <a:off x="0" y="-57150"/>
              <a:ext cx="169362" cy="2086781"/>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2028076" y="4766635"/>
            <a:ext cx="2798032" cy="351790"/>
          </a:xfrm>
          <a:prstGeom prst="rect">
            <a:avLst/>
          </a:prstGeom>
        </p:spPr>
        <p:txBody>
          <a:bodyPr lIns="0" tIns="0" rIns="0" bIns="0" rtlCol="0" anchor="t">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id="8" name="TextBox 8"/>
          <p:cNvSpPr txBox="1"/>
          <p:nvPr/>
        </p:nvSpPr>
        <p:spPr>
          <a:xfrm>
            <a:off x="14826108" y="4766635"/>
            <a:ext cx="2042727" cy="351790"/>
          </a:xfrm>
          <a:prstGeom prst="rect">
            <a:avLst/>
          </a:prstGeom>
        </p:spPr>
        <p:txBody>
          <a:bodyPr lIns="0" tIns="0" rIns="0" bIns="0" rtlCol="0" anchor="t">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id="9" name="TextBox 9"/>
          <p:cNvSpPr txBox="1"/>
          <p:nvPr/>
        </p:nvSpPr>
        <p:spPr>
          <a:xfrm>
            <a:off x="1028700" y="834344"/>
            <a:ext cx="10310181"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OVERALL EVALUATION</a:t>
            </a:r>
          </a:p>
        </p:txBody>
      </p:sp>
      <p:sp>
        <p:nvSpPr>
          <p:cNvPr id="10" name="TextBox 10"/>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grpSp>
        <p:nvGrpSpPr>
          <p:cNvPr id="11" name="Group 11"/>
          <p:cNvGrpSpPr/>
          <p:nvPr/>
        </p:nvGrpSpPr>
        <p:grpSpPr>
          <a:xfrm>
            <a:off x="1028700" y="2516534"/>
            <a:ext cx="16230600" cy="864286"/>
            <a:chOff x="0" y="0"/>
            <a:chExt cx="4274726" cy="227631"/>
          </a:xfrm>
        </p:grpSpPr>
        <p:sp>
          <p:nvSpPr>
            <p:cNvPr id="12" name="Freeform 12"/>
            <p:cNvSpPr/>
            <p:nvPr/>
          </p:nvSpPr>
          <p:spPr>
            <a:xfrm>
              <a:off x="0" y="0"/>
              <a:ext cx="4274726" cy="227631"/>
            </a:xfrm>
            <a:custGeom>
              <a:avLst/>
              <a:gdLst/>
              <a:ahLst/>
              <a:cxnLst/>
              <a:rect l="l" t="t" r="r" b="b"/>
              <a:pathLst>
                <a:path w="4274726" h="227631">
                  <a:moveTo>
                    <a:pt x="15264" y="0"/>
                  </a:moveTo>
                  <a:lnTo>
                    <a:pt x="4259462" y="0"/>
                  </a:lnTo>
                  <a:cubicBezTo>
                    <a:pt x="4263510" y="0"/>
                    <a:pt x="4267393" y="1608"/>
                    <a:pt x="4270255" y="4471"/>
                  </a:cubicBezTo>
                  <a:cubicBezTo>
                    <a:pt x="4273118" y="7333"/>
                    <a:pt x="4274726" y="11216"/>
                    <a:pt x="4274726" y="15264"/>
                  </a:cubicBezTo>
                  <a:lnTo>
                    <a:pt x="4274726" y="212367"/>
                  </a:lnTo>
                  <a:cubicBezTo>
                    <a:pt x="4274726" y="216415"/>
                    <a:pt x="4273118" y="220298"/>
                    <a:pt x="4270255" y="223160"/>
                  </a:cubicBezTo>
                  <a:cubicBezTo>
                    <a:pt x="4267393" y="226023"/>
                    <a:pt x="4263510" y="227631"/>
                    <a:pt x="4259462" y="227631"/>
                  </a:cubicBezTo>
                  <a:lnTo>
                    <a:pt x="15264" y="227631"/>
                  </a:lnTo>
                  <a:cubicBezTo>
                    <a:pt x="11216" y="227631"/>
                    <a:pt x="7333" y="226023"/>
                    <a:pt x="4471" y="223160"/>
                  </a:cubicBezTo>
                  <a:cubicBezTo>
                    <a:pt x="1608" y="220298"/>
                    <a:pt x="0" y="216415"/>
                    <a:pt x="0" y="212367"/>
                  </a:cubicBezTo>
                  <a:lnTo>
                    <a:pt x="0" y="15264"/>
                  </a:lnTo>
                  <a:cubicBezTo>
                    <a:pt x="0" y="11216"/>
                    <a:pt x="1608" y="7333"/>
                    <a:pt x="4471" y="4471"/>
                  </a:cubicBezTo>
                  <a:cubicBezTo>
                    <a:pt x="7333" y="1608"/>
                    <a:pt x="11216" y="0"/>
                    <a:pt x="15264"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3" name="TextBox 13"/>
            <p:cNvSpPr txBox="1"/>
            <p:nvPr/>
          </p:nvSpPr>
          <p:spPr>
            <a:xfrm>
              <a:off x="0" y="-57150"/>
              <a:ext cx="4274726" cy="284781"/>
            </a:xfrm>
            <a:prstGeom prst="rect">
              <a:avLst/>
            </a:prstGeom>
          </p:spPr>
          <p:txBody>
            <a:bodyPr lIns="254000" tIns="254000" rIns="254000" bIns="254000" rtlCol="0" anchor="ctr"/>
            <a:lstStyle/>
            <a:p>
              <a:pPr algn="ctr">
                <a:lnSpc>
                  <a:spcPts val="3639"/>
                </a:lnSpc>
              </a:pPr>
              <a:r>
                <a:rPr lang="en-US" sz="2599" b="1">
                  <a:solidFill>
                    <a:srgbClr val="F2F7FA"/>
                  </a:solidFill>
                  <a:latin typeface="TT Hoves Bold"/>
                  <a:ea typeface="TT Hoves Bold"/>
                  <a:cs typeface="TT Hoves Bold"/>
                  <a:sym typeface="TT Hoves Bold"/>
                </a:rPr>
                <a:t>Recommended Model: Random Forest Classifier</a:t>
              </a:r>
            </a:p>
          </p:txBody>
        </p:sp>
      </p:grpSp>
      <p:sp>
        <p:nvSpPr>
          <p:cNvPr id="14" name="TextBox 14"/>
          <p:cNvSpPr txBox="1"/>
          <p:nvPr/>
        </p:nvSpPr>
        <p:spPr>
          <a:xfrm>
            <a:off x="1028700" y="3529017"/>
            <a:ext cx="16230600" cy="5478138"/>
          </a:xfrm>
          <a:prstGeom prst="rect">
            <a:avLst/>
          </a:prstGeom>
        </p:spPr>
        <p:txBody>
          <a:bodyPr lIns="0" tIns="0" rIns="0" bIns="0" rtlCol="0" anchor="t">
            <a:spAutoFit/>
          </a:bodyPr>
          <a:lstStyle/>
          <a:p>
            <a:pPr algn="just">
              <a:lnSpc>
                <a:spcPts val="3605"/>
              </a:lnSpc>
            </a:pPr>
            <a:r>
              <a:rPr lang="en-US" sz="2575" b="1">
                <a:solidFill>
                  <a:srgbClr val="000000"/>
                </a:solidFill>
                <a:latin typeface="TT Hoves Bold"/>
                <a:ea typeface="TT Hoves Bold"/>
                <a:cs typeface="TT Hoves Bold"/>
                <a:sym typeface="TT Hoves Bold"/>
              </a:rPr>
              <a:t>Key Advantages: </a:t>
            </a:r>
            <a:r>
              <a:rPr lang="en-US" sz="2575">
                <a:solidFill>
                  <a:srgbClr val="000000"/>
                </a:solidFill>
                <a:latin typeface="TT Hoves"/>
                <a:ea typeface="TT Hoves"/>
                <a:cs typeface="TT Hoves"/>
                <a:sym typeface="TT Hoves"/>
              </a:rPr>
              <a:t>Provides the greatest immediate operational benefit due to its superior performance on the "Transferred to Facility-Based Care" class.</a:t>
            </a:r>
          </a:p>
          <a:p>
            <a:pPr algn="just">
              <a:lnSpc>
                <a:spcPts val="3605"/>
              </a:lnSpc>
            </a:pPr>
            <a:endParaRPr lang="en-US" sz="2575">
              <a:solidFill>
                <a:srgbClr val="000000"/>
              </a:solidFill>
              <a:latin typeface="TT Hoves"/>
              <a:ea typeface="TT Hoves"/>
              <a:cs typeface="TT Hoves"/>
              <a:sym typeface="TT Hoves"/>
            </a:endParaRPr>
          </a:p>
          <a:p>
            <a:pPr algn="just">
              <a:lnSpc>
                <a:spcPts val="3605"/>
              </a:lnSpc>
            </a:pPr>
            <a:r>
              <a:rPr lang="en-US" sz="2575" b="1">
                <a:solidFill>
                  <a:srgbClr val="000000"/>
                </a:solidFill>
                <a:latin typeface="TT Hoves Bold"/>
                <a:ea typeface="TT Hoves Bold"/>
                <a:cs typeface="TT Hoves Bold"/>
                <a:sym typeface="TT Hoves Bold"/>
              </a:rPr>
              <a:t>Challenges: </a:t>
            </a:r>
            <a:r>
              <a:rPr lang="en-US" sz="2575">
                <a:solidFill>
                  <a:srgbClr val="000000"/>
                </a:solidFill>
                <a:latin typeface="TT Hoves"/>
                <a:ea typeface="TT Hoves"/>
                <a:cs typeface="TT Hoves"/>
                <a:sym typeface="TT Hoves"/>
              </a:rPr>
              <a:t>Low recall (0.22) for Transferred to Another Hospital (High False Negatives)</a:t>
            </a:r>
          </a:p>
          <a:p>
            <a:pPr algn="just">
              <a:lnSpc>
                <a:spcPts val="3605"/>
              </a:lnSpc>
            </a:pPr>
            <a:endParaRPr lang="en-US" sz="2575">
              <a:solidFill>
                <a:srgbClr val="000000"/>
              </a:solidFill>
              <a:latin typeface="TT Hoves"/>
              <a:ea typeface="TT Hoves"/>
              <a:cs typeface="TT Hoves"/>
              <a:sym typeface="TT Hoves"/>
            </a:endParaRPr>
          </a:p>
          <a:p>
            <a:pPr algn="just">
              <a:lnSpc>
                <a:spcPts val="3605"/>
              </a:lnSpc>
            </a:pPr>
            <a:r>
              <a:rPr lang="en-US" sz="2575" b="1">
                <a:solidFill>
                  <a:srgbClr val="000000"/>
                </a:solidFill>
                <a:latin typeface="TT Hoves Bold"/>
                <a:ea typeface="TT Hoves Bold"/>
                <a:cs typeface="TT Hoves Bold"/>
                <a:sym typeface="TT Hoves Bold"/>
              </a:rPr>
              <a:t>Next Steps (Focus on Random Forest):</a:t>
            </a:r>
          </a:p>
          <a:p>
            <a:pPr marL="556005" lvl="1" indent="-278003" algn="just">
              <a:lnSpc>
                <a:spcPts val="3605"/>
              </a:lnSpc>
              <a:buAutoNum type="arabicPeriod"/>
            </a:pPr>
            <a:r>
              <a:rPr lang="en-US" sz="2575" b="1">
                <a:solidFill>
                  <a:srgbClr val="000000"/>
                </a:solidFill>
                <a:latin typeface="TT Hoves Bold"/>
                <a:ea typeface="TT Hoves Bold"/>
                <a:cs typeface="TT Hoves Bold"/>
                <a:sym typeface="TT Hoves Bold"/>
              </a:rPr>
              <a:t>Hyperparameter Tuning:</a:t>
            </a:r>
            <a:r>
              <a:rPr lang="en-US" sz="2575">
                <a:solidFill>
                  <a:srgbClr val="000000"/>
                </a:solidFill>
                <a:latin typeface="TT Hoves"/>
                <a:ea typeface="TT Hoves"/>
                <a:cs typeface="TT Hoves"/>
                <a:sym typeface="TT Hoves"/>
              </a:rPr>
              <a:t> Explicitly target maximizing the Macro Average F1-Score.</a:t>
            </a:r>
          </a:p>
          <a:p>
            <a:pPr marL="556005" lvl="1" indent="-278003" algn="just">
              <a:lnSpc>
                <a:spcPts val="3605"/>
              </a:lnSpc>
              <a:buAutoNum type="arabicPeriod"/>
            </a:pPr>
            <a:r>
              <a:rPr lang="en-US" sz="2575" b="1">
                <a:solidFill>
                  <a:srgbClr val="000000"/>
                </a:solidFill>
                <a:latin typeface="TT Hoves Bold"/>
                <a:ea typeface="TT Hoves Bold"/>
                <a:cs typeface="TT Hoves Bold"/>
                <a:sym typeface="TT Hoves Bold"/>
              </a:rPr>
              <a:t>Cost-Sensitive Learning:</a:t>
            </a:r>
            <a:r>
              <a:rPr lang="en-US" sz="2575">
                <a:solidFill>
                  <a:srgbClr val="000000"/>
                </a:solidFill>
                <a:latin typeface="TT Hoves"/>
                <a:ea typeface="TT Hoves"/>
                <a:cs typeface="TT Hoves"/>
                <a:sym typeface="TT Hoves"/>
              </a:rPr>
              <a:t> Implement this technique to reduce False Negatives on the acute transfer class.</a:t>
            </a:r>
          </a:p>
          <a:p>
            <a:pPr marL="556005" lvl="1" indent="-278003" algn="just">
              <a:lnSpc>
                <a:spcPts val="3605"/>
              </a:lnSpc>
              <a:buAutoNum type="arabicPeriod"/>
            </a:pPr>
            <a:r>
              <a:rPr lang="en-US" sz="2575" b="1">
                <a:solidFill>
                  <a:srgbClr val="000000"/>
                </a:solidFill>
                <a:latin typeface="TT Hoves Bold"/>
                <a:ea typeface="TT Hoves Bold"/>
                <a:cs typeface="TT Hoves Bold"/>
                <a:sym typeface="TT Hoves Bold"/>
              </a:rPr>
              <a:t>Crucial Note:</a:t>
            </a:r>
            <a:r>
              <a:rPr lang="en-US" sz="2575">
                <a:solidFill>
                  <a:srgbClr val="000000"/>
                </a:solidFill>
                <a:latin typeface="TT Hoves"/>
                <a:ea typeface="TT Hoves"/>
                <a:cs typeface="TT Hoves"/>
                <a:sym typeface="TT Hoves"/>
              </a:rPr>
              <a:t> Be careful to implement these steps without overfitting the model to the training data.</a:t>
            </a:r>
          </a:p>
          <a:p>
            <a:pPr algn="just">
              <a:lnSpc>
                <a:spcPts val="3605"/>
              </a:lnSpc>
            </a:pPr>
            <a:endParaRPr lang="en-US" sz="2575">
              <a:solidFill>
                <a:srgbClr val="000000"/>
              </a:solidFill>
              <a:latin typeface="TT Hoves"/>
              <a:ea typeface="TT Hoves"/>
              <a:cs typeface="TT Hoves"/>
              <a:sym typeface="TT Hoves"/>
            </a:endParaRPr>
          </a:p>
          <a:p>
            <a:pPr algn="just">
              <a:lnSpc>
                <a:spcPts val="3605"/>
              </a:lnSpc>
            </a:pPr>
            <a:endParaRPr lang="en-US" sz="2575">
              <a:solidFill>
                <a:srgbClr val="000000"/>
              </a:solidFill>
              <a:latin typeface="TT Hoves"/>
              <a:ea typeface="TT Hoves"/>
              <a:cs typeface="TT Hoves"/>
              <a:sym typeface="TT Hoves"/>
            </a:endParaRPr>
          </a:p>
          <a:p>
            <a:pPr algn="just">
              <a:lnSpc>
                <a:spcPts val="3605"/>
              </a:lnSpc>
              <a:spcBef>
                <a:spcPct val="0"/>
              </a:spcBef>
            </a:pPr>
            <a:endParaRPr lang="en-US" sz="2575">
              <a:solidFill>
                <a:srgbClr val="000000"/>
              </a:solidFill>
              <a:latin typeface="TT Hoves"/>
              <a:ea typeface="TT Hoves"/>
              <a:cs typeface="TT Hoves"/>
              <a:sym typeface="TT Hoves"/>
            </a:endParaRPr>
          </a:p>
        </p:txBody>
      </p:sp>
      <p:grpSp>
        <p:nvGrpSpPr>
          <p:cNvPr id="15" name="Group 15"/>
          <p:cNvGrpSpPr/>
          <p:nvPr/>
        </p:nvGrpSpPr>
        <p:grpSpPr>
          <a:xfrm>
            <a:off x="1028700" y="8002490"/>
            <a:ext cx="16230600" cy="864286"/>
            <a:chOff x="0" y="0"/>
            <a:chExt cx="4274726" cy="227631"/>
          </a:xfrm>
        </p:grpSpPr>
        <p:sp>
          <p:nvSpPr>
            <p:cNvPr id="16" name="Freeform 16"/>
            <p:cNvSpPr/>
            <p:nvPr/>
          </p:nvSpPr>
          <p:spPr>
            <a:xfrm>
              <a:off x="0" y="0"/>
              <a:ext cx="4274726" cy="227631"/>
            </a:xfrm>
            <a:custGeom>
              <a:avLst/>
              <a:gdLst/>
              <a:ahLst/>
              <a:cxnLst/>
              <a:rect l="l" t="t" r="r" b="b"/>
              <a:pathLst>
                <a:path w="4274726" h="227631">
                  <a:moveTo>
                    <a:pt x="15264" y="0"/>
                  </a:moveTo>
                  <a:lnTo>
                    <a:pt x="4259462" y="0"/>
                  </a:lnTo>
                  <a:cubicBezTo>
                    <a:pt x="4263510" y="0"/>
                    <a:pt x="4267393" y="1608"/>
                    <a:pt x="4270255" y="4471"/>
                  </a:cubicBezTo>
                  <a:cubicBezTo>
                    <a:pt x="4273118" y="7333"/>
                    <a:pt x="4274726" y="11216"/>
                    <a:pt x="4274726" y="15264"/>
                  </a:cubicBezTo>
                  <a:lnTo>
                    <a:pt x="4274726" y="212367"/>
                  </a:lnTo>
                  <a:cubicBezTo>
                    <a:pt x="4274726" y="216415"/>
                    <a:pt x="4273118" y="220298"/>
                    <a:pt x="4270255" y="223160"/>
                  </a:cubicBezTo>
                  <a:cubicBezTo>
                    <a:pt x="4267393" y="226023"/>
                    <a:pt x="4263510" y="227631"/>
                    <a:pt x="4259462" y="227631"/>
                  </a:cubicBezTo>
                  <a:lnTo>
                    <a:pt x="15264" y="227631"/>
                  </a:lnTo>
                  <a:cubicBezTo>
                    <a:pt x="11216" y="227631"/>
                    <a:pt x="7333" y="226023"/>
                    <a:pt x="4471" y="223160"/>
                  </a:cubicBezTo>
                  <a:cubicBezTo>
                    <a:pt x="1608" y="220298"/>
                    <a:pt x="0" y="216415"/>
                    <a:pt x="0" y="212367"/>
                  </a:cubicBezTo>
                  <a:lnTo>
                    <a:pt x="0" y="15264"/>
                  </a:lnTo>
                  <a:cubicBezTo>
                    <a:pt x="0" y="11216"/>
                    <a:pt x="1608" y="7333"/>
                    <a:pt x="4471" y="4471"/>
                  </a:cubicBezTo>
                  <a:cubicBezTo>
                    <a:pt x="7333" y="1608"/>
                    <a:pt x="11216" y="0"/>
                    <a:pt x="15264" y="0"/>
                  </a:cubicBez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17" name="TextBox 17"/>
            <p:cNvSpPr txBox="1"/>
            <p:nvPr/>
          </p:nvSpPr>
          <p:spPr>
            <a:xfrm>
              <a:off x="0" y="-57150"/>
              <a:ext cx="4274726" cy="284781"/>
            </a:xfrm>
            <a:prstGeom prst="rect">
              <a:avLst/>
            </a:prstGeom>
          </p:spPr>
          <p:txBody>
            <a:bodyPr lIns="254000" tIns="254000" rIns="254000" bIns="254000" rtlCol="0" anchor="ctr"/>
            <a:lstStyle/>
            <a:p>
              <a:pPr algn="ctr">
                <a:lnSpc>
                  <a:spcPts val="3639"/>
                </a:lnSpc>
              </a:pPr>
              <a:r>
                <a:rPr lang="en-US" sz="2599" b="1">
                  <a:solidFill>
                    <a:srgbClr val="F2F7FA"/>
                  </a:solidFill>
                  <a:latin typeface="TT Hoves Bold"/>
                  <a:ea typeface="TT Hoves Bold"/>
                  <a:cs typeface="TT Hoves Bold"/>
                  <a:sym typeface="TT Hoves Bold"/>
                </a:rPr>
                <a:t>The Baseline: Logistic Regression </a:t>
              </a:r>
            </a:p>
          </p:txBody>
        </p:sp>
      </p:grpSp>
      <p:sp>
        <p:nvSpPr>
          <p:cNvPr id="18" name="TextBox 18"/>
          <p:cNvSpPr txBox="1"/>
          <p:nvPr/>
        </p:nvSpPr>
        <p:spPr>
          <a:xfrm>
            <a:off x="1028700" y="9159554"/>
            <a:ext cx="16230600" cy="905511"/>
          </a:xfrm>
          <a:prstGeom prst="rect">
            <a:avLst/>
          </a:prstGeom>
        </p:spPr>
        <p:txBody>
          <a:bodyPr lIns="0" tIns="0" rIns="0" bIns="0" rtlCol="0" anchor="t">
            <a:spAutoFit/>
          </a:bodyPr>
          <a:lstStyle/>
          <a:p>
            <a:pPr algn="l">
              <a:lnSpc>
                <a:spcPts val="3639"/>
              </a:lnSpc>
              <a:spcBef>
                <a:spcPct val="0"/>
              </a:spcBef>
            </a:pPr>
            <a:r>
              <a:rPr lang="en-US" sz="2599" b="1">
                <a:solidFill>
                  <a:srgbClr val="000000"/>
                </a:solidFill>
                <a:latin typeface="TT Hoves Bold"/>
                <a:ea typeface="TT Hoves Bold"/>
                <a:cs typeface="TT Hoves Bold"/>
                <a:sym typeface="TT Hoves Bold"/>
              </a:rPr>
              <a:t>Role: </a:t>
            </a:r>
            <a:r>
              <a:rPr lang="en-US" sz="2599">
                <a:solidFill>
                  <a:srgbClr val="000000"/>
                </a:solidFill>
                <a:latin typeface="TT Hoves"/>
                <a:ea typeface="TT Hoves"/>
                <a:cs typeface="TT Hoves"/>
                <a:sym typeface="TT Hoves"/>
              </a:rPr>
              <a:t>Provides a </a:t>
            </a:r>
            <a:r>
              <a:rPr lang="en-US" sz="2599" b="1">
                <a:solidFill>
                  <a:srgbClr val="000000"/>
                </a:solidFill>
                <a:latin typeface="TT Hoves Bold"/>
                <a:ea typeface="TT Hoves Bold"/>
                <a:cs typeface="TT Hoves Bold"/>
                <a:sym typeface="TT Hoves Bold"/>
              </a:rPr>
              <a:t>necessary interpretable baseline</a:t>
            </a:r>
            <a:r>
              <a:rPr lang="en-US" sz="2599">
                <a:solidFill>
                  <a:srgbClr val="000000"/>
                </a:solidFill>
                <a:latin typeface="TT Hoves"/>
                <a:ea typeface="TT Hoves"/>
                <a:cs typeface="TT Hoves"/>
                <a:sym typeface="TT Hoves"/>
              </a:rPr>
              <a:t> and achieves strong recall for both transfer types.</a:t>
            </a:r>
          </a:p>
          <a:p>
            <a:pPr algn="l">
              <a:lnSpc>
                <a:spcPts val="3639"/>
              </a:lnSpc>
              <a:spcBef>
                <a:spcPct val="0"/>
              </a:spcBef>
            </a:pPr>
            <a:r>
              <a:rPr lang="en-US" sz="2599" b="1">
                <a:solidFill>
                  <a:srgbClr val="000000"/>
                </a:solidFill>
                <a:latin typeface="TT Hoves Bold"/>
                <a:ea typeface="TT Hoves Bold"/>
                <a:cs typeface="TT Hoves Bold"/>
                <a:sym typeface="TT Hoves Bold"/>
              </a:rPr>
              <a:t>Limitation:</a:t>
            </a:r>
            <a:r>
              <a:rPr lang="en-US" sz="2599">
                <a:solidFill>
                  <a:srgbClr val="000000"/>
                </a:solidFill>
                <a:latin typeface="TT Hoves"/>
                <a:ea typeface="TT Hoves"/>
                <a:cs typeface="TT Hoves"/>
                <a:sym typeface="TT Hoves"/>
              </a:rPr>
              <a:t> Suffers from </a:t>
            </a:r>
            <a:r>
              <a:rPr lang="en-US" sz="2599" b="1">
                <a:solidFill>
                  <a:srgbClr val="000000"/>
                </a:solidFill>
                <a:latin typeface="TT Hoves Bold"/>
                <a:ea typeface="TT Hoves Bold"/>
                <a:cs typeface="TT Hoves Bold"/>
                <a:sym typeface="TT Hoves Bold"/>
              </a:rPr>
              <a:t>low Precision</a:t>
            </a:r>
            <a:r>
              <a:rPr lang="en-US" sz="2599">
                <a:solidFill>
                  <a:srgbClr val="000000"/>
                </a:solidFill>
                <a:latin typeface="TT Hoves"/>
                <a:ea typeface="TT Hoves"/>
                <a:cs typeface="TT Hoves"/>
                <a:sym typeface="TT Hoves"/>
              </a:rPr>
              <a:t>, which would lead to </a:t>
            </a:r>
            <a:r>
              <a:rPr lang="en-US" sz="2599" b="1">
                <a:solidFill>
                  <a:srgbClr val="000000"/>
                </a:solidFill>
                <a:latin typeface="TT Hoves Bold"/>
                <a:ea typeface="TT Hoves Bold"/>
                <a:cs typeface="TT Hoves Bold"/>
                <a:sym typeface="TT Hoves Bold"/>
              </a:rPr>
              <a:t>significant operational waste</a:t>
            </a:r>
            <a:r>
              <a:rPr lang="en-US" sz="2599">
                <a:solidFill>
                  <a:srgbClr val="000000"/>
                </a:solidFill>
                <a:latin typeface="TT Hoves"/>
                <a:ea typeface="TT Hoves"/>
                <a:cs typeface="TT Hoves"/>
                <a:sym typeface="TT Hoves"/>
              </a:rPr>
              <a:t> if deployed.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sp>
        <p:nvSpPr>
          <p:cNvPr id="4" name="Freeform 4"/>
          <p:cNvSpPr/>
          <p:nvPr/>
        </p:nvSpPr>
        <p:spPr>
          <a:xfrm>
            <a:off x="1028700" y="2955587"/>
            <a:ext cx="10867531" cy="5488103"/>
          </a:xfrm>
          <a:custGeom>
            <a:avLst/>
            <a:gdLst/>
            <a:ahLst/>
            <a:cxnLst/>
            <a:rect l="l" t="t" r="r" b="b"/>
            <a:pathLst>
              <a:path w="10867531" h="5488103">
                <a:moveTo>
                  <a:pt x="0" y="0"/>
                </a:moveTo>
                <a:lnTo>
                  <a:pt x="10867531" y="0"/>
                </a:lnTo>
                <a:lnTo>
                  <a:pt x="10867531" y="5488103"/>
                </a:lnTo>
                <a:lnTo>
                  <a:pt x="0" y="5488103"/>
                </a:lnTo>
                <a:lnTo>
                  <a:pt x="0" y="0"/>
                </a:lnTo>
                <a:close/>
              </a:path>
            </a:pathLst>
          </a:custGeom>
          <a:blipFill>
            <a:blip r:embed="rId5"/>
            <a:stretch>
              <a:fillRect/>
            </a:stretch>
          </a:blipFill>
        </p:spPr>
        <p:txBody>
          <a:bodyPr/>
          <a:lstStyle/>
          <a:p>
            <a:endParaRPr lang="zh-SG" altLang="en-US"/>
          </a:p>
        </p:txBody>
      </p:sp>
      <p:sp>
        <p:nvSpPr>
          <p:cNvPr id="5" name="TextBox 5"/>
          <p:cNvSpPr txBox="1"/>
          <p:nvPr/>
        </p:nvSpPr>
        <p:spPr>
          <a:xfrm>
            <a:off x="1028700" y="834344"/>
            <a:ext cx="14984367"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RANDOM FOREST FEATURE IMPORTANCE</a:t>
            </a:r>
          </a:p>
        </p:txBody>
      </p:sp>
      <p:sp>
        <p:nvSpPr>
          <p:cNvPr id="6" name="TextBox 6"/>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7" name="TextBox 7"/>
          <p:cNvSpPr txBox="1"/>
          <p:nvPr/>
        </p:nvSpPr>
        <p:spPr>
          <a:xfrm>
            <a:off x="12129111" y="2040551"/>
            <a:ext cx="5685456" cy="936626"/>
          </a:xfrm>
          <a:prstGeom prst="rect">
            <a:avLst/>
          </a:prstGeom>
        </p:spPr>
        <p:txBody>
          <a:bodyPr lIns="0" tIns="0" rIns="0" bIns="0" rtlCol="0" anchor="t">
            <a:spAutoFit/>
          </a:bodyPr>
          <a:lstStyle/>
          <a:p>
            <a:pPr algn="l">
              <a:lnSpc>
                <a:spcPts val="3769"/>
              </a:lnSpc>
            </a:pPr>
            <a:r>
              <a:rPr lang="en-US" sz="2599" b="1">
                <a:solidFill>
                  <a:srgbClr val="000000"/>
                </a:solidFill>
                <a:latin typeface="TT Hoves Bold"/>
                <a:ea typeface="TT Hoves Bold"/>
                <a:cs typeface="TT Hoves Bold"/>
                <a:sym typeface="TT Hoves Bold"/>
              </a:rPr>
              <a:t>Age </a:t>
            </a:r>
            <a:r>
              <a:rPr lang="en-US" sz="2599">
                <a:solidFill>
                  <a:srgbClr val="000000"/>
                </a:solidFill>
                <a:latin typeface="TT Hoves"/>
                <a:ea typeface="TT Hoves"/>
                <a:cs typeface="TT Hoves"/>
                <a:sym typeface="TT Hoves"/>
              </a:rPr>
              <a:t>accounts for approximately 15% of model’s predictive power</a:t>
            </a:r>
          </a:p>
        </p:txBody>
      </p:sp>
      <p:sp>
        <p:nvSpPr>
          <p:cNvPr id="8" name="TextBox 8"/>
          <p:cNvSpPr txBox="1"/>
          <p:nvPr/>
        </p:nvSpPr>
        <p:spPr>
          <a:xfrm>
            <a:off x="12129111" y="4721738"/>
            <a:ext cx="5685456" cy="1889126"/>
          </a:xfrm>
          <a:prstGeom prst="rect">
            <a:avLst/>
          </a:prstGeom>
        </p:spPr>
        <p:txBody>
          <a:bodyPr lIns="0" tIns="0" rIns="0" bIns="0" rtlCol="0" anchor="t">
            <a:spAutoFit/>
          </a:bodyPr>
          <a:lstStyle/>
          <a:p>
            <a:pPr algn="l">
              <a:lnSpc>
                <a:spcPts val="3769"/>
              </a:lnSpc>
            </a:pPr>
            <a:r>
              <a:rPr lang="en-US" sz="2599" b="1">
                <a:solidFill>
                  <a:srgbClr val="000000"/>
                </a:solidFill>
                <a:latin typeface="TT Hoves Bold"/>
                <a:ea typeface="TT Hoves Bold"/>
                <a:cs typeface="TT Hoves Bold"/>
                <a:sym typeface="TT Hoves Bold"/>
              </a:rPr>
              <a:t>Volume of care and complexity of patient’s condition </a:t>
            </a:r>
            <a:r>
              <a:rPr lang="en-US" sz="2599">
                <a:solidFill>
                  <a:srgbClr val="000000"/>
                </a:solidFill>
                <a:latin typeface="TT Hoves"/>
                <a:ea typeface="TT Hoves"/>
                <a:cs typeface="TT Hoves"/>
                <a:sym typeface="TT Hoves"/>
              </a:rPr>
              <a:t>are also risk factors when it comes to their discharge destination</a:t>
            </a:r>
          </a:p>
        </p:txBody>
      </p:sp>
      <p:sp>
        <p:nvSpPr>
          <p:cNvPr id="9" name="AutoShape 9"/>
          <p:cNvSpPr/>
          <p:nvPr/>
        </p:nvSpPr>
        <p:spPr>
          <a:xfrm flipV="1">
            <a:off x="11424292" y="2542202"/>
            <a:ext cx="704819" cy="820699"/>
          </a:xfrm>
          <a:prstGeom prst="line">
            <a:avLst/>
          </a:prstGeom>
          <a:ln w="38100" cap="flat">
            <a:solidFill>
              <a:srgbClr val="357DC8"/>
            </a:solidFill>
            <a:prstDash val="solid"/>
            <a:headEnd type="none" w="sm" len="sm"/>
            <a:tailEnd type="none" w="sm" len="sm"/>
          </a:ln>
        </p:spPr>
        <p:txBody>
          <a:bodyPr/>
          <a:lstStyle/>
          <a:p>
            <a:endParaRPr lang="zh-SG" altLang="en-US"/>
          </a:p>
        </p:txBody>
      </p:sp>
      <p:sp>
        <p:nvSpPr>
          <p:cNvPr id="10" name="AutoShape 10"/>
          <p:cNvSpPr/>
          <p:nvPr/>
        </p:nvSpPr>
        <p:spPr>
          <a:xfrm flipH="1">
            <a:off x="8220887" y="3596314"/>
            <a:ext cx="0" cy="509596"/>
          </a:xfrm>
          <a:prstGeom prst="line">
            <a:avLst/>
          </a:prstGeom>
          <a:ln w="38100" cap="flat">
            <a:solidFill>
              <a:srgbClr val="357DC8"/>
            </a:solidFill>
            <a:prstDash val="solid"/>
            <a:headEnd type="arrow" w="med" len="sm"/>
            <a:tailEnd type="arrow" w="med" len="sm"/>
          </a:ln>
        </p:spPr>
        <p:txBody>
          <a:bodyPr/>
          <a:lstStyle/>
          <a:p>
            <a:endParaRPr lang="zh-SG" altLang="en-US"/>
          </a:p>
        </p:txBody>
      </p:sp>
      <p:sp>
        <p:nvSpPr>
          <p:cNvPr id="11" name="AutoShape 11"/>
          <p:cNvSpPr/>
          <p:nvPr/>
        </p:nvSpPr>
        <p:spPr>
          <a:xfrm flipH="1">
            <a:off x="6826389" y="4194752"/>
            <a:ext cx="0" cy="509596"/>
          </a:xfrm>
          <a:prstGeom prst="line">
            <a:avLst/>
          </a:prstGeom>
          <a:ln w="38100" cap="flat">
            <a:solidFill>
              <a:srgbClr val="357DC8"/>
            </a:solidFill>
            <a:prstDash val="solid"/>
            <a:headEnd type="arrow" w="med" len="sm"/>
            <a:tailEnd type="arrow" w="med" len="sm"/>
          </a:ln>
        </p:spPr>
        <p:txBody>
          <a:bodyPr/>
          <a:lstStyle/>
          <a:p>
            <a:endParaRPr lang="zh-SG" altLang="en-US"/>
          </a:p>
        </p:txBody>
      </p:sp>
      <p:sp>
        <p:nvSpPr>
          <p:cNvPr id="12" name="AutoShape 12"/>
          <p:cNvSpPr/>
          <p:nvPr/>
        </p:nvSpPr>
        <p:spPr>
          <a:xfrm>
            <a:off x="8479599" y="3899093"/>
            <a:ext cx="3649512" cy="1800545"/>
          </a:xfrm>
          <a:prstGeom prst="line">
            <a:avLst/>
          </a:prstGeom>
          <a:ln w="38100" cap="flat">
            <a:solidFill>
              <a:srgbClr val="357DC8"/>
            </a:solidFill>
            <a:prstDash val="solid"/>
            <a:headEnd type="none" w="sm" len="sm"/>
            <a:tailEnd type="none" w="sm" len="sm"/>
          </a:ln>
        </p:spPr>
        <p:txBody>
          <a:bodyPr/>
          <a:lstStyle/>
          <a:p>
            <a:endParaRPr lang="zh-SG" altLang="en-US"/>
          </a:p>
        </p:txBody>
      </p:sp>
      <p:sp>
        <p:nvSpPr>
          <p:cNvPr id="13" name="AutoShape 13"/>
          <p:cNvSpPr/>
          <p:nvPr/>
        </p:nvSpPr>
        <p:spPr>
          <a:xfrm>
            <a:off x="7121909" y="4530090"/>
            <a:ext cx="5007202" cy="1169549"/>
          </a:xfrm>
          <a:prstGeom prst="line">
            <a:avLst/>
          </a:prstGeom>
          <a:ln w="38100" cap="flat">
            <a:solidFill>
              <a:srgbClr val="357DC8"/>
            </a:solidFill>
            <a:prstDash val="solid"/>
            <a:headEnd type="none" w="sm" len="sm"/>
            <a:tailEnd type="none" w="sm" len="sm"/>
          </a:ln>
        </p:spPr>
        <p:txBody>
          <a:bodyPr/>
          <a:lstStyle/>
          <a:p>
            <a:endParaRPr lang="zh-SG"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sp>
        <p:nvSpPr>
          <p:cNvPr id="4" name="Freeform 4"/>
          <p:cNvSpPr/>
          <p:nvPr/>
        </p:nvSpPr>
        <p:spPr>
          <a:xfrm>
            <a:off x="1442409" y="2414974"/>
            <a:ext cx="5989808" cy="7141351"/>
          </a:xfrm>
          <a:custGeom>
            <a:avLst/>
            <a:gdLst/>
            <a:ahLst/>
            <a:cxnLst/>
            <a:rect l="l" t="t" r="r" b="b"/>
            <a:pathLst>
              <a:path w="5989808" h="7141351">
                <a:moveTo>
                  <a:pt x="0" y="0"/>
                </a:moveTo>
                <a:lnTo>
                  <a:pt x="5989808" y="0"/>
                </a:lnTo>
                <a:lnTo>
                  <a:pt x="5989808" y="7141351"/>
                </a:lnTo>
                <a:lnTo>
                  <a:pt x="0" y="7141351"/>
                </a:lnTo>
                <a:lnTo>
                  <a:pt x="0" y="0"/>
                </a:lnTo>
                <a:close/>
              </a:path>
            </a:pathLst>
          </a:custGeom>
          <a:blipFill>
            <a:blip r:embed="rId5"/>
            <a:stretch>
              <a:fillRect/>
            </a:stretch>
          </a:blipFill>
        </p:spPr>
        <p:txBody>
          <a:bodyPr/>
          <a:lstStyle/>
          <a:p>
            <a:endParaRPr lang="zh-SG" altLang="en-US"/>
          </a:p>
        </p:txBody>
      </p:sp>
      <p:sp>
        <p:nvSpPr>
          <p:cNvPr id="6" name="TextBox 6"/>
          <p:cNvSpPr txBox="1"/>
          <p:nvPr/>
        </p:nvSpPr>
        <p:spPr>
          <a:xfrm>
            <a:off x="1028700" y="834344"/>
            <a:ext cx="17259300"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FEATURE CONTRIBUTION - SHAP ANALYSIS</a:t>
            </a:r>
          </a:p>
        </p:txBody>
      </p:sp>
      <p:sp>
        <p:nvSpPr>
          <p:cNvPr id="7" name="TextBox 7"/>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8" name="TextBox 8"/>
          <p:cNvSpPr txBox="1"/>
          <p:nvPr/>
        </p:nvSpPr>
        <p:spPr>
          <a:xfrm>
            <a:off x="7903070" y="2339041"/>
            <a:ext cx="10384930" cy="1607186"/>
          </a:xfrm>
          <a:prstGeom prst="rect">
            <a:avLst/>
          </a:prstGeom>
        </p:spPr>
        <p:txBody>
          <a:bodyPr lIns="0" tIns="0" rIns="0" bIns="0" rtlCol="0" anchor="t">
            <a:spAutoFit/>
          </a:bodyPr>
          <a:lstStyle/>
          <a:p>
            <a:pPr algn="l">
              <a:lnSpc>
                <a:spcPts val="4339"/>
              </a:lnSpc>
              <a:spcBef>
                <a:spcPct val="0"/>
              </a:spcBef>
            </a:pPr>
            <a:r>
              <a:rPr lang="en-US" sz="3099" b="1">
                <a:solidFill>
                  <a:srgbClr val="000000"/>
                </a:solidFill>
                <a:latin typeface="TT Hoves Bold"/>
                <a:ea typeface="TT Hoves Bold"/>
                <a:cs typeface="TT Hoves Bold"/>
                <a:sym typeface="TT Hoves Bold"/>
              </a:rPr>
              <a:t>Key Drivers for "Facility-Based Care" Prediction</a:t>
            </a:r>
          </a:p>
          <a:p>
            <a:pPr algn="l">
              <a:lnSpc>
                <a:spcPts val="4339"/>
              </a:lnSpc>
              <a:spcBef>
                <a:spcPct val="0"/>
              </a:spcBef>
            </a:pPr>
            <a:r>
              <a:rPr lang="en-US" sz="3099">
                <a:solidFill>
                  <a:srgbClr val="000000"/>
                </a:solidFill>
                <a:latin typeface="TT Hoves"/>
                <a:ea typeface="TT Hoves"/>
                <a:cs typeface="TT Hoves"/>
                <a:sym typeface="TT Hoves"/>
              </a:rPr>
              <a:t>Age and Number of Diagnoses are the primary drivers, exerting the widest influence on the model's output.</a:t>
            </a:r>
          </a:p>
        </p:txBody>
      </p:sp>
      <p:sp>
        <p:nvSpPr>
          <p:cNvPr id="9" name="TextBox 9"/>
          <p:cNvSpPr txBox="1"/>
          <p:nvPr/>
        </p:nvSpPr>
        <p:spPr>
          <a:xfrm>
            <a:off x="7707216" y="7765414"/>
            <a:ext cx="10344367" cy="1607186"/>
          </a:xfrm>
          <a:prstGeom prst="rect">
            <a:avLst/>
          </a:prstGeom>
        </p:spPr>
        <p:txBody>
          <a:bodyPr lIns="0" tIns="0" rIns="0" bIns="0" rtlCol="0" anchor="t">
            <a:spAutoFit/>
          </a:bodyPr>
          <a:lstStyle/>
          <a:p>
            <a:pPr algn="l">
              <a:lnSpc>
                <a:spcPts val="4339"/>
              </a:lnSpc>
              <a:spcBef>
                <a:spcPct val="0"/>
              </a:spcBef>
            </a:pPr>
            <a:r>
              <a:rPr lang="en-US" sz="3099">
                <a:solidFill>
                  <a:srgbClr val="000000"/>
                </a:solidFill>
                <a:latin typeface="TT Hoves"/>
                <a:ea typeface="TT Hoves"/>
                <a:cs typeface="TT Hoves"/>
                <a:sym typeface="TT Hoves"/>
              </a:rPr>
              <a:t>The analysis confirms that </a:t>
            </a:r>
            <a:r>
              <a:rPr lang="en-US" sz="3099" b="1">
                <a:solidFill>
                  <a:srgbClr val="000000"/>
                </a:solidFill>
                <a:latin typeface="TT Hoves Bold"/>
                <a:ea typeface="TT Hoves Bold"/>
                <a:cs typeface="TT Hoves Bold"/>
                <a:sym typeface="TT Hoves Bold"/>
              </a:rPr>
              <a:t>patient frailty</a:t>
            </a:r>
            <a:r>
              <a:rPr lang="en-US" sz="3099">
                <a:solidFill>
                  <a:srgbClr val="000000"/>
                </a:solidFill>
                <a:latin typeface="TT Hoves"/>
                <a:ea typeface="TT Hoves"/>
                <a:cs typeface="TT Hoves"/>
                <a:sym typeface="TT Hoves"/>
              </a:rPr>
              <a:t> (Age) and </a:t>
            </a:r>
            <a:r>
              <a:rPr lang="en-US" sz="3099" b="1">
                <a:solidFill>
                  <a:srgbClr val="000000"/>
                </a:solidFill>
                <a:latin typeface="TT Hoves Bold"/>
                <a:ea typeface="TT Hoves Bold"/>
                <a:cs typeface="TT Hoves Bold"/>
                <a:sym typeface="TT Hoves Bold"/>
              </a:rPr>
              <a:t>chronicity </a:t>
            </a:r>
            <a:r>
              <a:rPr lang="en-US" sz="3099">
                <a:solidFill>
                  <a:srgbClr val="000000"/>
                </a:solidFill>
                <a:latin typeface="TT Hoves"/>
                <a:ea typeface="TT Hoves"/>
                <a:cs typeface="TT Hoves"/>
                <a:sym typeface="TT Hoves"/>
              </a:rPr>
              <a:t>(Number of Diagnoses) are the strongest factors that determine a patient's </a:t>
            </a:r>
            <a:r>
              <a:rPr lang="en-US" sz="3099" b="1">
                <a:solidFill>
                  <a:srgbClr val="000000"/>
                </a:solidFill>
                <a:latin typeface="TT Hoves Bold"/>
                <a:ea typeface="TT Hoves Bold"/>
                <a:cs typeface="TT Hoves Bold"/>
                <a:sym typeface="TT Hoves Bold"/>
              </a:rPr>
              <a:t>final discharge disposition</a:t>
            </a:r>
            <a:r>
              <a:rPr lang="en-US" sz="3099">
                <a:solidFill>
                  <a:srgbClr val="000000"/>
                </a:solidFill>
                <a:latin typeface="TT Hoves"/>
                <a:ea typeface="TT Hoves"/>
                <a:cs typeface="TT Hoves"/>
                <a:sym typeface="TT Hoves"/>
              </a:rPr>
              <a:t>.</a:t>
            </a:r>
          </a:p>
        </p:txBody>
      </p:sp>
      <p:graphicFrame>
        <p:nvGraphicFramePr>
          <p:cNvPr id="10" name="表格 9">
            <a:extLst>
              <a:ext uri="{FF2B5EF4-FFF2-40B4-BE49-F238E27FC236}">
                <a16:creationId xmlns:a16="http://schemas.microsoft.com/office/drawing/2014/main" id="{B876BCCE-006A-EC2B-95F1-3551185FED33}"/>
              </a:ext>
            </a:extLst>
          </p:cNvPr>
          <p:cNvGraphicFramePr>
            <a:graphicFrameLocks noGrp="1"/>
          </p:cNvGraphicFramePr>
          <p:nvPr>
            <p:extLst>
              <p:ext uri="{D42A27DB-BD31-4B8C-83A1-F6EECF244321}">
                <p14:modId xmlns:p14="http://schemas.microsoft.com/office/powerpoint/2010/main" val="612856406"/>
              </p:ext>
            </p:extLst>
          </p:nvPr>
        </p:nvGraphicFramePr>
        <p:xfrm>
          <a:off x="7903070" y="4169106"/>
          <a:ext cx="9318129" cy="3259758"/>
        </p:xfrm>
        <a:graphic>
          <a:graphicData uri="http://schemas.openxmlformats.org/drawingml/2006/table">
            <a:tbl>
              <a:tblPr/>
              <a:tblGrid>
                <a:gridCol w="3106043">
                  <a:extLst>
                    <a:ext uri="{9D8B030D-6E8A-4147-A177-3AD203B41FA5}">
                      <a16:colId xmlns:a16="http://schemas.microsoft.com/office/drawing/2014/main" val="570499924"/>
                    </a:ext>
                  </a:extLst>
                </a:gridCol>
                <a:gridCol w="3106043">
                  <a:extLst>
                    <a:ext uri="{9D8B030D-6E8A-4147-A177-3AD203B41FA5}">
                      <a16:colId xmlns:a16="http://schemas.microsoft.com/office/drawing/2014/main" val="15167016"/>
                    </a:ext>
                  </a:extLst>
                </a:gridCol>
                <a:gridCol w="3106043">
                  <a:extLst>
                    <a:ext uri="{9D8B030D-6E8A-4147-A177-3AD203B41FA5}">
                      <a16:colId xmlns:a16="http://schemas.microsoft.com/office/drawing/2014/main" val="3770414116"/>
                    </a:ext>
                  </a:extLst>
                </a:gridCol>
              </a:tblGrid>
              <a:tr h="849306">
                <a:tc>
                  <a:txBody>
                    <a:bodyPr/>
                    <a:lstStyle/>
                    <a:p>
                      <a:pPr>
                        <a:buNone/>
                      </a:pPr>
                      <a:r>
                        <a:rPr lang="en-SG" sz="2400" b="1">
                          <a:solidFill>
                            <a:srgbClr val="1B1C1D"/>
                          </a:solidFill>
                          <a:effectLst/>
                        </a:rPr>
                        <a:t>Feature Value</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FEFEF"/>
                    </a:solidFill>
                  </a:tcPr>
                </a:tc>
                <a:tc>
                  <a:txBody>
                    <a:bodyPr/>
                    <a:lstStyle/>
                    <a:p>
                      <a:pPr>
                        <a:buNone/>
                      </a:pPr>
                      <a:r>
                        <a:rPr lang="en-SG" sz="2400" b="1">
                          <a:solidFill>
                            <a:srgbClr val="1B1C1D"/>
                          </a:solidFill>
                          <a:effectLst/>
                        </a:rPr>
                        <a:t>Impact on Prediction</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FEFEF"/>
                    </a:solidFill>
                  </a:tcPr>
                </a:tc>
                <a:tc>
                  <a:txBody>
                    <a:bodyPr/>
                    <a:lstStyle/>
                    <a:p>
                      <a:pPr>
                        <a:buNone/>
                      </a:pPr>
                      <a:r>
                        <a:rPr lang="en-SG" sz="2400" b="1">
                          <a:solidFill>
                            <a:srgbClr val="1B1C1D"/>
                          </a:solidFill>
                          <a:effectLst/>
                        </a:rPr>
                        <a:t>Interpretation</a:t>
                      </a: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FEFEF"/>
                    </a:solidFill>
                  </a:tcPr>
                </a:tc>
                <a:extLst>
                  <a:ext uri="{0D108BD9-81ED-4DB2-BD59-A6C34878D82A}">
                    <a16:rowId xmlns:a16="http://schemas.microsoft.com/office/drawing/2014/main" val="4160631009"/>
                  </a:ext>
                </a:extLst>
              </a:tr>
              <a:tr h="1205226">
                <a:tc>
                  <a:txBody>
                    <a:bodyPr/>
                    <a:lstStyle/>
                    <a:p>
                      <a:pPr algn="l" rtl="0">
                        <a:buNone/>
                      </a:pPr>
                      <a:r>
                        <a:rPr lang="en-SG" sz="2400" b="1" i="0">
                          <a:solidFill>
                            <a:srgbClr val="1B1C1D"/>
                          </a:solidFill>
                          <a:effectLst/>
                        </a:rPr>
                        <a:t>High Age</a:t>
                      </a:r>
                      <a:r>
                        <a:rPr lang="en-SG" sz="2400" b="0" i="0">
                          <a:solidFill>
                            <a:srgbClr val="000000"/>
                          </a:solidFill>
                          <a:effectLst/>
                        </a:rPr>
                        <a:t> &amp; </a:t>
                      </a:r>
                      <a:r>
                        <a:rPr lang="en-SG" sz="2400" b="1" i="0">
                          <a:solidFill>
                            <a:srgbClr val="1B1C1D"/>
                          </a:solidFill>
                          <a:effectLst/>
                        </a:rPr>
                        <a:t>High Number of Diagnoses</a:t>
                      </a:r>
                      <a:endParaRPr lang="en-SG" sz="2400">
                        <a:effectLst/>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SG" sz="2400" b="1" i="0">
                          <a:solidFill>
                            <a:srgbClr val="1B1C1D"/>
                          </a:solidFill>
                          <a:effectLst/>
                        </a:rPr>
                        <a:t>Significantly Increases</a:t>
                      </a:r>
                      <a:r>
                        <a:rPr lang="en-SG" sz="2400" b="0" i="0">
                          <a:solidFill>
                            <a:srgbClr val="000000"/>
                          </a:solidFill>
                          <a:effectLst/>
                        </a:rPr>
                        <a:t>Likelihood</a:t>
                      </a:r>
                      <a:endParaRPr lang="en-SG" sz="2400">
                        <a:effectLst/>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SG" sz="2400" b="0" i="0" dirty="0">
                          <a:solidFill>
                            <a:srgbClr val="1B1C1D"/>
                          </a:solidFill>
                          <a:effectLst/>
                        </a:rPr>
                        <a:t>Strong indicator for </a:t>
                      </a:r>
                      <a:r>
                        <a:rPr lang="en-SG" sz="2400" b="1" i="0" dirty="0">
                          <a:solidFill>
                            <a:srgbClr val="1B1C1D"/>
                          </a:solidFill>
                          <a:effectLst/>
                        </a:rPr>
                        <a:t>Facility-Based Care</a:t>
                      </a:r>
                      <a:r>
                        <a:rPr lang="en-SG" sz="2400" b="0" i="0" dirty="0">
                          <a:solidFill>
                            <a:srgbClr val="1B1C1D"/>
                          </a:solidFill>
                          <a:effectLst/>
                        </a:rPr>
                        <a:t>.</a:t>
                      </a:r>
                      <a:endParaRPr lang="en-SG" sz="2400" dirty="0">
                        <a:solidFill>
                          <a:srgbClr val="1B1C1D"/>
                        </a:solidFill>
                        <a:effectLst/>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222364967"/>
                  </a:ext>
                </a:extLst>
              </a:tr>
              <a:tr h="1205226">
                <a:tc>
                  <a:txBody>
                    <a:bodyPr/>
                    <a:lstStyle/>
                    <a:p>
                      <a:pPr algn="l" rtl="0">
                        <a:buNone/>
                      </a:pPr>
                      <a:r>
                        <a:rPr lang="en-SG" sz="2400" b="1" i="0">
                          <a:solidFill>
                            <a:srgbClr val="1B1C1D"/>
                          </a:solidFill>
                          <a:effectLst/>
                        </a:rPr>
                        <a:t>Low Age</a:t>
                      </a:r>
                      <a:r>
                        <a:rPr lang="en-SG" sz="2400" b="0" i="0">
                          <a:solidFill>
                            <a:srgbClr val="000000"/>
                          </a:solidFill>
                          <a:effectLst/>
                        </a:rPr>
                        <a:t> &amp; </a:t>
                      </a:r>
                      <a:r>
                        <a:rPr lang="en-SG" sz="2400" b="1" i="0">
                          <a:solidFill>
                            <a:srgbClr val="1B1C1D"/>
                          </a:solidFill>
                          <a:effectLst/>
                        </a:rPr>
                        <a:t>Low Number of Diagnoses</a:t>
                      </a:r>
                      <a:endParaRPr lang="en-SG" sz="2400">
                        <a:effectLst/>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SG" sz="2400" b="1" i="0">
                          <a:solidFill>
                            <a:srgbClr val="1B1C1D"/>
                          </a:solidFill>
                          <a:effectLst/>
                        </a:rPr>
                        <a:t>Significantly Decreases</a:t>
                      </a:r>
                      <a:r>
                        <a:rPr lang="en-SG" sz="2400" b="0" i="0">
                          <a:solidFill>
                            <a:srgbClr val="000000"/>
                          </a:solidFill>
                          <a:effectLst/>
                        </a:rPr>
                        <a:t> Likelihood </a:t>
                      </a:r>
                      <a:endParaRPr lang="en-SG" sz="2400">
                        <a:effectLst/>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SG" sz="2400" b="0" i="0" dirty="0">
                          <a:solidFill>
                            <a:srgbClr val="1B1C1D"/>
                          </a:solidFill>
                          <a:effectLst/>
                        </a:rPr>
                        <a:t>Strong indicator for </a:t>
                      </a:r>
                      <a:r>
                        <a:rPr lang="en-SG" sz="2400" b="1" i="0" dirty="0">
                          <a:solidFill>
                            <a:srgbClr val="1B1C1D"/>
                          </a:solidFill>
                          <a:effectLst/>
                        </a:rPr>
                        <a:t>Discharge Home</a:t>
                      </a:r>
                      <a:r>
                        <a:rPr lang="en-SG" sz="2400" b="0" i="0" dirty="0">
                          <a:solidFill>
                            <a:srgbClr val="1B1C1D"/>
                          </a:solidFill>
                          <a:effectLst/>
                        </a:rPr>
                        <a:t>.</a:t>
                      </a:r>
                      <a:endParaRPr lang="en-SG" sz="2400" dirty="0">
                        <a:solidFill>
                          <a:srgbClr val="1B1C1D"/>
                        </a:solidFill>
                        <a:effectLst/>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545248784"/>
                  </a:ext>
                </a:extLst>
              </a:tr>
            </a:tbl>
          </a:graphicData>
        </a:graphic>
      </p:graphicFrame>
      <p:sp>
        <p:nvSpPr>
          <p:cNvPr id="11" name="Rectangle 1">
            <a:extLst>
              <a:ext uri="{FF2B5EF4-FFF2-40B4-BE49-F238E27FC236}">
                <a16:creationId xmlns:a16="http://schemas.microsoft.com/office/drawing/2014/main" id="{C114AACA-21C3-DAF1-57D1-F331E6B77481}"/>
              </a:ext>
            </a:extLst>
          </p:cNvPr>
          <p:cNvSpPr>
            <a:spLocks noChangeArrowheads="1"/>
          </p:cNvSpPr>
          <p:nvPr/>
        </p:nvSpPr>
        <p:spPr bwMode="auto">
          <a:xfrm>
            <a:off x="7903070" y="4169586"/>
            <a:ext cx="2070695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SG"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565348" flipH="1">
            <a:off x="-1362223" y="-2212276"/>
            <a:ext cx="10441422" cy="4424552"/>
          </a:xfrm>
          <a:custGeom>
            <a:avLst/>
            <a:gdLst/>
            <a:ahLst/>
            <a:cxnLst/>
            <a:rect l="l" t="t" r="r" b="b"/>
            <a:pathLst>
              <a:path w="10441422" h="4424552">
                <a:moveTo>
                  <a:pt x="10441421" y="0"/>
                </a:moveTo>
                <a:lnTo>
                  <a:pt x="0" y="0"/>
                </a:lnTo>
                <a:lnTo>
                  <a:pt x="0" y="4424552"/>
                </a:lnTo>
                <a:lnTo>
                  <a:pt x="10441421" y="4424552"/>
                </a:lnTo>
                <a:lnTo>
                  <a:pt x="10441421" y="0"/>
                </a:lnTo>
                <a:close/>
              </a:path>
            </a:pathLst>
          </a:custGeom>
          <a:blipFill>
            <a:blip r:embed="rId3"/>
            <a:stretch>
              <a:fillRect/>
            </a:stretch>
          </a:blipFill>
        </p:spPr>
        <p:txBody>
          <a:bodyPr/>
          <a:lstStyle/>
          <a:p>
            <a:endParaRPr lang="zh-SG" altLang="en-US"/>
          </a:p>
        </p:txBody>
      </p:sp>
      <p:sp>
        <p:nvSpPr>
          <p:cNvPr id="3" name="Freeform 3"/>
          <p:cNvSpPr/>
          <p:nvPr/>
        </p:nvSpPr>
        <p:spPr>
          <a:xfrm rot="8250927">
            <a:off x="11104101" y="6534333"/>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4"/>
            <a:stretch>
              <a:fillRect/>
            </a:stretch>
          </a:blipFill>
        </p:spPr>
        <p:txBody>
          <a:bodyPr/>
          <a:lstStyle/>
          <a:p>
            <a:endParaRPr lang="zh-SG" altLang="en-US"/>
          </a:p>
        </p:txBody>
      </p:sp>
      <p:sp>
        <p:nvSpPr>
          <p:cNvPr id="4" name="TextBox 4"/>
          <p:cNvSpPr txBox="1"/>
          <p:nvPr/>
        </p:nvSpPr>
        <p:spPr>
          <a:xfrm>
            <a:off x="1028700" y="834344"/>
            <a:ext cx="13357032" cy="766846"/>
          </a:xfrm>
          <a:prstGeom prst="rect">
            <a:avLst/>
          </a:prstGeom>
        </p:spPr>
        <p:txBody>
          <a:bodyPr lIns="0" tIns="0" rIns="0" bIns="0" rtlCol="0" anchor="t">
            <a:spAutoFit/>
          </a:bodyPr>
          <a:lstStyle/>
          <a:p>
            <a:pPr algn="l">
              <a:lnSpc>
                <a:spcPts val="5221"/>
              </a:lnSpc>
            </a:pPr>
            <a:r>
              <a:rPr lang="en-US" sz="5383" b="1">
                <a:solidFill>
                  <a:srgbClr val="343434"/>
                </a:solidFill>
                <a:latin typeface="Telegraf Bold"/>
                <a:ea typeface="Telegraf Bold"/>
                <a:cs typeface="Telegraf Bold"/>
                <a:sym typeface="Telegraf Bold"/>
              </a:rPr>
              <a:t>LOCAL SHAP ANALYSIS</a:t>
            </a:r>
          </a:p>
        </p:txBody>
      </p:sp>
      <p:sp>
        <p:nvSpPr>
          <p:cNvPr id="5" name="TextBox 5"/>
          <p:cNvSpPr txBox="1"/>
          <p:nvPr/>
        </p:nvSpPr>
        <p:spPr>
          <a:xfrm>
            <a:off x="1028700" y="1534515"/>
            <a:ext cx="10310181" cy="59690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TT Hoves"/>
                <a:ea typeface="TT Hoves"/>
                <a:cs typeface="TT Hoves"/>
                <a:sym typeface="TT Hoves"/>
              </a:rPr>
              <a:t>Multi-Class Classification</a:t>
            </a:r>
          </a:p>
        </p:txBody>
      </p:sp>
      <p:sp>
        <p:nvSpPr>
          <p:cNvPr id="6" name="TextBox 6"/>
          <p:cNvSpPr txBox="1"/>
          <p:nvPr/>
        </p:nvSpPr>
        <p:spPr>
          <a:xfrm>
            <a:off x="1042664" y="2357809"/>
            <a:ext cx="17245336" cy="7315201"/>
          </a:xfrm>
          <a:prstGeom prst="rect">
            <a:avLst/>
          </a:prstGeom>
        </p:spPr>
        <p:txBody>
          <a:bodyPr lIns="0" tIns="0" rIns="0" bIns="0" rtlCol="0" anchor="t">
            <a:spAutoFit/>
          </a:bodyPr>
          <a:lstStyle/>
          <a:p>
            <a:pPr algn="l">
              <a:lnSpc>
                <a:spcPts val="4199"/>
              </a:lnSpc>
              <a:spcBef>
                <a:spcPct val="0"/>
              </a:spcBef>
            </a:pPr>
            <a:r>
              <a:rPr lang="en-US" sz="2999" b="1">
                <a:solidFill>
                  <a:srgbClr val="000000"/>
                </a:solidFill>
                <a:latin typeface="TT Hoves Bold"/>
                <a:ea typeface="TT Hoves Bold"/>
                <a:cs typeface="TT Hoves Bold"/>
                <a:sym typeface="TT Hoves Bold"/>
              </a:rPr>
              <a:t>Prediction: Discharge Home </a:t>
            </a:r>
            <a:r>
              <a:rPr lang="en-US" sz="2999">
                <a:solidFill>
                  <a:srgbClr val="000000"/>
                </a:solidFill>
                <a:latin typeface="TT Hoves"/>
                <a:ea typeface="TT Hoves"/>
                <a:cs typeface="TT Hoves"/>
                <a:sym typeface="TT Hoves"/>
              </a:rPr>
              <a:t>(f(x) = 0.1) – Strong prediction.</a:t>
            </a:r>
          </a:p>
          <a:p>
            <a:pPr algn="l">
              <a:lnSpc>
                <a:spcPts val="4199"/>
              </a:lnSpc>
              <a:spcBef>
                <a:spcPct val="0"/>
              </a:spcBef>
            </a:pPr>
            <a:endParaRPr lang="en-US" sz="2999">
              <a:solidFill>
                <a:srgbClr val="000000"/>
              </a:solidFill>
              <a:latin typeface="TT Hoves"/>
              <a:ea typeface="TT Hoves"/>
              <a:cs typeface="TT Hoves"/>
              <a:sym typeface="TT Hoves"/>
            </a:endParaRPr>
          </a:p>
          <a:p>
            <a:pPr algn="l">
              <a:lnSpc>
                <a:spcPts val="4199"/>
              </a:lnSpc>
              <a:spcBef>
                <a:spcPct val="0"/>
              </a:spcBef>
            </a:pPr>
            <a:endParaRPr lang="en-US" sz="2999">
              <a:solidFill>
                <a:srgbClr val="000000"/>
              </a:solidFill>
              <a:latin typeface="TT Hoves"/>
              <a:ea typeface="TT Hoves"/>
              <a:cs typeface="TT Hoves"/>
              <a:sym typeface="TT Hoves"/>
            </a:endParaRPr>
          </a:p>
          <a:p>
            <a:pPr algn="l">
              <a:lnSpc>
                <a:spcPts val="4199"/>
              </a:lnSpc>
              <a:spcBef>
                <a:spcPct val="0"/>
              </a:spcBef>
            </a:pPr>
            <a:endParaRPr lang="en-US" sz="2999">
              <a:solidFill>
                <a:srgbClr val="000000"/>
              </a:solidFill>
              <a:latin typeface="TT Hoves"/>
              <a:ea typeface="TT Hoves"/>
              <a:cs typeface="TT Hoves"/>
              <a:sym typeface="TT Hoves"/>
            </a:endParaRPr>
          </a:p>
          <a:p>
            <a:pPr algn="l">
              <a:lnSpc>
                <a:spcPts val="4199"/>
              </a:lnSpc>
              <a:spcBef>
                <a:spcPct val="0"/>
              </a:spcBef>
            </a:pPr>
            <a:endParaRPr lang="en-US" sz="2999">
              <a:solidFill>
                <a:srgbClr val="000000"/>
              </a:solidFill>
              <a:latin typeface="TT Hoves"/>
              <a:ea typeface="TT Hoves"/>
              <a:cs typeface="TT Hoves"/>
              <a:sym typeface="TT Hoves"/>
            </a:endParaRPr>
          </a:p>
          <a:p>
            <a:pPr algn="l">
              <a:lnSpc>
                <a:spcPts val="4199"/>
              </a:lnSpc>
              <a:spcBef>
                <a:spcPct val="0"/>
              </a:spcBef>
            </a:pPr>
            <a:endParaRPr lang="en-US" sz="2999">
              <a:solidFill>
                <a:srgbClr val="000000"/>
              </a:solidFill>
              <a:latin typeface="TT Hoves"/>
              <a:ea typeface="TT Hoves"/>
              <a:cs typeface="TT Hoves"/>
              <a:sym typeface="TT Hoves"/>
            </a:endParaRPr>
          </a:p>
          <a:p>
            <a:pPr algn="l">
              <a:lnSpc>
                <a:spcPts val="4199"/>
              </a:lnSpc>
              <a:spcBef>
                <a:spcPct val="0"/>
              </a:spcBef>
            </a:pPr>
            <a:r>
              <a:rPr lang="en-US" sz="2999" b="1">
                <a:solidFill>
                  <a:srgbClr val="000000"/>
                </a:solidFill>
                <a:latin typeface="TT Hoves Bold"/>
                <a:ea typeface="TT Hoves Bold"/>
                <a:cs typeface="TT Hoves Bold"/>
                <a:sym typeface="TT Hoves Bold"/>
              </a:rPr>
              <a:t>Key Feature Dynamics:</a:t>
            </a:r>
          </a:p>
          <a:p>
            <a:pPr marL="647694" lvl="1" indent="-323847" algn="l">
              <a:lnSpc>
                <a:spcPts val="4199"/>
              </a:lnSpc>
              <a:buFont typeface="Arial"/>
              <a:buChar char="•"/>
            </a:pPr>
            <a:r>
              <a:rPr lang="en-US" sz="2999">
                <a:solidFill>
                  <a:srgbClr val="000000"/>
                </a:solidFill>
                <a:latin typeface="TT Hoves"/>
                <a:ea typeface="TT Hoves"/>
                <a:cs typeface="TT Hoves"/>
                <a:sym typeface="TT Hoves"/>
              </a:rPr>
              <a:t>The patient's </a:t>
            </a:r>
            <a:r>
              <a:rPr lang="en-US" sz="2999" b="1">
                <a:solidFill>
                  <a:srgbClr val="000000"/>
                </a:solidFill>
                <a:latin typeface="TT Hoves Bold"/>
                <a:ea typeface="TT Hoves Bold"/>
                <a:cs typeface="TT Hoves Bold"/>
                <a:sym typeface="TT Hoves Bold"/>
              </a:rPr>
              <a:t>high Age (7.0)</a:t>
            </a:r>
            <a:r>
              <a:rPr lang="en-US" sz="2999">
                <a:solidFill>
                  <a:srgbClr val="000000"/>
                </a:solidFill>
                <a:latin typeface="TT Hoves"/>
                <a:ea typeface="TT Hoves"/>
                <a:cs typeface="TT Hoves"/>
                <a:sym typeface="TT Hoves"/>
              </a:rPr>
              <a:t> exerted a clear positive push </a:t>
            </a:r>
            <a:r>
              <a:rPr lang="en-US" sz="2999" b="1">
                <a:solidFill>
                  <a:srgbClr val="000000"/>
                </a:solidFill>
                <a:latin typeface="TT Hoves Bold"/>
                <a:ea typeface="TT Hoves Bold"/>
                <a:cs typeface="TT Hoves Bold"/>
                <a:sym typeface="TT Hoves Bold"/>
              </a:rPr>
              <a:t>TOWARDS Facility Care</a:t>
            </a:r>
            <a:r>
              <a:rPr lang="en-US" sz="2999">
                <a:solidFill>
                  <a:srgbClr val="000000"/>
                </a:solidFill>
                <a:latin typeface="TT Hoves"/>
                <a:ea typeface="TT Hoves"/>
                <a:cs typeface="TT Hoves"/>
                <a:sym typeface="TT Hoves"/>
              </a:rPr>
              <a:t> </a:t>
            </a:r>
          </a:p>
          <a:p>
            <a:pPr marL="647694" lvl="1" indent="-323847" algn="l">
              <a:lnSpc>
                <a:spcPts val="4199"/>
              </a:lnSpc>
              <a:buFont typeface="Arial"/>
              <a:buChar char="•"/>
            </a:pPr>
            <a:r>
              <a:rPr lang="en-US" sz="2999">
                <a:solidFill>
                  <a:srgbClr val="000000"/>
                </a:solidFill>
                <a:latin typeface="TT Hoves"/>
                <a:ea typeface="TT Hoves"/>
                <a:cs typeface="TT Hoves"/>
                <a:sym typeface="TT Hoves"/>
              </a:rPr>
              <a:t>This risk was </a:t>
            </a:r>
            <a:r>
              <a:rPr lang="en-US" sz="2999" b="1">
                <a:solidFill>
                  <a:srgbClr val="000000"/>
                </a:solidFill>
                <a:latin typeface="TT Hoves Bold"/>
                <a:ea typeface="TT Hoves Bold"/>
                <a:cs typeface="TT Hoves Bold"/>
                <a:sym typeface="TT Hoves Bold"/>
              </a:rPr>
              <a:t>successfully overridden</a:t>
            </a:r>
            <a:r>
              <a:rPr lang="en-US" sz="2999">
                <a:solidFill>
                  <a:srgbClr val="000000"/>
                </a:solidFill>
                <a:latin typeface="TT Hoves"/>
                <a:ea typeface="TT Hoves"/>
                <a:cs typeface="TT Hoves"/>
                <a:sym typeface="TT Hoves"/>
              </a:rPr>
              <a:t> by a </a:t>
            </a:r>
            <a:r>
              <a:rPr lang="en-US" sz="2999" b="1">
                <a:solidFill>
                  <a:srgbClr val="000000"/>
                </a:solidFill>
                <a:latin typeface="TT Hoves Bold"/>
                <a:ea typeface="TT Hoves Bold"/>
                <a:cs typeface="TT Hoves Bold"/>
                <a:sym typeface="TT Hoves Bold"/>
              </a:rPr>
              <a:t>low Number of Diagnoses</a:t>
            </a:r>
            <a:r>
              <a:rPr lang="en-US" sz="2999">
                <a:solidFill>
                  <a:srgbClr val="000000"/>
                </a:solidFill>
                <a:latin typeface="TT Hoves"/>
                <a:ea typeface="TT Hoves"/>
                <a:cs typeface="TT Hoves"/>
                <a:sym typeface="TT Hoves"/>
              </a:rPr>
              <a:t>, which was the strongest factor pushing the prediction </a:t>
            </a:r>
            <a:r>
              <a:rPr lang="en-US" sz="2999" b="1">
                <a:solidFill>
                  <a:srgbClr val="000000"/>
                </a:solidFill>
                <a:latin typeface="TT Hoves Bold"/>
                <a:ea typeface="TT Hoves Bold"/>
                <a:cs typeface="TT Hoves Bold"/>
                <a:sym typeface="TT Hoves Bold"/>
              </a:rPr>
              <a:t>TOWARDS Home</a:t>
            </a:r>
            <a:r>
              <a:rPr lang="en-US" sz="2999">
                <a:solidFill>
                  <a:srgbClr val="000000"/>
                </a:solidFill>
                <a:latin typeface="TT Hoves"/>
                <a:ea typeface="TT Hoves"/>
                <a:cs typeface="TT Hoves"/>
                <a:sym typeface="TT Hoves"/>
              </a:rPr>
              <a:t>.</a:t>
            </a:r>
          </a:p>
          <a:p>
            <a:pPr algn="l">
              <a:lnSpc>
                <a:spcPts val="4199"/>
              </a:lnSpc>
            </a:pPr>
            <a:r>
              <a:rPr lang="en-US" sz="2999" b="1">
                <a:solidFill>
                  <a:srgbClr val="000000"/>
                </a:solidFill>
                <a:latin typeface="TT Hoves Bold"/>
                <a:ea typeface="TT Hoves Bold"/>
                <a:cs typeface="TT Hoves Bold"/>
                <a:sym typeface="TT Hoves Bold"/>
              </a:rPr>
              <a:t>Model Utility:</a:t>
            </a:r>
          </a:p>
          <a:p>
            <a:pPr marL="647694" lvl="1" indent="-323847" algn="l">
              <a:lnSpc>
                <a:spcPts val="4199"/>
              </a:lnSpc>
              <a:buFont typeface="Arial"/>
              <a:buChar char="•"/>
            </a:pPr>
            <a:r>
              <a:rPr lang="en-US" sz="2999">
                <a:solidFill>
                  <a:srgbClr val="000000"/>
                </a:solidFill>
                <a:latin typeface="TT Hoves"/>
                <a:ea typeface="TT Hoves"/>
                <a:cs typeface="TT Hoves"/>
                <a:sym typeface="TT Hoves"/>
              </a:rPr>
              <a:t>The analysis confirms the model's </a:t>
            </a:r>
            <a:r>
              <a:rPr lang="en-US" sz="2999" b="1">
                <a:solidFill>
                  <a:srgbClr val="000000"/>
                </a:solidFill>
                <a:latin typeface="TT Hoves Bold"/>
                <a:ea typeface="TT Hoves Bold"/>
                <a:cs typeface="TT Hoves Bold"/>
                <a:sym typeface="TT Hoves Bold"/>
              </a:rPr>
              <a:t>crucial sophistication: </a:t>
            </a:r>
            <a:r>
              <a:rPr lang="en-US" sz="2999">
                <a:solidFill>
                  <a:srgbClr val="000000"/>
                </a:solidFill>
                <a:latin typeface="TT Hoves"/>
                <a:ea typeface="TT Hoves"/>
                <a:cs typeface="TT Hoves"/>
                <a:sym typeface="TT Hoves"/>
              </a:rPr>
              <a:t>it does not rely on any single variable.</a:t>
            </a:r>
          </a:p>
          <a:p>
            <a:pPr marL="647694" lvl="1" indent="-323847" algn="l">
              <a:lnSpc>
                <a:spcPts val="4199"/>
              </a:lnSpc>
              <a:buFont typeface="Arial"/>
              <a:buChar char="•"/>
            </a:pPr>
            <a:r>
              <a:rPr lang="en-US" sz="2999">
                <a:solidFill>
                  <a:srgbClr val="000000"/>
                </a:solidFill>
                <a:latin typeface="TT Hoves"/>
                <a:ea typeface="TT Hoves"/>
                <a:cs typeface="TT Hoves"/>
                <a:sym typeface="TT Hoves"/>
              </a:rPr>
              <a:t>It effectively differentiates between </a:t>
            </a:r>
            <a:r>
              <a:rPr lang="en-US" sz="2999" b="1">
                <a:solidFill>
                  <a:srgbClr val="000000"/>
                </a:solidFill>
                <a:latin typeface="TT Hoves Bold"/>
                <a:ea typeface="TT Hoves Bold"/>
                <a:cs typeface="TT Hoves Bold"/>
                <a:sym typeface="TT Hoves Bold"/>
              </a:rPr>
              <a:t>age-based demographic risk</a:t>
            </a:r>
            <a:r>
              <a:rPr lang="en-US" sz="2999">
                <a:solidFill>
                  <a:srgbClr val="000000"/>
                </a:solidFill>
                <a:latin typeface="TT Hoves"/>
                <a:ea typeface="TT Hoves"/>
                <a:cs typeface="TT Hoves"/>
                <a:sym typeface="TT Hoves"/>
              </a:rPr>
              <a:t> and </a:t>
            </a:r>
            <a:r>
              <a:rPr lang="en-US" sz="2999" b="1">
                <a:solidFill>
                  <a:srgbClr val="000000"/>
                </a:solidFill>
                <a:latin typeface="TT Hoves Bold"/>
                <a:ea typeface="TT Hoves Bold"/>
                <a:cs typeface="TT Hoves Bold"/>
                <a:sym typeface="TT Hoves Bold"/>
              </a:rPr>
              <a:t>true clinical need/acute instability,</a:t>
            </a:r>
            <a:r>
              <a:rPr lang="en-US" sz="2999">
                <a:solidFill>
                  <a:srgbClr val="000000"/>
                </a:solidFill>
                <a:latin typeface="TT Hoves"/>
                <a:ea typeface="TT Hoves"/>
                <a:cs typeface="TT Hoves"/>
                <a:sym typeface="TT Hoves"/>
              </a:rPr>
              <a:t> validating its utility in real-world decision-making.</a:t>
            </a:r>
          </a:p>
        </p:txBody>
      </p:sp>
      <p:sp>
        <p:nvSpPr>
          <p:cNvPr id="7" name="Freeform 7"/>
          <p:cNvSpPr/>
          <p:nvPr/>
        </p:nvSpPr>
        <p:spPr>
          <a:xfrm>
            <a:off x="2945143" y="2962499"/>
            <a:ext cx="12397714" cy="2181001"/>
          </a:xfrm>
          <a:custGeom>
            <a:avLst/>
            <a:gdLst/>
            <a:ahLst/>
            <a:cxnLst/>
            <a:rect l="l" t="t" r="r" b="b"/>
            <a:pathLst>
              <a:path w="12397714" h="2181001">
                <a:moveTo>
                  <a:pt x="0" y="0"/>
                </a:moveTo>
                <a:lnTo>
                  <a:pt x="12397714" y="0"/>
                </a:lnTo>
                <a:lnTo>
                  <a:pt x="12397714" y="2181001"/>
                </a:lnTo>
                <a:lnTo>
                  <a:pt x="0" y="2181001"/>
                </a:lnTo>
                <a:lnTo>
                  <a:pt x="0" y="0"/>
                </a:lnTo>
                <a:close/>
              </a:path>
            </a:pathLst>
          </a:custGeom>
          <a:blipFill>
            <a:blip r:embed="rId5"/>
            <a:stretch>
              <a:fillRect l="-233" b="-31047"/>
            </a:stretch>
          </a:blipFill>
        </p:spPr>
        <p:txBody>
          <a:bodyPr/>
          <a:lstStyle/>
          <a:p>
            <a:endParaRPr lang="zh-SG"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1058567" flipH="1">
            <a:off x="10899557" y="-2048730"/>
            <a:ext cx="10441422" cy="4424552"/>
          </a:xfrm>
          <a:custGeom>
            <a:avLst/>
            <a:gdLst/>
            <a:ahLst/>
            <a:cxnLst/>
            <a:rect l="l" t="t" r="r" b="b"/>
            <a:pathLst>
              <a:path w="10441422" h="4424552">
                <a:moveTo>
                  <a:pt x="10441422" y="0"/>
                </a:moveTo>
                <a:lnTo>
                  <a:pt x="0" y="0"/>
                </a:lnTo>
                <a:lnTo>
                  <a:pt x="0" y="4424552"/>
                </a:lnTo>
                <a:lnTo>
                  <a:pt x="10441422" y="4424552"/>
                </a:lnTo>
                <a:lnTo>
                  <a:pt x="10441422" y="0"/>
                </a:lnTo>
                <a:close/>
              </a:path>
            </a:pathLst>
          </a:custGeom>
          <a:blipFill>
            <a:blip r:embed="rId2"/>
            <a:stretch>
              <a:fillRect/>
            </a:stretch>
          </a:blipFill>
        </p:spPr>
        <p:txBody>
          <a:bodyPr/>
          <a:lstStyle/>
          <a:p>
            <a:endParaRPr lang="zh-SG" altLang="en-US"/>
          </a:p>
        </p:txBody>
      </p:sp>
      <p:sp>
        <p:nvSpPr>
          <p:cNvPr id="3" name="Freeform 3"/>
          <p:cNvSpPr/>
          <p:nvPr/>
        </p:nvSpPr>
        <p:spPr>
          <a:xfrm rot="9125778">
            <a:off x="9642048" y="7442125"/>
            <a:ext cx="7735476" cy="4631616"/>
          </a:xfrm>
          <a:custGeom>
            <a:avLst/>
            <a:gdLst/>
            <a:ahLst/>
            <a:cxnLst/>
            <a:rect l="l" t="t" r="r" b="b"/>
            <a:pathLst>
              <a:path w="7735476" h="4631616">
                <a:moveTo>
                  <a:pt x="0" y="0"/>
                </a:moveTo>
                <a:lnTo>
                  <a:pt x="7735476" y="0"/>
                </a:lnTo>
                <a:lnTo>
                  <a:pt x="7735476" y="4631616"/>
                </a:lnTo>
                <a:lnTo>
                  <a:pt x="0" y="4631616"/>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168477" y="-348153"/>
            <a:ext cx="8500415" cy="5587359"/>
            <a:chOff x="0" y="0"/>
            <a:chExt cx="2238793" cy="1471568"/>
          </a:xfrm>
        </p:grpSpPr>
        <p:sp>
          <p:nvSpPr>
            <p:cNvPr id="5" name="Freeform 5"/>
            <p:cNvSpPr/>
            <p:nvPr/>
          </p:nvSpPr>
          <p:spPr>
            <a:xfrm>
              <a:off x="0" y="0"/>
              <a:ext cx="2238793" cy="1471568"/>
            </a:xfrm>
            <a:custGeom>
              <a:avLst/>
              <a:gdLst/>
              <a:ahLst/>
              <a:cxnLst/>
              <a:rect l="l" t="t" r="r" b="b"/>
              <a:pathLst>
                <a:path w="2238793" h="1471568">
                  <a:moveTo>
                    <a:pt x="0" y="0"/>
                  </a:moveTo>
                  <a:lnTo>
                    <a:pt x="2238793" y="0"/>
                  </a:lnTo>
                  <a:lnTo>
                    <a:pt x="2238793" y="1471568"/>
                  </a:lnTo>
                  <a:lnTo>
                    <a:pt x="0" y="147156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2238793" cy="1528718"/>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028700" y="6186696"/>
            <a:ext cx="6483394" cy="2466087"/>
          </a:xfrm>
          <a:prstGeom prst="rect">
            <a:avLst/>
          </a:prstGeom>
        </p:spPr>
        <p:txBody>
          <a:bodyPr lIns="0" tIns="0" rIns="0" bIns="0" rtlCol="0" anchor="t">
            <a:spAutoFit/>
          </a:bodyPr>
          <a:lstStyle/>
          <a:p>
            <a:pPr algn="l">
              <a:lnSpc>
                <a:spcPts val="9059"/>
              </a:lnSpc>
            </a:pPr>
            <a:r>
              <a:rPr lang="en-US" sz="9339" b="1">
                <a:solidFill>
                  <a:srgbClr val="343434"/>
                </a:solidFill>
                <a:latin typeface="Telegraf Bold"/>
                <a:ea typeface="Telegraf Bold"/>
                <a:cs typeface="Telegraf Bold"/>
                <a:sym typeface="Telegraf Bold"/>
              </a:rPr>
              <a:t>BUSINESS INSIGHTS</a:t>
            </a:r>
          </a:p>
        </p:txBody>
      </p:sp>
      <p:sp>
        <p:nvSpPr>
          <p:cNvPr id="8" name="TextBox 8"/>
          <p:cNvSpPr txBox="1"/>
          <p:nvPr/>
        </p:nvSpPr>
        <p:spPr>
          <a:xfrm>
            <a:off x="1028700" y="8538739"/>
            <a:ext cx="9657424" cy="769620"/>
          </a:xfrm>
          <a:prstGeom prst="rect">
            <a:avLst/>
          </a:prstGeom>
        </p:spPr>
        <p:txBody>
          <a:bodyPr lIns="0" tIns="0" rIns="0" bIns="0" rtlCol="0" anchor="t">
            <a:spAutoFit/>
          </a:bodyPr>
          <a:lstStyle/>
          <a:p>
            <a:pPr algn="l">
              <a:lnSpc>
                <a:spcPts val="5880"/>
              </a:lnSpc>
              <a:spcBef>
                <a:spcPct val="0"/>
              </a:spcBef>
            </a:pPr>
            <a:r>
              <a:rPr lang="en-US" sz="4200" spc="100">
                <a:solidFill>
                  <a:srgbClr val="343434"/>
                </a:solidFill>
                <a:latin typeface="Telegraf"/>
                <a:ea typeface="Telegraf"/>
                <a:cs typeface="Telegraf"/>
                <a:sym typeface="Telegraf"/>
              </a:rPr>
              <a:t>FUTURE PLANS AND ASPIRATIONS</a:t>
            </a:r>
          </a:p>
        </p:txBody>
      </p:sp>
      <p:sp>
        <p:nvSpPr>
          <p:cNvPr id="9" name="TextBox 9"/>
          <p:cNvSpPr txBox="1"/>
          <p:nvPr/>
        </p:nvSpPr>
        <p:spPr>
          <a:xfrm>
            <a:off x="9144000" y="1568921"/>
            <a:ext cx="8369355" cy="6184266"/>
          </a:xfrm>
          <a:prstGeom prst="rect">
            <a:avLst/>
          </a:prstGeom>
        </p:spPr>
        <p:txBody>
          <a:bodyPr lIns="0" tIns="0" rIns="0" bIns="0" rtlCol="0" anchor="t">
            <a:spAutoFit/>
          </a:bodyPr>
          <a:lstStyle/>
          <a:p>
            <a:pPr marL="626106" lvl="1" indent="-313053" algn="just">
              <a:lnSpc>
                <a:spcPts val="4059"/>
              </a:lnSpc>
              <a:buFont typeface="Arial"/>
              <a:buChar char="•"/>
            </a:pPr>
            <a:r>
              <a:rPr lang="en-US" sz="2899" spc="144">
                <a:solidFill>
                  <a:srgbClr val="343434"/>
                </a:solidFill>
                <a:latin typeface="Telegraf"/>
                <a:ea typeface="Telegraf"/>
                <a:cs typeface="Telegraf"/>
                <a:sym typeface="Telegraf"/>
              </a:rPr>
              <a:t>High-risk profiles: patients with high A1C or glucose levels, frequent visits.</a:t>
            </a:r>
          </a:p>
          <a:p>
            <a:pPr marL="626106" lvl="1" indent="-313053" algn="just">
              <a:lnSpc>
                <a:spcPts val="4059"/>
              </a:lnSpc>
              <a:buFont typeface="Arial"/>
              <a:buChar char="•"/>
            </a:pPr>
            <a:r>
              <a:rPr lang="en-US" sz="2899" spc="144">
                <a:solidFill>
                  <a:srgbClr val="343434"/>
                </a:solidFill>
                <a:latin typeface="Telegraf"/>
                <a:ea typeface="Telegraf"/>
                <a:cs typeface="Telegraf"/>
                <a:sym typeface="Telegraf"/>
              </a:rPr>
              <a:t>Medication changes: Frequent insulin adjustments ↑ readmission risk.</a:t>
            </a:r>
          </a:p>
          <a:p>
            <a:pPr marL="626106" lvl="1" indent="-313053" algn="just">
              <a:lnSpc>
                <a:spcPts val="4059"/>
              </a:lnSpc>
              <a:buFont typeface="Arial"/>
              <a:buChar char="•"/>
            </a:pPr>
            <a:r>
              <a:rPr lang="en-US" sz="2899" spc="144">
                <a:solidFill>
                  <a:srgbClr val="343434"/>
                </a:solidFill>
                <a:latin typeface="Telegraf"/>
                <a:ea typeface="Telegraf"/>
                <a:cs typeface="Telegraf"/>
                <a:sym typeface="Telegraf"/>
              </a:rPr>
              <a:t>Admission type &amp; discharge status: Emergency admissions &amp; home-care patients show higher risk.</a:t>
            </a:r>
          </a:p>
          <a:p>
            <a:pPr marL="626106" lvl="1" indent="-313053" algn="just">
              <a:lnSpc>
                <a:spcPts val="4059"/>
              </a:lnSpc>
              <a:buFont typeface="Arial"/>
              <a:buChar char="•"/>
            </a:pPr>
            <a:r>
              <a:rPr lang="en-US" sz="2899" spc="144">
                <a:solidFill>
                  <a:srgbClr val="343434"/>
                </a:solidFill>
                <a:latin typeface="Telegraf"/>
                <a:ea typeface="Telegraf"/>
                <a:cs typeface="Telegraf"/>
                <a:sym typeface="Telegraf"/>
              </a:rPr>
              <a:t>Action: Implement post-discharge follow-ups and education programs.</a:t>
            </a:r>
          </a:p>
          <a:p>
            <a:pPr marL="626106" lvl="1" indent="-313053" algn="just">
              <a:lnSpc>
                <a:spcPts val="4059"/>
              </a:lnSpc>
              <a:buFont typeface="Arial"/>
              <a:buChar char="•"/>
            </a:pPr>
            <a:r>
              <a:rPr lang="en-US" sz="2899" spc="144">
                <a:solidFill>
                  <a:srgbClr val="343434"/>
                </a:solidFill>
                <a:latin typeface="Telegraf"/>
                <a:ea typeface="Telegraf"/>
                <a:cs typeface="Telegraf"/>
                <a:sym typeface="Telegraf"/>
              </a:rPr>
              <a:t>Benefit: Better resource allocation &amp; improved care continuity.</a:t>
            </a:r>
          </a:p>
          <a:p>
            <a:pPr algn="l">
              <a:lnSpc>
                <a:spcPts val="4059"/>
              </a:lnSpc>
              <a:spcBef>
                <a:spcPct val="0"/>
              </a:spcBef>
            </a:pPr>
            <a:endParaRPr lang="en-US" sz="2899" spc="144">
              <a:solidFill>
                <a:srgbClr val="343434"/>
              </a:solidFill>
              <a:latin typeface="Telegraf"/>
              <a:ea typeface="Telegraf"/>
              <a:cs typeface="Telegraf"/>
              <a:sym typeface="Telegraf"/>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225008">
            <a:off x="-467361" y="-2757747"/>
            <a:ext cx="12701350" cy="5382197"/>
          </a:xfrm>
          <a:custGeom>
            <a:avLst/>
            <a:gdLst/>
            <a:ahLst/>
            <a:cxnLst/>
            <a:rect l="l" t="t" r="r" b="b"/>
            <a:pathLst>
              <a:path w="12701350" h="5382197">
                <a:moveTo>
                  <a:pt x="0" y="0"/>
                </a:moveTo>
                <a:lnTo>
                  <a:pt x="12701349" y="0"/>
                </a:lnTo>
                <a:lnTo>
                  <a:pt x="12701349" y="5382197"/>
                </a:lnTo>
                <a:lnTo>
                  <a:pt x="0" y="5382197"/>
                </a:lnTo>
                <a:lnTo>
                  <a:pt x="0" y="0"/>
                </a:lnTo>
                <a:close/>
              </a:path>
            </a:pathLst>
          </a:custGeom>
          <a:blipFill>
            <a:blip r:embed="rId2"/>
            <a:stretch>
              <a:fillRect/>
            </a:stretch>
          </a:blipFill>
        </p:spPr>
        <p:txBody>
          <a:bodyPr/>
          <a:lstStyle/>
          <a:p>
            <a:endParaRPr lang="zh-SG" altLang="en-US"/>
          </a:p>
        </p:txBody>
      </p:sp>
      <p:sp>
        <p:nvSpPr>
          <p:cNvPr id="3" name="Freeform 3"/>
          <p:cNvSpPr/>
          <p:nvPr/>
        </p:nvSpPr>
        <p:spPr>
          <a:xfrm>
            <a:off x="10986204" y="6250419"/>
            <a:ext cx="11514218" cy="8506128"/>
          </a:xfrm>
          <a:custGeom>
            <a:avLst/>
            <a:gdLst/>
            <a:ahLst/>
            <a:cxnLst/>
            <a:rect l="l" t="t" r="r" b="b"/>
            <a:pathLst>
              <a:path w="11514218" h="8506128">
                <a:moveTo>
                  <a:pt x="0" y="0"/>
                </a:moveTo>
                <a:lnTo>
                  <a:pt x="11514218" y="0"/>
                </a:lnTo>
                <a:lnTo>
                  <a:pt x="11514218" y="8506128"/>
                </a:lnTo>
                <a:lnTo>
                  <a:pt x="0" y="8506128"/>
                </a:lnTo>
                <a:lnTo>
                  <a:pt x="0" y="0"/>
                </a:lnTo>
                <a:close/>
              </a:path>
            </a:pathLst>
          </a:custGeom>
          <a:blipFill>
            <a:blip r:embed="rId3"/>
            <a:stretch>
              <a:fillRect/>
            </a:stretch>
          </a:blipFill>
        </p:spPr>
        <p:txBody>
          <a:bodyPr/>
          <a:lstStyle/>
          <a:p>
            <a:endParaRPr lang="zh-SG" altLang="en-US"/>
          </a:p>
        </p:txBody>
      </p:sp>
      <p:grpSp>
        <p:nvGrpSpPr>
          <p:cNvPr id="4" name="Group 4"/>
          <p:cNvGrpSpPr/>
          <p:nvPr/>
        </p:nvGrpSpPr>
        <p:grpSpPr>
          <a:xfrm>
            <a:off x="-408865" y="-392510"/>
            <a:ext cx="1437565" cy="11072020"/>
            <a:chOff x="0" y="0"/>
            <a:chExt cx="378618" cy="2916088"/>
          </a:xfrm>
        </p:grpSpPr>
        <p:sp>
          <p:nvSpPr>
            <p:cNvPr id="5" name="Freeform 5"/>
            <p:cNvSpPr/>
            <p:nvPr/>
          </p:nvSpPr>
          <p:spPr>
            <a:xfrm>
              <a:off x="0" y="0"/>
              <a:ext cx="378618" cy="2916088"/>
            </a:xfrm>
            <a:custGeom>
              <a:avLst/>
              <a:gdLst/>
              <a:ahLst/>
              <a:cxnLst/>
              <a:rect l="l" t="t" r="r" b="b"/>
              <a:pathLst>
                <a:path w="378618" h="2916088">
                  <a:moveTo>
                    <a:pt x="0" y="0"/>
                  </a:moveTo>
                  <a:lnTo>
                    <a:pt x="378618" y="0"/>
                  </a:lnTo>
                  <a:lnTo>
                    <a:pt x="378618" y="2916088"/>
                  </a:lnTo>
                  <a:lnTo>
                    <a:pt x="0" y="2916088"/>
                  </a:lnTo>
                  <a:close/>
                </a:path>
              </a:pathLst>
            </a:custGeom>
            <a:gradFill rotWithShape="1">
              <a:gsLst>
                <a:gs pos="0">
                  <a:srgbClr val="E4B795">
                    <a:alpha val="100000"/>
                  </a:srgbClr>
                </a:gs>
                <a:gs pos="50000">
                  <a:srgbClr val="699ACD">
                    <a:alpha val="100000"/>
                  </a:srgbClr>
                </a:gs>
                <a:gs pos="100000">
                  <a:srgbClr val="2F679F">
                    <a:alpha val="100000"/>
                  </a:srgbClr>
                </a:gs>
              </a:gsLst>
              <a:path path="circle">
                <a:fillToRect r="100000" b="100000"/>
              </a:path>
              <a:tileRect l="-100000" t="-100000"/>
            </a:gradFill>
          </p:spPr>
          <p:txBody>
            <a:bodyPr/>
            <a:lstStyle/>
            <a:p>
              <a:endParaRPr lang="zh-SG" altLang="en-US"/>
            </a:p>
          </p:txBody>
        </p:sp>
        <p:sp>
          <p:nvSpPr>
            <p:cNvPr id="6" name="TextBox 6"/>
            <p:cNvSpPr txBox="1"/>
            <p:nvPr/>
          </p:nvSpPr>
          <p:spPr>
            <a:xfrm>
              <a:off x="0" y="-57150"/>
              <a:ext cx="378618" cy="2973238"/>
            </a:xfrm>
            <a:prstGeom prst="rect">
              <a:avLst/>
            </a:prstGeom>
          </p:spPr>
          <p:txBody>
            <a:bodyPr lIns="50800" tIns="50800" rIns="50800" bIns="50800" rtlCol="0" anchor="ctr"/>
            <a:lstStyle/>
            <a:p>
              <a:pPr algn="ctr">
                <a:lnSpc>
                  <a:spcPts val="3639"/>
                </a:lnSpc>
              </a:pPr>
              <a:endParaRPr/>
            </a:p>
          </p:txBody>
        </p:sp>
      </p:grpSp>
      <p:sp>
        <p:nvSpPr>
          <p:cNvPr id="7" name="TextBox 7"/>
          <p:cNvSpPr txBox="1"/>
          <p:nvPr/>
        </p:nvSpPr>
        <p:spPr>
          <a:xfrm>
            <a:off x="1803754" y="1104900"/>
            <a:ext cx="14680492" cy="996206"/>
          </a:xfrm>
          <a:prstGeom prst="rect">
            <a:avLst/>
          </a:prstGeom>
        </p:spPr>
        <p:txBody>
          <a:bodyPr lIns="0" tIns="0" rIns="0" bIns="0" rtlCol="0" anchor="t">
            <a:spAutoFit/>
          </a:bodyPr>
          <a:lstStyle/>
          <a:p>
            <a:pPr algn="l">
              <a:lnSpc>
                <a:spcPts val="6828"/>
              </a:lnSpc>
            </a:pPr>
            <a:r>
              <a:rPr lang="en-US" sz="7039" b="1">
                <a:solidFill>
                  <a:srgbClr val="343434"/>
                </a:solidFill>
                <a:latin typeface="Telegraf Bold"/>
                <a:ea typeface="Telegraf Bold"/>
                <a:cs typeface="Telegraf Bold"/>
                <a:sym typeface="Telegraf Bold"/>
              </a:rPr>
              <a:t>CONCLUSION &amp; IMPACT</a:t>
            </a:r>
          </a:p>
        </p:txBody>
      </p:sp>
      <p:sp>
        <p:nvSpPr>
          <p:cNvPr id="8" name="TextBox 8"/>
          <p:cNvSpPr txBox="1"/>
          <p:nvPr/>
        </p:nvSpPr>
        <p:spPr>
          <a:xfrm>
            <a:off x="1531982" y="2637307"/>
            <a:ext cx="15727318" cy="4723130"/>
          </a:xfrm>
          <a:prstGeom prst="rect">
            <a:avLst/>
          </a:prstGeom>
        </p:spPr>
        <p:txBody>
          <a:bodyPr lIns="0" tIns="0" rIns="0" bIns="0" rtlCol="0" anchor="t">
            <a:spAutoFit/>
          </a:bodyPr>
          <a:lstStyle/>
          <a:p>
            <a:pPr marL="820422" lvl="1" indent="-410211" algn="just">
              <a:lnSpc>
                <a:spcPts val="5320"/>
              </a:lnSpc>
              <a:buFont typeface="Arial"/>
              <a:buChar char="•"/>
            </a:pPr>
            <a:r>
              <a:rPr lang="en-US" sz="3800" spc="91">
                <a:solidFill>
                  <a:srgbClr val="343434"/>
                </a:solidFill>
                <a:latin typeface="Times New Roman MT"/>
                <a:ea typeface="Times New Roman MT"/>
                <a:cs typeface="Times New Roman MT"/>
                <a:sym typeface="Times New Roman MT"/>
              </a:rPr>
              <a:t>ML models effectively predict readmission risk (XGBoost &amp; Random Forest perform best)</a:t>
            </a:r>
          </a:p>
          <a:p>
            <a:pPr marL="820422" lvl="1" indent="-410211" algn="just">
              <a:lnSpc>
                <a:spcPts val="5320"/>
              </a:lnSpc>
              <a:buFont typeface="Arial"/>
              <a:buChar char="•"/>
            </a:pPr>
            <a:r>
              <a:rPr lang="en-US" sz="3800" spc="91">
                <a:solidFill>
                  <a:srgbClr val="343434"/>
                </a:solidFill>
                <a:latin typeface="Times New Roman MT"/>
                <a:ea typeface="Times New Roman MT"/>
                <a:cs typeface="Times New Roman MT"/>
                <a:sym typeface="Times New Roman MT"/>
              </a:rPr>
              <a:t>Predictive insights support proactive patient management</a:t>
            </a:r>
          </a:p>
          <a:p>
            <a:pPr marL="820422" lvl="1" indent="-410211" algn="just">
              <a:lnSpc>
                <a:spcPts val="5320"/>
              </a:lnSpc>
              <a:buFont typeface="Arial"/>
              <a:buChar char="•"/>
            </a:pPr>
            <a:r>
              <a:rPr lang="en-US" sz="3800" spc="91">
                <a:solidFill>
                  <a:srgbClr val="343434"/>
                </a:solidFill>
                <a:latin typeface="Times New Roman MT"/>
                <a:ea typeface="Times New Roman MT"/>
                <a:cs typeface="Times New Roman MT"/>
                <a:sym typeface="Times New Roman MT"/>
              </a:rPr>
              <a:t>Enable data-driven hospital planning and policy decisions</a:t>
            </a:r>
          </a:p>
          <a:p>
            <a:pPr marL="820422" lvl="1" indent="-410211" algn="just">
              <a:lnSpc>
                <a:spcPts val="5320"/>
              </a:lnSpc>
              <a:buFont typeface="Arial"/>
              <a:buChar char="•"/>
            </a:pPr>
            <a:r>
              <a:rPr lang="en-US" sz="3800" spc="91">
                <a:solidFill>
                  <a:srgbClr val="343434"/>
                </a:solidFill>
                <a:latin typeface="Times New Roman MT"/>
                <a:ea typeface="Times New Roman MT"/>
                <a:cs typeface="Times New Roman MT"/>
                <a:sym typeface="Times New Roman MT"/>
              </a:rPr>
              <a:t>Future work: Integrate real-time data &amp; improve model explainability</a:t>
            </a:r>
          </a:p>
          <a:p>
            <a:pPr algn="just">
              <a:lnSpc>
                <a:spcPts val="5320"/>
              </a:lnSpc>
              <a:spcBef>
                <a:spcPct val="0"/>
              </a:spcBef>
            </a:pPr>
            <a:endParaRPr lang="en-US" sz="3800" spc="91">
              <a:solidFill>
                <a:srgbClr val="343434"/>
              </a:solidFill>
              <a:latin typeface="Times New Roman MT"/>
              <a:ea typeface="Times New Roman MT"/>
              <a:cs typeface="Times New Roman MT"/>
              <a:sym typeface="Times New Roman M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7FA"/>
        </a:solidFill>
        <a:effectLst/>
      </p:bgPr>
    </p:bg>
    <p:spTree>
      <p:nvGrpSpPr>
        <p:cNvPr id="1" name=""/>
        <p:cNvGrpSpPr/>
        <p:nvPr/>
      </p:nvGrpSpPr>
      <p:grpSpPr>
        <a:xfrm>
          <a:off x="0" y="0"/>
          <a:ext cx="0" cy="0"/>
          <a:chOff x="0" y="0"/>
          <a:chExt cx="0" cy="0"/>
        </a:xfrm>
      </p:grpSpPr>
      <p:sp>
        <p:nvSpPr>
          <p:cNvPr id="2" name="Freeform 2"/>
          <p:cNvSpPr/>
          <p:nvPr/>
        </p:nvSpPr>
        <p:spPr>
          <a:xfrm rot="760705">
            <a:off x="1423346" y="-1948290"/>
            <a:ext cx="15441309" cy="6543255"/>
          </a:xfrm>
          <a:custGeom>
            <a:avLst/>
            <a:gdLst/>
            <a:ahLst/>
            <a:cxnLst/>
            <a:rect l="l" t="t" r="r" b="b"/>
            <a:pathLst>
              <a:path w="15441309" h="6543255">
                <a:moveTo>
                  <a:pt x="0" y="0"/>
                </a:moveTo>
                <a:lnTo>
                  <a:pt x="15441308" y="0"/>
                </a:lnTo>
                <a:lnTo>
                  <a:pt x="15441308" y="6543255"/>
                </a:lnTo>
                <a:lnTo>
                  <a:pt x="0" y="6543255"/>
                </a:lnTo>
                <a:lnTo>
                  <a:pt x="0" y="0"/>
                </a:lnTo>
                <a:close/>
              </a:path>
            </a:pathLst>
          </a:custGeom>
          <a:blipFill>
            <a:blip r:embed="rId2"/>
            <a:stretch>
              <a:fillRect/>
            </a:stretch>
          </a:blipFill>
        </p:spPr>
        <p:txBody>
          <a:bodyPr/>
          <a:lstStyle/>
          <a:p>
            <a:endParaRPr lang="zh-SG" altLang="en-US"/>
          </a:p>
        </p:txBody>
      </p:sp>
      <p:sp>
        <p:nvSpPr>
          <p:cNvPr id="3" name="TextBox 3"/>
          <p:cNvSpPr txBox="1"/>
          <p:nvPr/>
        </p:nvSpPr>
        <p:spPr>
          <a:xfrm>
            <a:off x="4421043" y="4742083"/>
            <a:ext cx="9445915" cy="1311026"/>
          </a:xfrm>
          <a:prstGeom prst="rect">
            <a:avLst/>
          </a:prstGeom>
        </p:spPr>
        <p:txBody>
          <a:bodyPr lIns="0" tIns="0" rIns="0" bIns="0" rtlCol="0" anchor="t">
            <a:spAutoFit/>
          </a:bodyPr>
          <a:lstStyle/>
          <a:p>
            <a:pPr algn="ctr">
              <a:lnSpc>
                <a:spcPts val="9059"/>
              </a:lnSpc>
            </a:pPr>
            <a:r>
              <a:rPr lang="en-US" sz="9339" b="1">
                <a:solidFill>
                  <a:srgbClr val="343434"/>
                </a:solidFill>
                <a:latin typeface="Telegraf Bold"/>
                <a:ea typeface="Telegraf Bold"/>
                <a:cs typeface="Telegraf Bold"/>
                <a:sym typeface="Telegraf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3060</Words>
  <Application>Microsoft Macintosh PowerPoint</Application>
  <PresentationFormat>自定义</PresentationFormat>
  <Paragraphs>616</Paragraphs>
  <Slides>39</Slides>
  <Notes>19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39</vt:i4>
      </vt:variant>
    </vt:vector>
  </HeadingPairs>
  <TitlesOfParts>
    <vt:vector size="49" baseType="lpstr">
      <vt:lpstr>Times New Roman MT Bold</vt:lpstr>
      <vt:lpstr>Telegraf Bold</vt:lpstr>
      <vt:lpstr>TT Hoves</vt:lpstr>
      <vt:lpstr>Arial</vt:lpstr>
      <vt:lpstr>Times New Roman MT</vt:lpstr>
      <vt:lpstr>TT Hoves Bold</vt:lpstr>
      <vt:lpstr>Telegraf</vt:lpstr>
      <vt:lpstr>Calibri</vt:lpstr>
      <vt:lpstr>Telegraf Extra-Light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Gradient Modern Project Presentation</dc:title>
  <cp:lastModifiedBy>Gao Yanming</cp:lastModifiedBy>
  <cp:revision>3</cp:revision>
  <dcterms:created xsi:type="dcterms:W3CDTF">2006-08-16T00:00:00Z</dcterms:created>
  <dcterms:modified xsi:type="dcterms:W3CDTF">2025-11-02T06:04:15Z</dcterms:modified>
  <dc:identifier>DAG2_IOJnTc</dc:identifier>
</cp:coreProperties>
</file>